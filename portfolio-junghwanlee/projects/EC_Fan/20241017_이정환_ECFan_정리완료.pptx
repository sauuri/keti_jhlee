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766" r:id="rId2"/>
    <p:sldId id="770" r:id="rId3"/>
    <p:sldId id="772" r:id="rId4"/>
    <p:sldId id="783" r:id="rId5"/>
    <p:sldId id="784" r:id="rId6"/>
    <p:sldId id="789" r:id="rId7"/>
    <p:sldId id="790" r:id="rId8"/>
    <p:sldId id="780" r:id="rId9"/>
    <p:sldId id="781" r:id="rId10"/>
    <p:sldId id="786" r:id="rId11"/>
    <p:sldId id="793" r:id="rId12"/>
    <p:sldId id="796" r:id="rId13"/>
    <p:sldId id="771" r:id="rId14"/>
    <p:sldId id="779" r:id="rId15"/>
    <p:sldId id="778" r:id="rId16"/>
    <p:sldId id="795" r:id="rId17"/>
    <p:sldId id="797" r:id="rId18"/>
    <p:sldId id="799" r:id="rId19"/>
    <p:sldId id="800" r:id="rId20"/>
    <p:sldId id="798" r:id="rId21"/>
    <p:sldId id="801" r:id="rId22"/>
    <p:sldId id="802" r:id="rId23"/>
  </p:sldIdLst>
  <p:sldSz cx="9144000" cy="6858000" type="screen4x3"/>
  <p:notesSz cx="6808788" cy="99409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31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26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475" cy="49877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737" y="0"/>
            <a:ext cx="2950475" cy="49877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A9D43D-1695-4ADB-A65E-0844ACC1F339}" type="datetimeFigureOut">
              <a:rPr lang="ko-KR" altLang="en-US" smtClean="0"/>
              <a:t>2024-10-17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8400" y="1243013"/>
            <a:ext cx="4471988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879" y="4784070"/>
            <a:ext cx="5447030" cy="3914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2154"/>
            <a:ext cx="2950475" cy="49877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737" y="9442154"/>
            <a:ext cx="2950475" cy="49877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DF75C6-5881-463C-B15F-DA484B94C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5639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68400" y="1243013"/>
            <a:ext cx="4471988" cy="33543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B2E323-9633-421C-861B-0355BBDFA3A0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8943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81745" y="1673071"/>
            <a:ext cx="7599792" cy="495300"/>
          </a:xfrm>
        </p:spPr>
        <p:txBody>
          <a:bodyPr anchor="ctr">
            <a:normAutofit/>
          </a:bodyPr>
          <a:lstStyle>
            <a:lvl1pPr marL="285750" indent="-285750" algn="l" defTabSz="457200" rtl="0" eaLnBrk="1" latinLnBrk="1" hangingPunct="1">
              <a:lnSpc>
                <a:spcPct val="100000"/>
              </a:lnSpc>
              <a:spcBef>
                <a:spcPts val="600"/>
              </a:spcBef>
              <a:buClr>
                <a:srgbClr val="12315D"/>
              </a:buClr>
              <a:buSzPct val="175000"/>
              <a:buFont typeface="Wingdings" panose="05000000000000000000" pitchFamily="2" charset="2"/>
              <a:buChar char="§"/>
              <a:defRPr kumimoji="1" lang="ko-KR" altLang="en-US" sz="1600" b="1" kern="1200" spc="-150" baseline="0" dirty="0" smtClean="0">
                <a:ln w="3175">
                  <a:solidFill>
                    <a:schemeClr val="tx1">
                      <a:alpha val="700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Malgun Gothic"/>
              </a:defRPr>
            </a:lvl1pPr>
          </a:lstStyle>
          <a:p>
            <a:pPr lvl="0"/>
            <a:r>
              <a:rPr kumimoji="1" lang="ko-KR" altLang="en-US" dirty="0"/>
              <a:t>마스터 텍스트 스타일을 편집합니다</a:t>
            </a:r>
          </a:p>
        </p:txBody>
      </p:sp>
      <p:sp>
        <p:nvSpPr>
          <p:cNvPr id="33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1181745" y="2506176"/>
            <a:ext cx="7599792" cy="495300"/>
          </a:xfrm>
        </p:spPr>
        <p:txBody>
          <a:bodyPr anchor="ctr">
            <a:normAutofit/>
          </a:bodyPr>
          <a:lstStyle>
            <a:lvl1pPr marL="285750" indent="-285750" algn="l" defTabSz="457200" rtl="0" eaLnBrk="1" latinLnBrk="1" hangingPunct="1">
              <a:lnSpc>
                <a:spcPct val="100000"/>
              </a:lnSpc>
              <a:spcBef>
                <a:spcPts val="600"/>
              </a:spcBef>
              <a:buClr>
                <a:srgbClr val="12315D"/>
              </a:buClr>
              <a:buSzPct val="175000"/>
              <a:buFont typeface="Wingdings" panose="05000000000000000000" pitchFamily="2" charset="2"/>
              <a:buChar char="§"/>
              <a:defRPr kumimoji="1" lang="ko-KR" altLang="en-US" sz="1600" b="1" kern="1200" spc="-150" baseline="0" dirty="0" smtClean="0">
                <a:ln w="3175">
                  <a:solidFill>
                    <a:schemeClr val="tx1">
                      <a:alpha val="700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Malgun Gothic"/>
              </a:defRPr>
            </a:lvl1pPr>
          </a:lstStyle>
          <a:p>
            <a:pPr marL="285750" lvl="0" indent="-285750" algn="l" defTabSz="457200" rtl="0" eaLnBrk="1" latinLnBrk="1" hangingPunct="1">
              <a:lnSpc>
                <a:spcPct val="100000"/>
              </a:lnSpc>
              <a:spcBef>
                <a:spcPts val="600"/>
              </a:spcBef>
              <a:buClr>
                <a:srgbClr val="12315D"/>
              </a:buClr>
              <a:buSzPct val="175000"/>
              <a:buFont typeface="Wingdings" panose="05000000000000000000" pitchFamily="2" charset="2"/>
              <a:buChar char="§"/>
            </a:pPr>
            <a:r>
              <a:rPr kumimoji="1" lang="ko-KR" altLang="en-US" dirty="0"/>
              <a:t>마스터 텍스트 스타일을 편집합니다</a:t>
            </a:r>
          </a:p>
        </p:txBody>
      </p:sp>
      <p:sp>
        <p:nvSpPr>
          <p:cNvPr id="34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1181745" y="3381938"/>
            <a:ext cx="7599792" cy="495300"/>
          </a:xfrm>
        </p:spPr>
        <p:txBody>
          <a:bodyPr anchor="ctr">
            <a:normAutofit/>
          </a:bodyPr>
          <a:lstStyle>
            <a:lvl1pPr marL="0" indent="0">
              <a:buNone/>
              <a:defRPr kumimoji="1" lang="ko-KR" altLang="en-US" sz="1600" b="1" kern="1200" spc="-150" baseline="0" dirty="0" smtClean="0">
                <a:ln w="3175">
                  <a:solidFill>
                    <a:schemeClr val="tx1">
                      <a:alpha val="700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Malgun Gothic"/>
              </a:defRPr>
            </a:lvl1pPr>
          </a:lstStyle>
          <a:p>
            <a:pPr marL="285750" lvl="0" indent="-285750" algn="l" defTabSz="457200" rtl="0" eaLnBrk="1" latinLnBrk="1" hangingPunct="1">
              <a:lnSpc>
                <a:spcPct val="100000"/>
              </a:lnSpc>
              <a:spcBef>
                <a:spcPts val="600"/>
              </a:spcBef>
              <a:buClr>
                <a:srgbClr val="12315D"/>
              </a:buClr>
              <a:buSzPct val="175000"/>
              <a:buFont typeface="Wingdings" panose="05000000000000000000" pitchFamily="2" charset="2"/>
              <a:buChar char="§"/>
            </a:pPr>
            <a:r>
              <a:rPr kumimoji="1" lang="ko-KR" altLang="en-US" dirty="0"/>
              <a:t>마스터 텍스트 스타일을 편집합니다</a:t>
            </a:r>
          </a:p>
        </p:txBody>
      </p:sp>
      <p:sp>
        <p:nvSpPr>
          <p:cNvPr id="35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1181745" y="4252924"/>
            <a:ext cx="7599792" cy="495300"/>
          </a:xfrm>
        </p:spPr>
        <p:txBody>
          <a:bodyPr anchor="ctr">
            <a:normAutofit/>
          </a:bodyPr>
          <a:lstStyle>
            <a:lvl1pPr marL="0" indent="0">
              <a:buNone/>
              <a:defRPr kumimoji="1" lang="ko-KR" altLang="en-US" sz="1600" b="1" kern="1200" spc="-150" baseline="0" dirty="0" smtClean="0">
                <a:ln w="3175">
                  <a:solidFill>
                    <a:schemeClr val="tx1">
                      <a:alpha val="700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Malgun Gothic"/>
              </a:defRPr>
            </a:lvl1pPr>
          </a:lstStyle>
          <a:p>
            <a:pPr marL="285750" lvl="0" indent="-285750" algn="l" defTabSz="457200" rtl="0" eaLnBrk="1" latinLnBrk="1" hangingPunct="1">
              <a:lnSpc>
                <a:spcPct val="100000"/>
              </a:lnSpc>
              <a:spcBef>
                <a:spcPts val="600"/>
              </a:spcBef>
              <a:buClr>
                <a:srgbClr val="12315D"/>
              </a:buClr>
              <a:buSzPct val="175000"/>
              <a:buFont typeface="Wingdings" panose="05000000000000000000" pitchFamily="2" charset="2"/>
              <a:buChar char="§"/>
            </a:pPr>
            <a:r>
              <a:rPr kumimoji="1" lang="ko-KR" altLang="en-US" dirty="0"/>
              <a:t>마스터 텍스트 스타일을 편집합니다</a:t>
            </a:r>
          </a:p>
        </p:txBody>
      </p:sp>
      <p:sp>
        <p:nvSpPr>
          <p:cNvPr id="36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1181745" y="5148473"/>
            <a:ext cx="7599792" cy="495300"/>
          </a:xfrm>
        </p:spPr>
        <p:txBody>
          <a:bodyPr anchor="ctr">
            <a:normAutofit/>
          </a:bodyPr>
          <a:lstStyle>
            <a:lvl1pPr marL="0" indent="0">
              <a:buNone/>
              <a:defRPr kumimoji="1" lang="ko-KR" altLang="en-US" sz="1600" b="1" kern="1200" spc="-150" baseline="0" dirty="0" smtClean="0">
                <a:ln w="3175">
                  <a:solidFill>
                    <a:schemeClr val="tx1">
                      <a:alpha val="700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Malgun Gothic"/>
              </a:defRPr>
            </a:lvl1pPr>
          </a:lstStyle>
          <a:p>
            <a:pPr marL="285750" lvl="0" indent="-285750" algn="l" defTabSz="457200" rtl="0" eaLnBrk="1" latinLnBrk="1" hangingPunct="1">
              <a:lnSpc>
                <a:spcPct val="100000"/>
              </a:lnSpc>
              <a:spcBef>
                <a:spcPts val="600"/>
              </a:spcBef>
              <a:buClr>
                <a:srgbClr val="12315D"/>
              </a:buClr>
              <a:buSzPct val="175000"/>
              <a:buFont typeface="Wingdings" panose="05000000000000000000" pitchFamily="2" charset="2"/>
              <a:buChar char="§"/>
            </a:pPr>
            <a:r>
              <a:rPr kumimoji="1" lang="ko-KR" altLang="en-US" dirty="0"/>
              <a:t>마스터 텍스트 스타일을 편집합니다</a:t>
            </a:r>
          </a:p>
        </p:txBody>
      </p:sp>
      <p:sp>
        <p:nvSpPr>
          <p:cNvPr id="131" name="TextBox 130"/>
          <p:cNvSpPr txBox="1"/>
          <p:nvPr userDrawn="1"/>
        </p:nvSpPr>
        <p:spPr>
          <a:xfrm>
            <a:off x="278265" y="731672"/>
            <a:ext cx="4584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latinLnBrk="0"/>
            <a:r>
              <a:rPr kumimoji="1" lang="en-US" altLang="ja-JP" sz="3600" b="1" spc="-100" dirty="0">
                <a:ln w="3175">
                  <a:solidFill>
                    <a:srgbClr val="12315D">
                      <a:alpha val="5000"/>
                    </a:srgbClr>
                  </a:solidFill>
                </a:ln>
                <a:solidFill>
                  <a:srgbClr val="12315D"/>
                </a:solidFill>
              </a:rPr>
              <a:t>Contents</a:t>
            </a:r>
            <a:endParaRPr kumimoji="1" lang="ja-JP" altLang="en-US" sz="3600" b="1" spc="-100" dirty="0">
              <a:ln w="3175">
                <a:solidFill>
                  <a:srgbClr val="12315D">
                    <a:alpha val="5000"/>
                  </a:srgbClr>
                </a:solidFill>
              </a:ln>
              <a:solidFill>
                <a:srgbClr val="12315D"/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21739" y="6559612"/>
            <a:ext cx="14584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>
                <a:ln w="3175">
                  <a:solidFill>
                    <a:schemeClr val="tx1">
                      <a:alpha val="4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Malgun Gothic"/>
              </a:defRPr>
            </a:lvl1pPr>
          </a:lstStyle>
          <a:p>
            <a:pPr defTabSz="457200" latinLnBrk="0"/>
            <a:fld id="{27655F23-C921-6945-88A6-CC79264B7678}" type="slidenum">
              <a:rPr kumimoji="1" lang="ja-JP" altLang="en-US" smtClean="0">
                <a:ln w="3175">
                  <a:solidFill>
                    <a:prstClr val="black">
                      <a:alpha val="4000"/>
                    </a:prstClr>
                  </a:solidFill>
                </a:ln>
              </a:rPr>
              <a:pPr defTabSz="457200" latinLnBrk="0"/>
              <a:t>‹#›</a:t>
            </a:fld>
            <a:endParaRPr kumimoji="1" lang="ja-JP" altLang="en-US" dirty="0">
              <a:ln w="3175">
                <a:solidFill>
                  <a:prstClr val="black">
                    <a:alpha val="4000"/>
                  </a:prst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390724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idx="14"/>
          </p:nvPr>
        </p:nvSpPr>
        <p:spPr>
          <a:xfrm>
            <a:off x="173979" y="813686"/>
            <a:ext cx="4561840" cy="428769"/>
          </a:xfrm>
          <a:solidFill>
            <a:srgbClr val="12315D"/>
          </a:solidFill>
        </p:spPr>
        <p:txBody>
          <a:bodyPr anchor="ctr">
            <a:noAutofit/>
          </a:bodyPr>
          <a:lstStyle>
            <a:lvl1pPr marL="0" indent="0" algn="l">
              <a:buNone/>
              <a:defRPr sz="1800" b="1" spc="-15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 dirty="0"/>
              <a:t>마스터 텍스트 스타일을 편집합니다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7538721" cy="653014"/>
          </a:xfrm>
        </p:spPr>
        <p:txBody>
          <a:bodyPr/>
          <a:lstStyle>
            <a:lvl1pPr>
              <a:defRPr spc="-150"/>
            </a:lvl1pPr>
          </a:lstStyle>
          <a:p>
            <a:r>
              <a:rPr kumimoji="1" lang="en-US" altLang="ko-KR" dirty="0"/>
              <a:t>Click To Edit Master Title Style</a:t>
            </a:r>
            <a:endParaRPr kumimoji="1" lang="ja-JP" alt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21739" y="6559612"/>
            <a:ext cx="14584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>
                <a:ln w="3175">
                  <a:solidFill>
                    <a:schemeClr val="tx1">
                      <a:alpha val="4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Malgun Gothic"/>
              </a:defRPr>
            </a:lvl1pPr>
          </a:lstStyle>
          <a:p>
            <a:pPr defTabSz="457200" latinLnBrk="0"/>
            <a:fld id="{27655F23-C921-6945-88A6-CC79264B7678}" type="slidenum">
              <a:rPr kumimoji="1" lang="ja-JP" altLang="en-US" smtClean="0">
                <a:ln w="3175">
                  <a:solidFill>
                    <a:prstClr val="black">
                      <a:alpha val="4000"/>
                    </a:prstClr>
                  </a:solidFill>
                </a:ln>
              </a:rPr>
              <a:pPr defTabSz="457200" latinLnBrk="0"/>
              <a:t>‹#›</a:t>
            </a:fld>
            <a:endParaRPr kumimoji="1" lang="ja-JP" altLang="en-US" dirty="0">
              <a:ln w="3175">
                <a:solidFill>
                  <a:prstClr val="black">
                    <a:alpha val="4000"/>
                  </a:prstClr>
                </a:solidFill>
              </a:ln>
            </a:endParaRPr>
          </a:p>
        </p:txBody>
      </p:sp>
      <p:sp>
        <p:nvSpPr>
          <p:cNvPr id="6" name="Line 8">
            <a:extLst>
              <a:ext uri="{FF2B5EF4-FFF2-40B4-BE49-F238E27FC236}">
                <a16:creationId xmlns:a16="http://schemas.microsoft.com/office/drawing/2014/main" id="{3E50E25C-10C3-45B1-B9CD-E2BB3B75AC2B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-1" y="619864"/>
            <a:ext cx="9144001" cy="33814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60668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29633"/>
            <a:ext cx="7538721" cy="65301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86600" y="6357207"/>
            <a:ext cx="2057400" cy="365125"/>
          </a:xfrm>
        </p:spPr>
        <p:txBody>
          <a:bodyPr/>
          <a:lstStyle>
            <a:lvl1pPr algn="r">
              <a:defRPr/>
            </a:lvl1pPr>
          </a:lstStyle>
          <a:p>
            <a:fld id="{4BB350DB-AEC6-4A70-8DA2-773581ABAB77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489" y="6357205"/>
            <a:ext cx="792088" cy="406376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2408" y="6533105"/>
            <a:ext cx="7092000" cy="38289"/>
          </a:xfrm>
          <a:prstGeom prst="rect">
            <a:avLst/>
          </a:prstGeom>
        </p:spPr>
      </p:pic>
      <p:sp>
        <p:nvSpPr>
          <p:cNvPr id="10" name="직사각형 9"/>
          <p:cNvSpPr/>
          <p:nvPr userDrawn="1"/>
        </p:nvSpPr>
        <p:spPr>
          <a:xfrm flipV="1">
            <a:off x="0" y="728704"/>
            <a:ext cx="9144000" cy="36000"/>
          </a:xfrm>
          <a:prstGeom prst="rect">
            <a:avLst/>
          </a:prstGeom>
          <a:gradFill flip="none" rotWithShape="1">
            <a:gsLst>
              <a:gs pos="0">
                <a:srgbClr val="3399FF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64485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-1" y="0"/>
            <a:ext cx="7538721" cy="653014"/>
          </a:xfrm>
        </p:spPr>
        <p:txBody>
          <a:bodyPr/>
          <a:lstStyle>
            <a:lvl1pPr>
              <a:defRPr spc="-150"/>
            </a:lvl1pPr>
          </a:lstStyle>
          <a:p>
            <a:r>
              <a:rPr kumimoji="1" lang="en-US" altLang="ko-KR" dirty="0"/>
              <a:t>Click To Edit Master Title Style</a:t>
            </a:r>
            <a:endParaRPr kumimoji="1" lang="ja-JP" alt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21739" y="6559612"/>
            <a:ext cx="14584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>
                <a:ln w="3175">
                  <a:solidFill>
                    <a:schemeClr val="tx1">
                      <a:alpha val="4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Malgun Gothic"/>
              </a:defRPr>
            </a:lvl1pPr>
          </a:lstStyle>
          <a:p>
            <a:pPr defTabSz="457200" latinLnBrk="0"/>
            <a:fld id="{27655F23-C921-6945-88A6-CC79264B7678}" type="slidenum">
              <a:rPr kumimoji="1" lang="ja-JP" altLang="en-US" smtClean="0">
                <a:ln w="3175">
                  <a:solidFill>
                    <a:prstClr val="black">
                      <a:alpha val="4000"/>
                    </a:prstClr>
                  </a:solidFill>
                </a:ln>
              </a:rPr>
              <a:pPr defTabSz="457200" latinLnBrk="0"/>
              <a:t>‹#›</a:t>
            </a:fld>
            <a:endParaRPr kumimoji="1" lang="ja-JP" altLang="en-US" dirty="0">
              <a:ln w="3175">
                <a:solidFill>
                  <a:prstClr val="black">
                    <a:alpha val="4000"/>
                  </a:prstClr>
                </a:solidFill>
              </a:ln>
            </a:endParaRPr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B8B5CD9A-6605-41F6-A883-12AA23FBF620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-1" y="619864"/>
            <a:ext cx="9144001" cy="33814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49288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5BE07-A4CE-4C93-923F-CB3571DEE8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278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모서리가 둥근 직사각형 13"/>
          <p:cNvSpPr/>
          <p:nvPr userDrawn="1"/>
        </p:nvSpPr>
        <p:spPr>
          <a:xfrm>
            <a:off x="2577936" y="346076"/>
            <a:ext cx="4342402" cy="564997"/>
          </a:xfrm>
          <a:custGeom>
            <a:avLst/>
            <a:gdLst>
              <a:gd name="connsiteX0" fmla="*/ 0 w 3733966"/>
              <a:gd name="connsiteY0" fmla="*/ 94168 h 564997"/>
              <a:gd name="connsiteX1" fmla="*/ 94168 w 3733966"/>
              <a:gd name="connsiteY1" fmla="*/ 0 h 564997"/>
              <a:gd name="connsiteX2" fmla="*/ 3639798 w 3733966"/>
              <a:gd name="connsiteY2" fmla="*/ 0 h 564997"/>
              <a:gd name="connsiteX3" fmla="*/ 3733966 w 3733966"/>
              <a:gd name="connsiteY3" fmla="*/ 94168 h 564997"/>
              <a:gd name="connsiteX4" fmla="*/ 3733966 w 3733966"/>
              <a:gd name="connsiteY4" fmla="*/ 470829 h 564997"/>
              <a:gd name="connsiteX5" fmla="*/ 3639798 w 3733966"/>
              <a:gd name="connsiteY5" fmla="*/ 564997 h 564997"/>
              <a:gd name="connsiteX6" fmla="*/ 94168 w 3733966"/>
              <a:gd name="connsiteY6" fmla="*/ 564997 h 564997"/>
              <a:gd name="connsiteX7" fmla="*/ 0 w 3733966"/>
              <a:gd name="connsiteY7" fmla="*/ 470829 h 564997"/>
              <a:gd name="connsiteX8" fmla="*/ 0 w 3733966"/>
              <a:gd name="connsiteY8" fmla="*/ 94168 h 564997"/>
              <a:gd name="connsiteX0" fmla="*/ 0 w 4127666"/>
              <a:gd name="connsiteY0" fmla="*/ 94168 h 564997"/>
              <a:gd name="connsiteX1" fmla="*/ 94168 w 4127666"/>
              <a:gd name="connsiteY1" fmla="*/ 0 h 564997"/>
              <a:gd name="connsiteX2" fmla="*/ 3639798 w 4127666"/>
              <a:gd name="connsiteY2" fmla="*/ 0 h 564997"/>
              <a:gd name="connsiteX3" fmla="*/ 3733966 w 4127666"/>
              <a:gd name="connsiteY3" fmla="*/ 94168 h 564997"/>
              <a:gd name="connsiteX4" fmla="*/ 4127666 w 4127666"/>
              <a:gd name="connsiteY4" fmla="*/ 381929 h 564997"/>
              <a:gd name="connsiteX5" fmla="*/ 3639798 w 4127666"/>
              <a:gd name="connsiteY5" fmla="*/ 564997 h 564997"/>
              <a:gd name="connsiteX6" fmla="*/ 94168 w 4127666"/>
              <a:gd name="connsiteY6" fmla="*/ 564997 h 564997"/>
              <a:gd name="connsiteX7" fmla="*/ 0 w 4127666"/>
              <a:gd name="connsiteY7" fmla="*/ 470829 h 564997"/>
              <a:gd name="connsiteX8" fmla="*/ 0 w 4127666"/>
              <a:gd name="connsiteY8" fmla="*/ 94168 h 564997"/>
              <a:gd name="connsiteX0" fmla="*/ 0 w 4308014"/>
              <a:gd name="connsiteY0" fmla="*/ 94168 h 564997"/>
              <a:gd name="connsiteX1" fmla="*/ 94168 w 4308014"/>
              <a:gd name="connsiteY1" fmla="*/ 0 h 564997"/>
              <a:gd name="connsiteX2" fmla="*/ 3639798 w 4308014"/>
              <a:gd name="connsiteY2" fmla="*/ 0 h 564997"/>
              <a:gd name="connsiteX3" fmla="*/ 3733966 w 4308014"/>
              <a:gd name="connsiteY3" fmla="*/ 94168 h 564997"/>
              <a:gd name="connsiteX4" fmla="*/ 4127666 w 4308014"/>
              <a:gd name="connsiteY4" fmla="*/ 381929 h 564997"/>
              <a:gd name="connsiteX5" fmla="*/ 4300198 w 4308014"/>
              <a:gd name="connsiteY5" fmla="*/ 564997 h 564997"/>
              <a:gd name="connsiteX6" fmla="*/ 94168 w 4308014"/>
              <a:gd name="connsiteY6" fmla="*/ 564997 h 564997"/>
              <a:gd name="connsiteX7" fmla="*/ 0 w 4308014"/>
              <a:gd name="connsiteY7" fmla="*/ 470829 h 564997"/>
              <a:gd name="connsiteX8" fmla="*/ 0 w 4308014"/>
              <a:gd name="connsiteY8" fmla="*/ 94168 h 564997"/>
              <a:gd name="connsiteX0" fmla="*/ 0 w 4308014"/>
              <a:gd name="connsiteY0" fmla="*/ 94168 h 564997"/>
              <a:gd name="connsiteX1" fmla="*/ 94168 w 4308014"/>
              <a:gd name="connsiteY1" fmla="*/ 0 h 564997"/>
              <a:gd name="connsiteX2" fmla="*/ 3639798 w 4308014"/>
              <a:gd name="connsiteY2" fmla="*/ 0 h 564997"/>
              <a:gd name="connsiteX3" fmla="*/ 3803816 w 4308014"/>
              <a:gd name="connsiteY3" fmla="*/ 132268 h 564997"/>
              <a:gd name="connsiteX4" fmla="*/ 4127666 w 4308014"/>
              <a:gd name="connsiteY4" fmla="*/ 381929 h 564997"/>
              <a:gd name="connsiteX5" fmla="*/ 4300198 w 4308014"/>
              <a:gd name="connsiteY5" fmla="*/ 564997 h 564997"/>
              <a:gd name="connsiteX6" fmla="*/ 94168 w 4308014"/>
              <a:gd name="connsiteY6" fmla="*/ 564997 h 564997"/>
              <a:gd name="connsiteX7" fmla="*/ 0 w 4308014"/>
              <a:gd name="connsiteY7" fmla="*/ 470829 h 564997"/>
              <a:gd name="connsiteX8" fmla="*/ 0 w 4308014"/>
              <a:gd name="connsiteY8" fmla="*/ 94168 h 564997"/>
              <a:gd name="connsiteX0" fmla="*/ 0 w 4308014"/>
              <a:gd name="connsiteY0" fmla="*/ 94168 h 564997"/>
              <a:gd name="connsiteX1" fmla="*/ 94168 w 4308014"/>
              <a:gd name="connsiteY1" fmla="*/ 0 h 564997"/>
              <a:gd name="connsiteX2" fmla="*/ 3639798 w 4308014"/>
              <a:gd name="connsiteY2" fmla="*/ 0 h 564997"/>
              <a:gd name="connsiteX3" fmla="*/ 3803816 w 4308014"/>
              <a:gd name="connsiteY3" fmla="*/ 132268 h 564997"/>
              <a:gd name="connsiteX4" fmla="*/ 4127666 w 4308014"/>
              <a:gd name="connsiteY4" fmla="*/ 381929 h 564997"/>
              <a:gd name="connsiteX5" fmla="*/ 4300198 w 4308014"/>
              <a:gd name="connsiteY5" fmla="*/ 564997 h 564997"/>
              <a:gd name="connsiteX6" fmla="*/ 94168 w 4308014"/>
              <a:gd name="connsiteY6" fmla="*/ 564997 h 564997"/>
              <a:gd name="connsiteX7" fmla="*/ 0 w 4308014"/>
              <a:gd name="connsiteY7" fmla="*/ 470829 h 564997"/>
              <a:gd name="connsiteX8" fmla="*/ 0 w 4308014"/>
              <a:gd name="connsiteY8" fmla="*/ 94168 h 564997"/>
              <a:gd name="connsiteX0" fmla="*/ 0 w 4311731"/>
              <a:gd name="connsiteY0" fmla="*/ 94168 h 564997"/>
              <a:gd name="connsiteX1" fmla="*/ 94168 w 4311731"/>
              <a:gd name="connsiteY1" fmla="*/ 0 h 564997"/>
              <a:gd name="connsiteX2" fmla="*/ 3639798 w 4311731"/>
              <a:gd name="connsiteY2" fmla="*/ 0 h 564997"/>
              <a:gd name="connsiteX3" fmla="*/ 3803816 w 4311731"/>
              <a:gd name="connsiteY3" fmla="*/ 132268 h 564997"/>
              <a:gd name="connsiteX4" fmla="*/ 4127666 w 4311731"/>
              <a:gd name="connsiteY4" fmla="*/ 381929 h 564997"/>
              <a:gd name="connsiteX5" fmla="*/ 4300198 w 4311731"/>
              <a:gd name="connsiteY5" fmla="*/ 564997 h 564997"/>
              <a:gd name="connsiteX6" fmla="*/ 94168 w 4311731"/>
              <a:gd name="connsiteY6" fmla="*/ 564997 h 564997"/>
              <a:gd name="connsiteX7" fmla="*/ 0 w 4311731"/>
              <a:gd name="connsiteY7" fmla="*/ 470829 h 564997"/>
              <a:gd name="connsiteX8" fmla="*/ 0 w 4311731"/>
              <a:gd name="connsiteY8" fmla="*/ 94168 h 564997"/>
              <a:gd name="connsiteX0" fmla="*/ 0 w 4311731"/>
              <a:gd name="connsiteY0" fmla="*/ 94168 h 564997"/>
              <a:gd name="connsiteX1" fmla="*/ 94168 w 4311731"/>
              <a:gd name="connsiteY1" fmla="*/ 0 h 564997"/>
              <a:gd name="connsiteX2" fmla="*/ 3639798 w 4311731"/>
              <a:gd name="connsiteY2" fmla="*/ 0 h 564997"/>
              <a:gd name="connsiteX3" fmla="*/ 3803816 w 4311731"/>
              <a:gd name="connsiteY3" fmla="*/ 132268 h 564997"/>
              <a:gd name="connsiteX4" fmla="*/ 4127666 w 4311731"/>
              <a:gd name="connsiteY4" fmla="*/ 381929 h 564997"/>
              <a:gd name="connsiteX5" fmla="*/ 4300198 w 4311731"/>
              <a:gd name="connsiteY5" fmla="*/ 564997 h 564997"/>
              <a:gd name="connsiteX6" fmla="*/ 94168 w 4311731"/>
              <a:gd name="connsiteY6" fmla="*/ 564997 h 564997"/>
              <a:gd name="connsiteX7" fmla="*/ 0 w 4311731"/>
              <a:gd name="connsiteY7" fmla="*/ 470829 h 564997"/>
              <a:gd name="connsiteX8" fmla="*/ 0 w 4311731"/>
              <a:gd name="connsiteY8" fmla="*/ 94168 h 564997"/>
              <a:gd name="connsiteX0" fmla="*/ 0 w 4311731"/>
              <a:gd name="connsiteY0" fmla="*/ 94168 h 564997"/>
              <a:gd name="connsiteX1" fmla="*/ 94168 w 4311731"/>
              <a:gd name="connsiteY1" fmla="*/ 0 h 564997"/>
              <a:gd name="connsiteX2" fmla="*/ 3639798 w 4311731"/>
              <a:gd name="connsiteY2" fmla="*/ 0 h 564997"/>
              <a:gd name="connsiteX3" fmla="*/ 3803816 w 4311731"/>
              <a:gd name="connsiteY3" fmla="*/ 132268 h 564997"/>
              <a:gd name="connsiteX4" fmla="*/ 4127666 w 4311731"/>
              <a:gd name="connsiteY4" fmla="*/ 381929 h 564997"/>
              <a:gd name="connsiteX5" fmla="*/ 4300198 w 4311731"/>
              <a:gd name="connsiteY5" fmla="*/ 564997 h 564997"/>
              <a:gd name="connsiteX6" fmla="*/ 94168 w 4311731"/>
              <a:gd name="connsiteY6" fmla="*/ 564997 h 564997"/>
              <a:gd name="connsiteX7" fmla="*/ 0 w 4311731"/>
              <a:gd name="connsiteY7" fmla="*/ 470829 h 564997"/>
              <a:gd name="connsiteX8" fmla="*/ 0 w 4311731"/>
              <a:gd name="connsiteY8" fmla="*/ 94168 h 564997"/>
              <a:gd name="connsiteX0" fmla="*/ 0 w 4311731"/>
              <a:gd name="connsiteY0" fmla="*/ 100518 h 571347"/>
              <a:gd name="connsiteX1" fmla="*/ 94168 w 4311731"/>
              <a:gd name="connsiteY1" fmla="*/ 6350 h 571347"/>
              <a:gd name="connsiteX2" fmla="*/ 3538198 w 4311731"/>
              <a:gd name="connsiteY2" fmla="*/ 0 h 571347"/>
              <a:gd name="connsiteX3" fmla="*/ 3803816 w 4311731"/>
              <a:gd name="connsiteY3" fmla="*/ 138618 h 571347"/>
              <a:gd name="connsiteX4" fmla="*/ 4127666 w 4311731"/>
              <a:gd name="connsiteY4" fmla="*/ 388279 h 571347"/>
              <a:gd name="connsiteX5" fmla="*/ 4300198 w 4311731"/>
              <a:gd name="connsiteY5" fmla="*/ 571347 h 571347"/>
              <a:gd name="connsiteX6" fmla="*/ 94168 w 4311731"/>
              <a:gd name="connsiteY6" fmla="*/ 571347 h 571347"/>
              <a:gd name="connsiteX7" fmla="*/ 0 w 4311731"/>
              <a:gd name="connsiteY7" fmla="*/ 477179 h 571347"/>
              <a:gd name="connsiteX8" fmla="*/ 0 w 4311731"/>
              <a:gd name="connsiteY8" fmla="*/ 100518 h 571347"/>
              <a:gd name="connsiteX0" fmla="*/ 0 w 4311731"/>
              <a:gd name="connsiteY0" fmla="*/ 100518 h 571347"/>
              <a:gd name="connsiteX1" fmla="*/ 94168 w 4311731"/>
              <a:gd name="connsiteY1" fmla="*/ 6350 h 571347"/>
              <a:gd name="connsiteX2" fmla="*/ 3538198 w 4311731"/>
              <a:gd name="connsiteY2" fmla="*/ 0 h 571347"/>
              <a:gd name="connsiteX3" fmla="*/ 3803816 w 4311731"/>
              <a:gd name="connsiteY3" fmla="*/ 138618 h 571347"/>
              <a:gd name="connsiteX4" fmla="*/ 4127666 w 4311731"/>
              <a:gd name="connsiteY4" fmla="*/ 388279 h 571347"/>
              <a:gd name="connsiteX5" fmla="*/ 4300198 w 4311731"/>
              <a:gd name="connsiteY5" fmla="*/ 571347 h 571347"/>
              <a:gd name="connsiteX6" fmla="*/ 94168 w 4311731"/>
              <a:gd name="connsiteY6" fmla="*/ 571347 h 571347"/>
              <a:gd name="connsiteX7" fmla="*/ 0 w 4311731"/>
              <a:gd name="connsiteY7" fmla="*/ 477179 h 571347"/>
              <a:gd name="connsiteX8" fmla="*/ 0 w 4311731"/>
              <a:gd name="connsiteY8" fmla="*/ 100518 h 571347"/>
              <a:gd name="connsiteX0" fmla="*/ 0 w 4311731"/>
              <a:gd name="connsiteY0" fmla="*/ 100518 h 571347"/>
              <a:gd name="connsiteX1" fmla="*/ 94168 w 4311731"/>
              <a:gd name="connsiteY1" fmla="*/ 6350 h 571347"/>
              <a:gd name="connsiteX2" fmla="*/ 3538198 w 4311731"/>
              <a:gd name="connsiteY2" fmla="*/ 0 h 571347"/>
              <a:gd name="connsiteX3" fmla="*/ 3803816 w 4311731"/>
              <a:gd name="connsiteY3" fmla="*/ 138618 h 571347"/>
              <a:gd name="connsiteX4" fmla="*/ 4127666 w 4311731"/>
              <a:gd name="connsiteY4" fmla="*/ 388279 h 571347"/>
              <a:gd name="connsiteX5" fmla="*/ 4300198 w 4311731"/>
              <a:gd name="connsiteY5" fmla="*/ 571347 h 571347"/>
              <a:gd name="connsiteX6" fmla="*/ 94168 w 4311731"/>
              <a:gd name="connsiteY6" fmla="*/ 571347 h 571347"/>
              <a:gd name="connsiteX7" fmla="*/ 0 w 4311731"/>
              <a:gd name="connsiteY7" fmla="*/ 477179 h 571347"/>
              <a:gd name="connsiteX8" fmla="*/ 0 w 4311731"/>
              <a:gd name="connsiteY8" fmla="*/ 100518 h 571347"/>
              <a:gd name="connsiteX0" fmla="*/ 0 w 4342402"/>
              <a:gd name="connsiteY0" fmla="*/ 100518 h 571347"/>
              <a:gd name="connsiteX1" fmla="*/ 94168 w 4342402"/>
              <a:gd name="connsiteY1" fmla="*/ 6350 h 571347"/>
              <a:gd name="connsiteX2" fmla="*/ 3538198 w 4342402"/>
              <a:gd name="connsiteY2" fmla="*/ 0 h 571347"/>
              <a:gd name="connsiteX3" fmla="*/ 3803816 w 4342402"/>
              <a:gd name="connsiteY3" fmla="*/ 138618 h 571347"/>
              <a:gd name="connsiteX4" fmla="*/ 4127666 w 4342402"/>
              <a:gd name="connsiteY4" fmla="*/ 388279 h 571347"/>
              <a:gd name="connsiteX5" fmla="*/ 4300198 w 4342402"/>
              <a:gd name="connsiteY5" fmla="*/ 571347 h 571347"/>
              <a:gd name="connsiteX6" fmla="*/ 94168 w 4342402"/>
              <a:gd name="connsiteY6" fmla="*/ 571347 h 571347"/>
              <a:gd name="connsiteX7" fmla="*/ 0 w 4342402"/>
              <a:gd name="connsiteY7" fmla="*/ 477179 h 571347"/>
              <a:gd name="connsiteX8" fmla="*/ 0 w 4342402"/>
              <a:gd name="connsiteY8" fmla="*/ 100518 h 571347"/>
              <a:gd name="connsiteX0" fmla="*/ 0 w 4342402"/>
              <a:gd name="connsiteY0" fmla="*/ 100518 h 571347"/>
              <a:gd name="connsiteX1" fmla="*/ 94168 w 4342402"/>
              <a:gd name="connsiteY1" fmla="*/ 6350 h 571347"/>
              <a:gd name="connsiteX2" fmla="*/ 3417548 w 4342402"/>
              <a:gd name="connsiteY2" fmla="*/ 0 h 571347"/>
              <a:gd name="connsiteX3" fmla="*/ 3803816 w 4342402"/>
              <a:gd name="connsiteY3" fmla="*/ 138618 h 571347"/>
              <a:gd name="connsiteX4" fmla="*/ 4127666 w 4342402"/>
              <a:gd name="connsiteY4" fmla="*/ 388279 h 571347"/>
              <a:gd name="connsiteX5" fmla="*/ 4300198 w 4342402"/>
              <a:gd name="connsiteY5" fmla="*/ 571347 h 571347"/>
              <a:gd name="connsiteX6" fmla="*/ 94168 w 4342402"/>
              <a:gd name="connsiteY6" fmla="*/ 571347 h 571347"/>
              <a:gd name="connsiteX7" fmla="*/ 0 w 4342402"/>
              <a:gd name="connsiteY7" fmla="*/ 477179 h 571347"/>
              <a:gd name="connsiteX8" fmla="*/ 0 w 4342402"/>
              <a:gd name="connsiteY8" fmla="*/ 100518 h 571347"/>
              <a:gd name="connsiteX0" fmla="*/ 0 w 4342402"/>
              <a:gd name="connsiteY0" fmla="*/ 100518 h 571347"/>
              <a:gd name="connsiteX1" fmla="*/ 94168 w 4342402"/>
              <a:gd name="connsiteY1" fmla="*/ 6350 h 571347"/>
              <a:gd name="connsiteX2" fmla="*/ 3417548 w 4342402"/>
              <a:gd name="connsiteY2" fmla="*/ 0 h 571347"/>
              <a:gd name="connsiteX3" fmla="*/ 3759366 w 4342402"/>
              <a:gd name="connsiteY3" fmla="*/ 138618 h 571347"/>
              <a:gd name="connsiteX4" fmla="*/ 4127666 w 4342402"/>
              <a:gd name="connsiteY4" fmla="*/ 388279 h 571347"/>
              <a:gd name="connsiteX5" fmla="*/ 4300198 w 4342402"/>
              <a:gd name="connsiteY5" fmla="*/ 571347 h 571347"/>
              <a:gd name="connsiteX6" fmla="*/ 94168 w 4342402"/>
              <a:gd name="connsiteY6" fmla="*/ 571347 h 571347"/>
              <a:gd name="connsiteX7" fmla="*/ 0 w 4342402"/>
              <a:gd name="connsiteY7" fmla="*/ 477179 h 571347"/>
              <a:gd name="connsiteX8" fmla="*/ 0 w 4342402"/>
              <a:gd name="connsiteY8" fmla="*/ 100518 h 571347"/>
              <a:gd name="connsiteX0" fmla="*/ 0 w 4342402"/>
              <a:gd name="connsiteY0" fmla="*/ 100518 h 571347"/>
              <a:gd name="connsiteX1" fmla="*/ 94168 w 4342402"/>
              <a:gd name="connsiteY1" fmla="*/ 6350 h 571347"/>
              <a:gd name="connsiteX2" fmla="*/ 3417548 w 4342402"/>
              <a:gd name="connsiteY2" fmla="*/ 0 h 571347"/>
              <a:gd name="connsiteX3" fmla="*/ 3759366 w 4342402"/>
              <a:gd name="connsiteY3" fmla="*/ 138618 h 571347"/>
              <a:gd name="connsiteX4" fmla="*/ 4127666 w 4342402"/>
              <a:gd name="connsiteY4" fmla="*/ 388279 h 571347"/>
              <a:gd name="connsiteX5" fmla="*/ 4300198 w 4342402"/>
              <a:gd name="connsiteY5" fmla="*/ 571347 h 571347"/>
              <a:gd name="connsiteX6" fmla="*/ 94168 w 4342402"/>
              <a:gd name="connsiteY6" fmla="*/ 571347 h 571347"/>
              <a:gd name="connsiteX7" fmla="*/ 0 w 4342402"/>
              <a:gd name="connsiteY7" fmla="*/ 477179 h 571347"/>
              <a:gd name="connsiteX8" fmla="*/ 0 w 4342402"/>
              <a:gd name="connsiteY8" fmla="*/ 100518 h 571347"/>
              <a:gd name="connsiteX0" fmla="*/ 0 w 4342402"/>
              <a:gd name="connsiteY0" fmla="*/ 100518 h 571347"/>
              <a:gd name="connsiteX1" fmla="*/ 94168 w 4342402"/>
              <a:gd name="connsiteY1" fmla="*/ 6350 h 571347"/>
              <a:gd name="connsiteX2" fmla="*/ 3417548 w 4342402"/>
              <a:gd name="connsiteY2" fmla="*/ 0 h 571347"/>
              <a:gd name="connsiteX3" fmla="*/ 3759366 w 4342402"/>
              <a:gd name="connsiteY3" fmla="*/ 138618 h 571347"/>
              <a:gd name="connsiteX4" fmla="*/ 4127666 w 4342402"/>
              <a:gd name="connsiteY4" fmla="*/ 388279 h 571347"/>
              <a:gd name="connsiteX5" fmla="*/ 4300198 w 4342402"/>
              <a:gd name="connsiteY5" fmla="*/ 571347 h 571347"/>
              <a:gd name="connsiteX6" fmla="*/ 94168 w 4342402"/>
              <a:gd name="connsiteY6" fmla="*/ 571347 h 571347"/>
              <a:gd name="connsiteX7" fmla="*/ 0 w 4342402"/>
              <a:gd name="connsiteY7" fmla="*/ 477179 h 571347"/>
              <a:gd name="connsiteX8" fmla="*/ 0 w 4342402"/>
              <a:gd name="connsiteY8" fmla="*/ 100518 h 571347"/>
              <a:gd name="connsiteX0" fmla="*/ 0 w 4342402"/>
              <a:gd name="connsiteY0" fmla="*/ 94168 h 564997"/>
              <a:gd name="connsiteX1" fmla="*/ 94168 w 4342402"/>
              <a:gd name="connsiteY1" fmla="*/ 0 h 564997"/>
              <a:gd name="connsiteX2" fmla="*/ 3284198 w 4342402"/>
              <a:gd name="connsiteY2" fmla="*/ 0 h 564997"/>
              <a:gd name="connsiteX3" fmla="*/ 3759366 w 4342402"/>
              <a:gd name="connsiteY3" fmla="*/ 132268 h 564997"/>
              <a:gd name="connsiteX4" fmla="*/ 4127666 w 4342402"/>
              <a:gd name="connsiteY4" fmla="*/ 381929 h 564997"/>
              <a:gd name="connsiteX5" fmla="*/ 4300198 w 4342402"/>
              <a:gd name="connsiteY5" fmla="*/ 564997 h 564997"/>
              <a:gd name="connsiteX6" fmla="*/ 94168 w 4342402"/>
              <a:gd name="connsiteY6" fmla="*/ 564997 h 564997"/>
              <a:gd name="connsiteX7" fmla="*/ 0 w 4342402"/>
              <a:gd name="connsiteY7" fmla="*/ 470829 h 564997"/>
              <a:gd name="connsiteX8" fmla="*/ 0 w 4342402"/>
              <a:gd name="connsiteY8" fmla="*/ 94168 h 564997"/>
              <a:gd name="connsiteX0" fmla="*/ 0 w 4342402"/>
              <a:gd name="connsiteY0" fmla="*/ 94168 h 564997"/>
              <a:gd name="connsiteX1" fmla="*/ 94168 w 4342402"/>
              <a:gd name="connsiteY1" fmla="*/ 0 h 564997"/>
              <a:gd name="connsiteX2" fmla="*/ 3284198 w 4342402"/>
              <a:gd name="connsiteY2" fmla="*/ 0 h 564997"/>
              <a:gd name="connsiteX3" fmla="*/ 3759366 w 4342402"/>
              <a:gd name="connsiteY3" fmla="*/ 132268 h 564997"/>
              <a:gd name="connsiteX4" fmla="*/ 4127666 w 4342402"/>
              <a:gd name="connsiteY4" fmla="*/ 381929 h 564997"/>
              <a:gd name="connsiteX5" fmla="*/ 4300198 w 4342402"/>
              <a:gd name="connsiteY5" fmla="*/ 564997 h 564997"/>
              <a:gd name="connsiteX6" fmla="*/ 94168 w 4342402"/>
              <a:gd name="connsiteY6" fmla="*/ 564997 h 564997"/>
              <a:gd name="connsiteX7" fmla="*/ 0 w 4342402"/>
              <a:gd name="connsiteY7" fmla="*/ 470829 h 564997"/>
              <a:gd name="connsiteX8" fmla="*/ 0 w 4342402"/>
              <a:gd name="connsiteY8" fmla="*/ 94168 h 564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2402" h="564997">
                <a:moveTo>
                  <a:pt x="0" y="94168"/>
                </a:moveTo>
                <a:cubicBezTo>
                  <a:pt x="0" y="42160"/>
                  <a:pt x="42160" y="0"/>
                  <a:pt x="94168" y="0"/>
                </a:cubicBezTo>
                <a:lnTo>
                  <a:pt x="3284198" y="0"/>
                </a:lnTo>
                <a:cubicBezTo>
                  <a:pt x="3494956" y="0"/>
                  <a:pt x="3683166" y="73910"/>
                  <a:pt x="3759366" y="132268"/>
                </a:cubicBezTo>
                <a:cubicBezTo>
                  <a:pt x="3930816" y="257822"/>
                  <a:pt x="4045116" y="377025"/>
                  <a:pt x="4127666" y="381929"/>
                </a:cubicBezTo>
                <a:cubicBezTo>
                  <a:pt x="4407066" y="383137"/>
                  <a:pt x="4352206" y="564997"/>
                  <a:pt x="4300198" y="564997"/>
                </a:cubicBezTo>
                <a:lnTo>
                  <a:pt x="94168" y="564997"/>
                </a:lnTo>
                <a:cubicBezTo>
                  <a:pt x="42160" y="564997"/>
                  <a:pt x="0" y="522837"/>
                  <a:pt x="0" y="470829"/>
                </a:cubicBezTo>
                <a:lnTo>
                  <a:pt x="0" y="94168"/>
                </a:lnTo>
                <a:close/>
              </a:path>
            </a:pathLst>
          </a:custGeom>
          <a:solidFill>
            <a:schemeClr val="bg1">
              <a:alpha val="61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latinLnBrk="0"/>
            <a:endParaRPr kumimoji="1" lang="ko-KR" altLang="en-US" sz="1800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-1" y="-27384"/>
            <a:ext cx="7538721" cy="6530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 dirty="0"/>
              <a:t>마스터 제목 스타일 편집</a:t>
            </a:r>
            <a:endParaRPr kumimoji="1" lang="ja-JP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1219"/>
            <a:ext cx="8229600" cy="50549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/>
              <a:t>마스터 텍스트 스타일을 편집합니다</a:t>
            </a:r>
          </a:p>
          <a:p>
            <a:pPr lvl="1"/>
            <a:r>
              <a:rPr kumimoji="1" lang="ko-KR" altLang="en-US" dirty="0"/>
              <a:t>둘째 수준</a:t>
            </a:r>
          </a:p>
          <a:p>
            <a:pPr lvl="2"/>
            <a:r>
              <a:rPr kumimoji="1" lang="ko-KR" altLang="en-US" dirty="0"/>
              <a:t>셋째 수준</a:t>
            </a:r>
          </a:p>
          <a:p>
            <a:pPr lvl="3"/>
            <a:r>
              <a:rPr kumimoji="1" lang="ko-KR" altLang="en-US" dirty="0"/>
              <a:t>넷째 수준</a:t>
            </a:r>
          </a:p>
          <a:p>
            <a:pPr lvl="4"/>
            <a:r>
              <a:rPr kumimoji="1" lang="ko-KR" altLang="en-US" dirty="0"/>
              <a:t>다섯째 수준</a:t>
            </a:r>
            <a:endParaRPr kumimoji="1" lang="ja-JP" alt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11871" y="-16618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endParaRPr kumimoji="1" lang="ja-JP" altLang="en-US" sz="1800" dirty="0">
              <a:solidFill>
                <a:prstClr val="black"/>
              </a:solidFill>
            </a:endParaRPr>
          </a:p>
        </p:txBody>
      </p:sp>
      <p:sp>
        <p:nvSpPr>
          <p:cNvPr id="2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21739" y="6559612"/>
            <a:ext cx="14584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>
                <a:ln w="3175">
                  <a:solidFill>
                    <a:schemeClr val="tx1">
                      <a:alpha val="4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Malgun Gothic"/>
              </a:defRPr>
            </a:lvl1pPr>
          </a:lstStyle>
          <a:p>
            <a:pPr defTabSz="457200" latinLnBrk="0"/>
            <a:fld id="{27655F23-C921-6945-88A6-CC79264B7678}" type="slidenum">
              <a:rPr kumimoji="1" lang="ja-JP" altLang="en-US" smtClean="0">
                <a:ln w="3175">
                  <a:solidFill>
                    <a:prstClr val="black">
                      <a:alpha val="4000"/>
                    </a:prstClr>
                  </a:solidFill>
                </a:ln>
              </a:rPr>
              <a:pPr defTabSz="457200" latinLnBrk="0"/>
              <a:t>‹#›</a:t>
            </a:fld>
            <a:endParaRPr kumimoji="1" lang="ja-JP" altLang="en-US" dirty="0">
              <a:ln w="3175">
                <a:solidFill>
                  <a:prstClr val="black">
                    <a:alpha val="4000"/>
                  </a:prst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124890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algn="l" defTabSz="457200" rtl="0" eaLnBrk="1" latinLnBrk="1" hangingPunct="1">
        <a:spcBef>
          <a:spcPct val="0"/>
        </a:spcBef>
        <a:buNone/>
        <a:defRPr kumimoji="1" sz="2800" b="1" kern="1200" spc="-150" baseline="0">
          <a:ln w="3175">
            <a:solidFill>
              <a:srgbClr val="12315D">
                <a:alpha val="14000"/>
              </a:srgbClr>
            </a:solidFill>
          </a:ln>
          <a:solidFill>
            <a:srgbClr val="12315D"/>
          </a:solidFill>
          <a:latin typeface="맑은 고딕" pitchFamily="50" charset="-127"/>
          <a:ea typeface="맑은 고딕" pitchFamily="50" charset="-127"/>
          <a:cs typeface="맑은 고딕" pitchFamily="50" charset="-127"/>
        </a:defRPr>
      </a:lvl1pPr>
    </p:titleStyle>
    <p:bodyStyle>
      <a:lvl1pPr marL="342900" indent="-342900" algn="l" defTabSz="457200" rtl="0" eaLnBrk="1" latinLnBrk="1" hangingPunct="1">
        <a:lnSpc>
          <a:spcPct val="100000"/>
        </a:lnSpc>
        <a:spcBef>
          <a:spcPts val="600"/>
        </a:spcBef>
        <a:buClr>
          <a:srgbClr val="12315D"/>
        </a:buClr>
        <a:buSzPct val="100000"/>
        <a:buFont typeface="Wingdings" charset="2"/>
        <a:buChar char=""/>
        <a:defRPr kumimoji="1" sz="1600" b="1" kern="1200" spc="-150" baseline="0">
          <a:ln w="3175">
            <a:solidFill>
              <a:schemeClr val="tx1">
                <a:alpha val="7000"/>
              </a:schemeClr>
            </a:solidFill>
          </a:ln>
          <a:solidFill>
            <a:schemeClr val="tx1"/>
          </a:solidFill>
          <a:latin typeface="+mn-ea"/>
          <a:ea typeface="+mn-ea"/>
          <a:cs typeface="Malgun Gothic"/>
        </a:defRPr>
      </a:lvl1pPr>
      <a:lvl2pPr marL="540000" indent="-285750" algn="l" defTabSz="457200" rtl="0" eaLnBrk="1" latinLnBrk="1" hangingPunct="1">
        <a:lnSpc>
          <a:spcPct val="100000"/>
        </a:lnSpc>
        <a:spcBef>
          <a:spcPts val="600"/>
        </a:spcBef>
        <a:buClr>
          <a:srgbClr val="3C3C3B"/>
        </a:buClr>
        <a:buFont typeface="Arial"/>
        <a:buChar char="❍"/>
        <a:defRPr kumimoji="1" sz="1400" kern="1200" spc="-150" baseline="0">
          <a:ln w="3175">
            <a:solidFill>
              <a:schemeClr val="tx1">
                <a:alpha val="8000"/>
              </a:schemeClr>
            </a:solidFill>
          </a:ln>
          <a:solidFill>
            <a:schemeClr val="tx1"/>
          </a:solidFill>
          <a:latin typeface="+mn-ea"/>
          <a:ea typeface="+mn-ea"/>
          <a:cs typeface="Malgun Gothic"/>
        </a:defRPr>
      </a:lvl2pPr>
      <a:lvl3pPr marL="748800" indent="-228600" algn="l" defTabSz="457200" rtl="0" eaLnBrk="1" latinLnBrk="1" hangingPunct="1">
        <a:lnSpc>
          <a:spcPct val="100000"/>
        </a:lnSpc>
        <a:spcBef>
          <a:spcPts val="600"/>
        </a:spcBef>
        <a:buClr>
          <a:srgbClr val="800000"/>
        </a:buClr>
        <a:buFont typeface="AppleGothic"/>
        <a:buChar char="▹"/>
        <a:defRPr kumimoji="1" sz="1200" kern="1200" spc="-150" baseline="0">
          <a:ln w="3175">
            <a:solidFill>
              <a:schemeClr val="tx1">
                <a:alpha val="5000"/>
              </a:schemeClr>
            </a:solidFill>
          </a:ln>
          <a:solidFill>
            <a:schemeClr val="tx1"/>
          </a:solidFill>
          <a:latin typeface="+mn-ea"/>
          <a:ea typeface="+mn-ea"/>
          <a:cs typeface="Malgun Gothic"/>
        </a:defRPr>
      </a:lvl3pPr>
      <a:lvl4pPr marL="990000" indent="-228600" algn="l" defTabSz="457200" rtl="0" eaLnBrk="1" latinLnBrk="1" hangingPunct="1">
        <a:lnSpc>
          <a:spcPct val="100000"/>
        </a:lnSpc>
        <a:spcBef>
          <a:spcPts val="600"/>
        </a:spcBef>
        <a:buFont typeface="Arial"/>
        <a:buChar char="▪"/>
        <a:defRPr kumimoji="1" sz="1200" kern="1200" spc="-150" baseline="0">
          <a:ln w="3175">
            <a:solidFill>
              <a:schemeClr val="tx1">
                <a:alpha val="9000"/>
              </a:schemeClr>
            </a:solidFill>
          </a:ln>
          <a:solidFill>
            <a:schemeClr val="tx1"/>
          </a:solidFill>
          <a:latin typeface="+mn-ea"/>
          <a:ea typeface="+mn-ea"/>
          <a:cs typeface="Malgun Gothic"/>
        </a:defRPr>
      </a:lvl4pPr>
      <a:lvl5pPr marL="1231200" indent="-228600" algn="l" defTabSz="457200" rtl="0" eaLnBrk="1" latinLnBrk="1" hangingPunct="1">
        <a:lnSpc>
          <a:spcPct val="100000"/>
        </a:lnSpc>
        <a:spcBef>
          <a:spcPts val="600"/>
        </a:spcBef>
        <a:buClr>
          <a:srgbClr val="800000"/>
        </a:buClr>
        <a:buFont typeface="Wingdings" charset="2"/>
        <a:buChar char="⁃"/>
        <a:defRPr kumimoji="1" sz="1200" kern="1200" spc="-150" baseline="0">
          <a:ln w="3175">
            <a:solidFill>
              <a:schemeClr val="tx1">
                <a:alpha val="8000"/>
              </a:schemeClr>
            </a:solidFill>
          </a:ln>
          <a:solidFill>
            <a:schemeClr val="tx1"/>
          </a:solidFill>
          <a:latin typeface="+mn-ea"/>
          <a:ea typeface="+mn-ea"/>
          <a:cs typeface="Malgun Gothic"/>
        </a:defRPr>
      </a:lvl5pPr>
      <a:lvl6pPr marL="2514600" indent="-228600" algn="l" defTabSz="457200" rtl="0" eaLnBrk="1" latinLnBrk="1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1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18EFC66E-0325-47CB-B607-F1734D9DD02E}"/>
              </a:ext>
            </a:extLst>
          </p:cNvPr>
          <p:cNvSpPr/>
          <p:nvPr/>
        </p:nvSpPr>
        <p:spPr>
          <a:xfrm>
            <a:off x="0" y="965200"/>
            <a:ext cx="9144000" cy="2172010"/>
          </a:xfrm>
          <a:prstGeom prst="rect">
            <a:avLst/>
          </a:prstGeom>
          <a:gradFill flip="none" rotWithShape="1">
            <a:gsLst>
              <a:gs pos="0">
                <a:srgbClr val="5B9BD5">
                  <a:lumMod val="89000"/>
                </a:srgbClr>
              </a:gs>
              <a:gs pos="23000">
                <a:srgbClr val="5B9BD5">
                  <a:lumMod val="89000"/>
                </a:srgbClr>
              </a:gs>
              <a:gs pos="69000">
                <a:srgbClr val="5B9BD5">
                  <a:lumMod val="75000"/>
                </a:srgbClr>
              </a:gs>
              <a:gs pos="97000">
                <a:srgbClr val="5B9BD5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 latinLnBrk="0">
              <a:defRPr/>
            </a:pPr>
            <a:endParaRPr lang="ko-KR" altLang="en-US" sz="1350" kern="0" dirty="0">
              <a:solidFill>
                <a:prstClr val="white"/>
              </a:solidFill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ctrTitle"/>
          </p:nvPr>
        </p:nvSpPr>
        <p:spPr>
          <a:xfrm>
            <a:off x="495700" y="1123937"/>
            <a:ext cx="8298640" cy="1684312"/>
          </a:xfrm>
        </p:spPr>
        <p:txBody>
          <a:bodyPr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spc="-200" dirty="0">
                <a:ln w="3175">
                  <a:solidFill>
                    <a:srgbClr val="376092">
                      <a:alpha val="1100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EC-Fan</a:t>
            </a:r>
            <a:endParaRPr lang="ko-KR" altLang="en-US" sz="4000" spc="-200" dirty="0">
              <a:ln w="3175">
                <a:solidFill>
                  <a:srgbClr val="376092">
                    <a:alpha val="11000"/>
                  </a:srgb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</a:endParaRPr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1847B59A-ABE6-47F8-BF8A-AC5277F3E8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8742" y="5892800"/>
            <a:ext cx="2712782" cy="70158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4F49624-80AB-B14E-8083-DBCAD952C6D3}"/>
              </a:ext>
            </a:extLst>
          </p:cNvPr>
          <p:cNvSpPr/>
          <p:nvPr/>
        </p:nvSpPr>
        <p:spPr>
          <a:xfrm>
            <a:off x="175926" y="3295949"/>
            <a:ext cx="86184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400" b="1" dirty="0">
                <a:solidFill>
                  <a:prstClr val="black"/>
                </a:solidFill>
                <a:latin typeface="DotumChe" panose="020B0609000101010101" pitchFamily="49" charset="-127"/>
                <a:ea typeface="DotumChe" panose="020B0609000101010101" pitchFamily="49" charset="-127"/>
              </a:rPr>
              <a:t>2024. 10. 16</a:t>
            </a:r>
          </a:p>
        </p:txBody>
      </p:sp>
    </p:spTree>
    <p:extLst>
      <p:ext uri="{BB962C8B-B14F-4D97-AF65-F5344CB8AC3E}">
        <p14:creationId xmlns:p14="http://schemas.microsoft.com/office/powerpoint/2010/main" val="965162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266"/>
    </mc:Choice>
    <mc:Fallback xmlns="">
      <p:transition spd="slow" advTm="2026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29F45A-E717-4A25-925E-5C99D3968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서론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025522-C30F-47EB-90D8-A92D6F623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연구 배경</a:t>
            </a:r>
            <a:endParaRPr lang="en-US" altLang="ko-KR" dirty="0"/>
          </a:p>
          <a:p>
            <a:pPr lvl="1"/>
            <a:r>
              <a:rPr lang="ko-KR" altLang="en-US" dirty="0"/>
              <a:t>여러 목적을 동시에 만족해야 하는 다목적 최적화</a:t>
            </a:r>
            <a:r>
              <a:rPr lang="en-US" altLang="ko-KR" dirty="0"/>
              <a:t>(Multi-Objective Optimization, MOO)</a:t>
            </a:r>
            <a:r>
              <a:rPr lang="ko-KR" altLang="en-US" dirty="0"/>
              <a:t> 문제를 위하여 알고리즘을 구성함</a:t>
            </a:r>
            <a:endParaRPr lang="en-US" altLang="ko-KR" dirty="0"/>
          </a:p>
          <a:p>
            <a:pPr lvl="1"/>
            <a:r>
              <a:rPr lang="ko-KR" altLang="en-US" dirty="0"/>
              <a:t>예를 들어</a:t>
            </a:r>
            <a:r>
              <a:rPr lang="en-US" altLang="ko-KR" dirty="0"/>
              <a:t>, </a:t>
            </a:r>
            <a:r>
              <a:rPr lang="ko-KR" altLang="en-US" dirty="0"/>
              <a:t>모터 설계에서는 성능을 최대화 하려는 동시에 리플을 최소화 하여야 하고 동시에 다른 불필요한 토크 변동 현상 을 최소화 하여야 하는 복잡한 설계 변수 간의 트레이드 오프 관계가 존재 한다</a:t>
            </a:r>
            <a:r>
              <a:rPr lang="en-US" altLang="ko-KR" dirty="0"/>
              <a:t>. </a:t>
            </a:r>
            <a:r>
              <a:rPr lang="ko-KR" altLang="en-US" dirty="0"/>
              <a:t>이러한 문제에서 단일 해를 찾는 것보다 다양한 트레이드 오프 관계를 만족하는 여러 해를 동시에 찾는 것이 중요하다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NSGA-III(Non-dominated Sorting Genetic Algorithm III)</a:t>
            </a:r>
            <a:r>
              <a:rPr lang="ko-KR" altLang="en-US" dirty="0"/>
              <a:t>은 </a:t>
            </a:r>
            <a:r>
              <a:rPr lang="en-US" altLang="ko-KR" dirty="0"/>
              <a:t>3</a:t>
            </a:r>
            <a:r>
              <a:rPr lang="ko-KR" altLang="en-US" dirty="0"/>
              <a:t>개의 상의 목적함수를 다루는 다목적 최적화 문제에서 우수한 성능을 발휘하는 알고리즘이다</a:t>
            </a:r>
            <a:r>
              <a:rPr lang="en-US" altLang="ko-KR" dirty="0"/>
              <a:t>. reference directions</a:t>
            </a:r>
            <a:r>
              <a:rPr lang="ko-KR" altLang="en-US" dirty="0"/>
              <a:t>을 사용하여 해집합의 </a:t>
            </a:r>
            <a:r>
              <a:rPr lang="en-US" altLang="ko-KR" dirty="0"/>
              <a:t>Pareto Front</a:t>
            </a:r>
            <a:r>
              <a:rPr lang="ko-KR" altLang="en-US" dirty="0"/>
              <a:t>를 효과적으로 탐색할 수 있도록 설계된 알고리즘이다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연구 목적</a:t>
            </a:r>
            <a:endParaRPr lang="en-US" altLang="ko-KR" dirty="0"/>
          </a:p>
          <a:p>
            <a:pPr lvl="1"/>
            <a:r>
              <a:rPr lang="ko-KR" altLang="en-US" dirty="0"/>
              <a:t>본 연구의 목적은 </a:t>
            </a:r>
            <a:r>
              <a:rPr lang="en-US" altLang="ko-KR" dirty="0"/>
              <a:t>NSGA-3 </a:t>
            </a:r>
            <a:r>
              <a:rPr lang="ko-KR" altLang="en-US" dirty="0"/>
              <a:t>알고리즘을 적용하여 </a:t>
            </a:r>
            <a:r>
              <a:rPr lang="en-US" altLang="ko-KR" dirty="0"/>
              <a:t>3</a:t>
            </a:r>
            <a:r>
              <a:rPr lang="ko-KR" altLang="en-US" dirty="0"/>
              <a:t>개의 상충되는 목적함수를 최적화하는 것으로 세 가지 목적함수는 평균 토크</a:t>
            </a:r>
            <a:r>
              <a:rPr lang="en-US" altLang="ko-KR" dirty="0"/>
              <a:t>(‘</a:t>
            </a:r>
            <a:r>
              <a:rPr lang="en-US" altLang="ko-KR" dirty="0" err="1"/>
              <a:t>average_T</a:t>
            </a:r>
            <a:r>
              <a:rPr lang="en-US" altLang="ko-KR" dirty="0"/>
              <a:t>’), </a:t>
            </a:r>
            <a:r>
              <a:rPr lang="ko-KR" altLang="en-US" dirty="0"/>
              <a:t>토크 리플</a:t>
            </a:r>
            <a:r>
              <a:rPr lang="en-US" altLang="ko-KR" dirty="0"/>
              <a:t>(‘</a:t>
            </a:r>
            <a:r>
              <a:rPr lang="en-US" altLang="ko-KR" dirty="0" err="1"/>
              <a:t>Torque_Ripple</a:t>
            </a:r>
            <a:r>
              <a:rPr lang="en-US" altLang="ko-KR" dirty="0"/>
              <a:t>’), </a:t>
            </a:r>
            <a:r>
              <a:rPr lang="ko-KR" altLang="en-US" dirty="0" err="1"/>
              <a:t>코깅</a:t>
            </a:r>
            <a:r>
              <a:rPr lang="ko-KR" altLang="en-US" dirty="0"/>
              <a:t> 토크</a:t>
            </a:r>
            <a:r>
              <a:rPr lang="en-US" altLang="ko-KR" dirty="0"/>
              <a:t>(‘</a:t>
            </a:r>
            <a:r>
              <a:rPr lang="en-US" altLang="ko-KR" dirty="0" err="1"/>
              <a:t>Cogging_T</a:t>
            </a:r>
            <a:r>
              <a:rPr lang="en-US" altLang="ko-KR" dirty="0"/>
              <a:t>’)</a:t>
            </a:r>
            <a:r>
              <a:rPr lang="ko-KR" altLang="en-US" dirty="0"/>
              <a:t>로</a:t>
            </a:r>
            <a:r>
              <a:rPr lang="en-US" altLang="ko-KR" dirty="0"/>
              <a:t> </a:t>
            </a:r>
            <a:r>
              <a:rPr lang="ko-KR" altLang="en-US" dirty="0"/>
              <a:t>정의 되며</a:t>
            </a:r>
            <a:r>
              <a:rPr lang="en-US" altLang="ko-KR" dirty="0"/>
              <a:t>, </a:t>
            </a:r>
            <a:r>
              <a:rPr lang="ko-KR" altLang="en-US" dirty="0"/>
              <a:t>이들 간의 최적화는 다양한 설계 변수의 조합을 통해 </a:t>
            </a:r>
            <a:r>
              <a:rPr lang="en-US" altLang="ko-KR" dirty="0"/>
              <a:t>Pareto </a:t>
            </a:r>
            <a:r>
              <a:rPr lang="ko-KR" altLang="en-US" dirty="0"/>
              <a:t>최적 해집합을 도출하는데 중점을 둔다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A16322-2D95-4631-BCFB-3E6C9EB6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350DB-AEC6-4A70-8DA2-773581ABAB77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9456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360570-4E72-43FE-8F4A-6D6E29C9B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Basic</a:t>
            </a:r>
            <a:r>
              <a:rPr lang="ko-KR" altLang="en-US" dirty="0"/>
              <a:t> </a:t>
            </a:r>
            <a:r>
              <a:rPr lang="en-US" altLang="ko-KR" dirty="0"/>
              <a:t>concept - setup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7B41C4-BC1A-4278-AE4C-0A7DFDFC5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실험 환경 </a:t>
            </a:r>
            <a:r>
              <a:rPr lang="en-US" altLang="ko-KR" dirty="0"/>
              <a:t>: </a:t>
            </a:r>
            <a:r>
              <a:rPr lang="ko-KR" altLang="en-US" dirty="0"/>
              <a:t>하드웨어</a:t>
            </a:r>
            <a:r>
              <a:rPr lang="en-US" altLang="ko-KR" dirty="0"/>
              <a:t>/</a:t>
            </a:r>
            <a:r>
              <a:rPr lang="ko-KR" altLang="en-US" dirty="0"/>
              <a:t>소프트웨어 구성 </a:t>
            </a:r>
            <a:r>
              <a:rPr lang="en-US" altLang="ko-KR" dirty="0"/>
              <a:t>(</a:t>
            </a:r>
            <a:r>
              <a:rPr lang="ko-KR" altLang="en-US" dirty="0"/>
              <a:t>사용한 시스템</a:t>
            </a:r>
            <a:r>
              <a:rPr lang="en-US" altLang="ko-KR" dirty="0"/>
              <a:t>, </a:t>
            </a:r>
            <a:r>
              <a:rPr lang="ko-KR" altLang="en-US" dirty="0"/>
              <a:t>라이브러리 등</a:t>
            </a:r>
            <a:r>
              <a:rPr lang="en-US" altLang="ko-KR" dirty="0"/>
              <a:t>)</a:t>
            </a:r>
            <a:br>
              <a:rPr lang="en-US" altLang="ko-KR" dirty="0"/>
            </a:br>
            <a:endParaRPr lang="en-US" altLang="ko-KR" dirty="0"/>
          </a:p>
          <a:p>
            <a:pPr lvl="1"/>
            <a:r>
              <a:rPr lang="en-US" altLang="ko-KR" dirty="0" err="1"/>
              <a:t>sklearn</a:t>
            </a:r>
            <a:r>
              <a:rPr lang="en-US" altLang="ko-KR" dirty="0"/>
              <a:t> : </a:t>
            </a:r>
            <a:r>
              <a:rPr lang="ko-KR" altLang="en-US" dirty="0" err="1"/>
              <a:t>파이썬에서</a:t>
            </a:r>
            <a:r>
              <a:rPr lang="ko-KR" altLang="en-US" dirty="0"/>
              <a:t> 사용되는 다양한 </a:t>
            </a:r>
            <a:r>
              <a:rPr lang="ko-KR" altLang="en-US" dirty="0" err="1"/>
              <a:t>머신러닝</a:t>
            </a:r>
            <a:r>
              <a:rPr lang="ko-KR" altLang="en-US" dirty="0"/>
              <a:t> 알고리즘을 제공하는 라이브러리</a:t>
            </a:r>
            <a:endParaRPr lang="en-US" altLang="ko-KR" dirty="0"/>
          </a:p>
          <a:p>
            <a:pPr lvl="2"/>
            <a:r>
              <a:rPr lang="en-US" altLang="ko-KR" dirty="0"/>
              <a:t>SVR: : </a:t>
            </a:r>
            <a:r>
              <a:rPr lang="ko-KR" altLang="en-US" dirty="0"/>
              <a:t>데이터를 회귀 분석하는데 사용되는 비지도 학습 알고리즘</a:t>
            </a:r>
            <a:endParaRPr lang="en-US" altLang="ko-KR" dirty="0"/>
          </a:p>
          <a:p>
            <a:pPr lvl="2"/>
            <a:r>
              <a:rPr lang="en-US" altLang="ko-KR" dirty="0" err="1"/>
              <a:t>RandomizedSearchCV</a:t>
            </a:r>
            <a:r>
              <a:rPr lang="en-US" altLang="ko-KR" dirty="0"/>
              <a:t> : </a:t>
            </a:r>
            <a:r>
              <a:rPr lang="ko-KR" altLang="en-US" dirty="0" err="1"/>
              <a:t>하이퍼파라미터</a:t>
            </a:r>
            <a:r>
              <a:rPr lang="ko-KR" altLang="en-US" dirty="0"/>
              <a:t> 최적화를 위한 랜덤 탐색을 교차 검증과 함께 수행하는 방법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en-US" altLang="ko-KR" dirty="0" err="1"/>
              <a:t>pymoo</a:t>
            </a:r>
            <a:r>
              <a:rPr lang="en-US" altLang="ko-KR" dirty="0"/>
              <a:t> : </a:t>
            </a:r>
            <a:r>
              <a:rPr lang="ko-KR" altLang="en-US" dirty="0"/>
              <a:t>다목적 최적화 문제를 해결하기 위한 파이썬 기반 라이브러리</a:t>
            </a:r>
            <a:endParaRPr lang="en-US" altLang="ko-KR" dirty="0"/>
          </a:p>
          <a:p>
            <a:pPr lvl="2"/>
            <a:r>
              <a:rPr lang="en-US" altLang="ko-KR" dirty="0"/>
              <a:t>NSGA3 : </a:t>
            </a:r>
            <a:r>
              <a:rPr lang="ko-KR" altLang="en-US" dirty="0"/>
              <a:t>다목적 최적화 문제에서 사용되는 </a:t>
            </a:r>
            <a:r>
              <a:rPr lang="ko-KR" altLang="en-US" dirty="0" err="1"/>
              <a:t>비지배</a:t>
            </a:r>
            <a:r>
              <a:rPr lang="ko-KR" altLang="en-US" dirty="0"/>
              <a:t> 정렬 유전 알고리즘</a:t>
            </a:r>
            <a:endParaRPr lang="en-US" altLang="ko-KR" dirty="0"/>
          </a:p>
          <a:p>
            <a:pPr lvl="2"/>
            <a:r>
              <a:rPr lang="en-US" altLang="ko-KR" dirty="0" err="1"/>
              <a:t>ElementwiseProblem</a:t>
            </a:r>
            <a:r>
              <a:rPr lang="en-US" altLang="ko-KR" dirty="0"/>
              <a:t> : </a:t>
            </a:r>
            <a:r>
              <a:rPr lang="ko-KR" altLang="en-US" dirty="0"/>
              <a:t>문제의 각 요소를 개별적으로 평가하는 방식으로 정의된 최적화 문제 클래스</a:t>
            </a:r>
            <a:endParaRPr lang="en-US" altLang="ko-KR" dirty="0"/>
          </a:p>
          <a:p>
            <a:pPr lvl="2"/>
            <a:r>
              <a:rPr lang="en-US" altLang="ko-KR" dirty="0" err="1"/>
              <a:t>DefaultMultiObjectiveTermination</a:t>
            </a:r>
            <a:r>
              <a:rPr lang="en-US" altLang="ko-KR" dirty="0"/>
              <a:t> : </a:t>
            </a:r>
            <a:r>
              <a:rPr lang="ko-KR" altLang="en-US" dirty="0"/>
              <a:t>다목적 최적화 문제에 대한 기본 종료조건 설정</a:t>
            </a:r>
            <a:endParaRPr lang="en-US" altLang="ko-KR" dirty="0"/>
          </a:p>
          <a:p>
            <a:pPr lvl="2"/>
            <a:r>
              <a:rPr lang="en-US" altLang="ko-KR" dirty="0" err="1"/>
              <a:t>FloatRandomSampling</a:t>
            </a:r>
            <a:r>
              <a:rPr lang="en-US" altLang="ko-KR" dirty="0"/>
              <a:t> : </a:t>
            </a:r>
            <a:r>
              <a:rPr lang="ko-KR" altLang="en-US" dirty="0"/>
              <a:t>초기 해 집합을 생성할 때 실수형 변수를 무작위로 샘플링 하는 방법</a:t>
            </a:r>
            <a:endParaRPr lang="en-US" altLang="ko-KR" dirty="0"/>
          </a:p>
          <a:p>
            <a:pPr lvl="2"/>
            <a:r>
              <a:rPr lang="en-US" altLang="ko-KR" dirty="0" err="1"/>
              <a:t>SimulatedBinaryCrossover</a:t>
            </a:r>
            <a:r>
              <a:rPr lang="en-US" altLang="ko-KR" dirty="0"/>
              <a:t>(SBX) : </a:t>
            </a:r>
            <a:r>
              <a:rPr lang="ko-KR" altLang="en-US" dirty="0"/>
              <a:t>유전 알고리즘에서 자주 사용되는 교차 연산자로</a:t>
            </a:r>
            <a:r>
              <a:rPr lang="en-US" altLang="ko-KR" dirty="0"/>
              <a:t>, </a:t>
            </a:r>
            <a:r>
              <a:rPr lang="ko-KR" altLang="en-US" dirty="0"/>
              <a:t>자식 해를 생성할 때 부모 해를 기반으로 </a:t>
            </a:r>
            <a:br>
              <a:rPr lang="en-US" altLang="ko-KR" dirty="0"/>
            </a:br>
            <a:r>
              <a:rPr lang="en-US" altLang="ko-KR" dirty="0"/>
              <a:t>				    </a:t>
            </a:r>
            <a:r>
              <a:rPr lang="ko-KR" altLang="en-US" dirty="0"/>
              <a:t>새로운 해를 생성 </a:t>
            </a:r>
            <a:endParaRPr lang="en-US" altLang="ko-KR" dirty="0"/>
          </a:p>
          <a:p>
            <a:pPr lvl="2"/>
            <a:r>
              <a:rPr lang="en-US" altLang="ko-KR" dirty="0" err="1"/>
              <a:t>PolynomialMutation</a:t>
            </a:r>
            <a:r>
              <a:rPr lang="en-US" altLang="ko-KR" dirty="0"/>
              <a:t> : </a:t>
            </a:r>
            <a:r>
              <a:rPr lang="ko-KR" altLang="en-US" dirty="0"/>
              <a:t>유전 알고리즘에서 특정 확률로 해의 유전자를 변이 시키는 기법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9E6536-046C-42CC-92AB-B298A770D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350DB-AEC6-4A70-8DA2-773581ABAB77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6649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B87411-FA1B-4133-B05C-4C0A87212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9633"/>
            <a:ext cx="9004851" cy="653014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2. Basic concept - Data preprocessing &amp; Hyperparameter tuning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E48E370-A73F-4761-A22A-5D9B0E5E83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0556" y="901526"/>
                <a:ext cx="8587704" cy="5232574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altLang="ko-KR" dirty="0"/>
                  <a:t>Data Preprocessing</a:t>
                </a:r>
              </a:p>
              <a:p>
                <a:pPr lvl="1"/>
                <a:r>
                  <a:rPr lang="en-US" altLang="ko-KR" dirty="0" err="1"/>
                  <a:t>MinMaxScaler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정의 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데이터를 </a:t>
                </a:r>
                <a:r>
                  <a:rPr lang="en-US" altLang="ko-KR" dirty="0"/>
                  <a:t>[0, 1]</a:t>
                </a:r>
                <a:r>
                  <a:rPr lang="ko-KR" altLang="en-US" dirty="0"/>
                  <a:t>사이의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값으로 변환하는 방법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사용 이유 </a:t>
                </a:r>
                <a:r>
                  <a:rPr lang="en-US" altLang="ko-KR" dirty="0"/>
                  <a:t>: SVR</a:t>
                </a:r>
                <a:r>
                  <a:rPr lang="ko-KR" altLang="en-US" dirty="0"/>
                  <a:t>과 같은 모델에서 </a:t>
                </a:r>
                <a:r>
                  <a:rPr lang="ko-KR" altLang="en-US" dirty="0" err="1"/>
                  <a:t>스케일링된</a:t>
                </a:r>
                <a:r>
                  <a:rPr lang="ko-KR" altLang="en-US" dirty="0"/>
                  <a:t> 데이터는 더 좋은 성능을 보임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공식 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𝑜𝑟𝑚𝑎𝑙𝑖𝑧𝑒𝑑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𝑑𝑎𝑡𝑎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𝑑𝑎𝑡𝑎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func>
                          <m:func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fNam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func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)/(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func>
                          <m:func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func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func>
                          <m:func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fNam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func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pPr lvl="2"/>
                <a:r>
                  <a:rPr lang="ko-KR" altLang="en-US" dirty="0"/>
                  <a:t>장점 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모델 훈련 시 속도를 높이고</a:t>
                </a:r>
                <a:r>
                  <a:rPr lang="en-US" altLang="ko-KR" dirty="0"/>
                  <a:t>, </a:t>
                </a:r>
                <a:r>
                  <a:rPr lang="ko-KR" altLang="en-US" dirty="0" err="1"/>
                  <a:t>하이퍼파라미터</a:t>
                </a:r>
                <a:r>
                  <a:rPr lang="ko-KR" altLang="en-US" dirty="0"/>
                  <a:t> 튜닝 효과를 극대화할 수 있음</a:t>
                </a:r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Model </a:t>
                </a:r>
                <a:r>
                  <a:rPr lang="en-US" altLang="ko-KR" dirty="0" err="1"/>
                  <a:t>HyperParameter</a:t>
                </a:r>
                <a:r>
                  <a:rPr lang="en-US" altLang="ko-KR" dirty="0"/>
                  <a:t> Tuning</a:t>
                </a:r>
              </a:p>
              <a:p>
                <a:pPr lvl="1"/>
                <a:r>
                  <a:rPr lang="en-US" altLang="ko-KR" dirty="0" err="1"/>
                  <a:t>RandomizedSearchCV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주어진 </a:t>
                </a:r>
                <a:r>
                  <a:rPr lang="ko-KR" altLang="en-US" dirty="0" err="1"/>
                  <a:t>하이퍼</a:t>
                </a:r>
                <a:r>
                  <a:rPr lang="ko-KR" altLang="en-US" dirty="0"/>
                  <a:t> 파라미터 공간에서 무작위로 조합을 선택하여 최적의 모델을 탐색함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장점 </a:t>
                </a:r>
                <a:r>
                  <a:rPr lang="en-US" altLang="ko-KR" dirty="0"/>
                  <a:t>: </a:t>
                </a:r>
                <a:r>
                  <a:rPr lang="en-US" altLang="ko-KR" dirty="0" err="1"/>
                  <a:t>GridSearchCV</a:t>
                </a:r>
                <a:r>
                  <a:rPr lang="ko-KR" altLang="en-US" dirty="0"/>
                  <a:t>보다 더 빠르고 효율적임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더 많은 </a:t>
                </a:r>
                <a:r>
                  <a:rPr lang="ko-KR" altLang="en-US" dirty="0" err="1"/>
                  <a:t>하이퍼파라미터</a:t>
                </a:r>
                <a:r>
                  <a:rPr lang="ko-KR" altLang="en-US" dirty="0"/>
                  <a:t> 조합을 시도할 수 있어 탐색 범위가 넓어짐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과정</a:t>
                </a:r>
                <a:r>
                  <a:rPr lang="en-US" altLang="ko-KR" dirty="0"/>
                  <a:t> : </a:t>
                </a:r>
                <a:r>
                  <a:rPr lang="ko-KR" altLang="en-US" dirty="0"/>
                  <a:t>임의로 설정된 </a:t>
                </a:r>
                <a:r>
                  <a:rPr lang="ko-KR" altLang="en-US" dirty="0" err="1"/>
                  <a:t>하이퍼파라미터</a:t>
                </a:r>
                <a:r>
                  <a:rPr lang="ko-KR" altLang="en-US" dirty="0"/>
                  <a:t> 조합을 사용하여 여러 번 모델을 학습하고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교차 검증을 통해 성능을 평가함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결과 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성능이 가장 좋은 </a:t>
                </a:r>
                <a:r>
                  <a:rPr lang="ko-KR" altLang="en-US" dirty="0" err="1"/>
                  <a:t>하이퍼파라미터</a:t>
                </a:r>
                <a:r>
                  <a:rPr lang="ko-KR" altLang="en-US" dirty="0"/>
                  <a:t> 조합을 반환함</a:t>
                </a:r>
                <a:r>
                  <a:rPr lang="en-US" altLang="ko-KR" dirty="0"/>
                  <a:t>.</a:t>
                </a:r>
              </a:p>
              <a:p>
                <a:pPr lvl="2"/>
                <a:endParaRPr lang="en-US" altLang="ko-KR" dirty="0"/>
              </a:p>
              <a:p>
                <a:pPr lvl="1"/>
                <a:r>
                  <a:rPr lang="en-US" altLang="ko-KR" dirty="0"/>
                  <a:t>SVR</a:t>
                </a:r>
                <a:r>
                  <a:rPr lang="ko-KR" altLang="en-US" dirty="0"/>
                  <a:t>의 주요 </a:t>
                </a:r>
                <a:r>
                  <a:rPr lang="ko-KR" altLang="en-US" dirty="0" err="1"/>
                  <a:t>하이퍼파라미터</a:t>
                </a:r>
                <a:endParaRPr lang="en-US" altLang="ko-KR" dirty="0"/>
              </a:p>
              <a:p>
                <a:pPr lvl="2"/>
                <a:r>
                  <a:rPr lang="en-US" altLang="ko-KR" dirty="0"/>
                  <a:t>C </a:t>
                </a:r>
              </a:p>
              <a:p>
                <a:pPr lvl="3"/>
                <a:r>
                  <a:rPr lang="ko-KR" altLang="en-US" dirty="0"/>
                  <a:t>정규화 파라미터로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큰 값일수록 모델이 훈련 데이터에 더 맞추려고 함</a:t>
                </a:r>
                <a:endParaRPr lang="en-US" altLang="ko-KR" dirty="0"/>
              </a:p>
              <a:p>
                <a:pPr lvl="3"/>
                <a:r>
                  <a:rPr lang="ko-KR" altLang="en-US" dirty="0"/>
                  <a:t>작은 값은 모델을 더 일반화하는 방향으로 유도함</a:t>
                </a:r>
                <a:endParaRPr lang="en-US" altLang="ko-KR" dirty="0"/>
              </a:p>
              <a:p>
                <a:pPr lvl="2"/>
                <a:r>
                  <a:rPr lang="en-US" altLang="ko-KR" dirty="0"/>
                  <a:t>epsilon(</a:t>
                </a:r>
                <a:r>
                  <a:rPr lang="el-GR" altLang="ko-KR" dirty="0"/>
                  <a:t>ε</a:t>
                </a:r>
                <a:r>
                  <a:rPr lang="en-US" altLang="ko-KR" dirty="0"/>
                  <a:t>)</a:t>
                </a:r>
              </a:p>
              <a:p>
                <a:pPr lvl="3"/>
                <a:r>
                  <a:rPr lang="ko-KR" altLang="en-US" dirty="0"/>
                  <a:t>오차 허용 범위로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모델이 무시할 수 있는 오차의 크기를 결정함</a:t>
                </a:r>
                <a:endParaRPr lang="en-US" altLang="ko-KR" dirty="0"/>
              </a:p>
              <a:p>
                <a:pPr lvl="2"/>
                <a:r>
                  <a:rPr lang="en-US" altLang="ko-KR" dirty="0"/>
                  <a:t>kernel </a:t>
                </a:r>
              </a:p>
              <a:p>
                <a:pPr lvl="3"/>
                <a:r>
                  <a:rPr lang="ko-KR" altLang="en-US" dirty="0"/>
                  <a:t>커널 함수로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데이터의 비선형적 특성을 처리하는 역할을 함</a:t>
                </a:r>
                <a:r>
                  <a:rPr lang="en-US" altLang="ko-KR" dirty="0"/>
                  <a:t>. </a:t>
                </a:r>
              </a:p>
              <a:p>
                <a:pPr lvl="2"/>
                <a:r>
                  <a:rPr lang="en-US" altLang="ko-KR" dirty="0"/>
                  <a:t>gamma</a:t>
                </a:r>
              </a:p>
              <a:p>
                <a:pPr lvl="3"/>
                <a:r>
                  <a:rPr lang="en-US" altLang="ko-KR" dirty="0"/>
                  <a:t>‘</a:t>
                </a:r>
                <a:r>
                  <a:rPr lang="en-US" altLang="ko-KR" dirty="0" err="1"/>
                  <a:t>rbf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‘,  ‘poly’, ‘sigmoid’ </a:t>
                </a:r>
                <a:r>
                  <a:rPr lang="ko-KR" altLang="en-US" dirty="0"/>
                  <a:t>커널에서 사용하는 파라미터로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데이터 샘플 간의 영향 범위를 결정함</a:t>
                </a:r>
                <a:endParaRPr lang="en-US" altLang="ko-KR" dirty="0"/>
              </a:p>
              <a:p>
                <a:pPr lvl="3"/>
                <a:r>
                  <a:rPr lang="ko-KR" altLang="en-US" dirty="0"/>
                  <a:t>값이 클수록 모델이 복잡해지고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값이 작을수록 일반화 경향이 커짐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E48E370-A73F-4761-A22A-5D9B0E5E83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0556" y="901526"/>
                <a:ext cx="8587704" cy="523257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55FBDB-88E5-46E2-93F2-9BE9BAA10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350DB-AEC6-4A70-8DA2-773581ABAB77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8972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7BD8A6-3A52-470D-A1C8-5B75FBD93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Basic concept – Feature Importance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F56659-BFD1-4EC5-8A4A-02673D053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037" y="682647"/>
            <a:ext cx="8229600" cy="5054947"/>
          </a:xfrm>
        </p:spPr>
        <p:txBody>
          <a:bodyPr/>
          <a:lstStyle/>
          <a:p>
            <a:pPr marL="0" indent="0">
              <a:buNone/>
            </a:pPr>
            <a:endParaRPr lang="en-US" altLang="ko-KR" dirty="0"/>
          </a:p>
          <a:p>
            <a:pPr lvl="1"/>
            <a:r>
              <a:rPr lang="en-US" altLang="ko-KR" dirty="0" err="1"/>
              <a:t>Permutation_importance</a:t>
            </a:r>
            <a:endParaRPr lang="en-US" altLang="ko-KR" dirty="0"/>
          </a:p>
          <a:p>
            <a:pPr lvl="2"/>
            <a:r>
              <a:rPr lang="ko-KR" altLang="en-US" dirty="0"/>
              <a:t>정의 </a:t>
            </a:r>
            <a:r>
              <a:rPr lang="en-US" altLang="ko-KR" dirty="0"/>
              <a:t>: </a:t>
            </a:r>
            <a:r>
              <a:rPr lang="ko-KR" altLang="en-US" dirty="0"/>
              <a:t>모델 훈련 후 변수의 중요도를 평가하는 방법</a:t>
            </a:r>
            <a:endParaRPr lang="en-US" altLang="ko-KR" dirty="0"/>
          </a:p>
          <a:p>
            <a:pPr lvl="2"/>
            <a:r>
              <a:rPr lang="ko-KR" altLang="en-US" dirty="0"/>
              <a:t>방법</a:t>
            </a:r>
            <a:r>
              <a:rPr lang="en-US" altLang="ko-KR" dirty="0"/>
              <a:t> : </a:t>
            </a:r>
            <a:r>
              <a:rPr lang="ko-KR" altLang="en-US" dirty="0"/>
              <a:t>각 변수의 값을 무작위로 섞고</a:t>
            </a:r>
            <a:r>
              <a:rPr lang="en-US" altLang="ko-KR" dirty="0"/>
              <a:t>, </a:t>
            </a:r>
            <a:r>
              <a:rPr lang="ko-KR" altLang="en-US" dirty="0"/>
              <a:t>모델 성능에 미치는 영향을 측정</a:t>
            </a:r>
            <a:endParaRPr lang="en-US" altLang="ko-KR" dirty="0"/>
          </a:p>
          <a:p>
            <a:pPr lvl="2"/>
            <a:r>
              <a:rPr lang="ko-KR" altLang="en-US" dirty="0"/>
              <a:t>목적 </a:t>
            </a:r>
            <a:r>
              <a:rPr lang="en-US" altLang="ko-KR" dirty="0"/>
              <a:t>: </a:t>
            </a:r>
            <a:r>
              <a:rPr lang="ko-KR" altLang="en-US" dirty="0"/>
              <a:t>모델에서 어떤 변수가 가장 중요한지 파악</a:t>
            </a:r>
            <a:endParaRPr lang="en-US" altLang="ko-KR" dirty="0"/>
          </a:p>
          <a:p>
            <a:pPr lvl="2"/>
            <a:r>
              <a:rPr lang="ko-KR" altLang="en-US" dirty="0"/>
              <a:t>장점 </a:t>
            </a:r>
            <a:r>
              <a:rPr lang="en-US" altLang="ko-KR" dirty="0"/>
              <a:t>: </a:t>
            </a:r>
            <a:r>
              <a:rPr lang="ko-KR" altLang="en-US" dirty="0"/>
              <a:t>모델에 독립적인 방법으로</a:t>
            </a:r>
            <a:r>
              <a:rPr lang="en-US" altLang="ko-KR" dirty="0"/>
              <a:t>, </a:t>
            </a:r>
            <a:r>
              <a:rPr lang="ko-KR" altLang="en-US" dirty="0"/>
              <a:t>모델의 해석 가능성을 높임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D7E946-9DD1-42BE-9724-EDECFC7FE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350DB-AEC6-4A70-8DA2-773581ABAB77}" type="slidenum">
              <a:rPr lang="ko-KR" altLang="en-US" smtClean="0"/>
              <a:pPr/>
              <a:t>5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2878808-9C39-44C8-AD22-2808559A294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96" t="7426" r="8799" b="3524"/>
          <a:stretch/>
        </p:blipFill>
        <p:spPr>
          <a:xfrm>
            <a:off x="1514982" y="2505351"/>
            <a:ext cx="5941069" cy="3743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356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99D60C-53F0-439C-BCDF-2988A113F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Basic concept – NSGA-3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297176-B754-4673-AD1C-AA593A6BA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71219"/>
            <a:ext cx="8229600" cy="5389216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/>
              <a:t>NSGA-3 </a:t>
            </a:r>
            <a:r>
              <a:rPr lang="ko-KR" altLang="en-US" dirty="0"/>
              <a:t>알고리즘 개요</a:t>
            </a:r>
            <a:endParaRPr lang="en-US" altLang="ko-KR" dirty="0"/>
          </a:p>
          <a:p>
            <a:pPr lvl="1"/>
            <a:r>
              <a:rPr lang="en-US" altLang="ko-KR" dirty="0"/>
              <a:t>NSGA-3 : </a:t>
            </a:r>
            <a:r>
              <a:rPr lang="ko-KR" altLang="en-US" dirty="0"/>
              <a:t>다목적 최적화 알고리즘으로</a:t>
            </a:r>
            <a:r>
              <a:rPr lang="en-US" altLang="ko-KR" dirty="0"/>
              <a:t>, 3</a:t>
            </a:r>
            <a:r>
              <a:rPr lang="ko-KR" altLang="en-US" dirty="0"/>
              <a:t>개 이상의 목적함수를 최적화할 때 효과적으로 사용됨</a:t>
            </a:r>
            <a:endParaRPr lang="en-US" altLang="ko-KR" dirty="0"/>
          </a:p>
          <a:p>
            <a:pPr lvl="1"/>
            <a:r>
              <a:rPr lang="en-US" altLang="ko-KR" dirty="0"/>
              <a:t>Pareto </a:t>
            </a:r>
            <a:r>
              <a:rPr lang="ko-KR" altLang="en-US" dirty="0"/>
              <a:t>최적해 </a:t>
            </a:r>
            <a:r>
              <a:rPr lang="en-US" altLang="ko-KR" dirty="0"/>
              <a:t>: </a:t>
            </a:r>
            <a:r>
              <a:rPr lang="ko-KR" altLang="en-US" dirty="0"/>
              <a:t>서로 상충하는 다수의 목표를 최적화하며</a:t>
            </a:r>
            <a:r>
              <a:rPr lang="en-US" altLang="ko-KR" dirty="0"/>
              <a:t>, NSGA-3</a:t>
            </a:r>
            <a:r>
              <a:rPr lang="ko-KR" altLang="en-US" dirty="0"/>
              <a:t>는 </a:t>
            </a:r>
            <a:r>
              <a:rPr lang="en-US" altLang="ko-KR" dirty="0"/>
              <a:t>Pareto Front</a:t>
            </a:r>
            <a:r>
              <a:rPr lang="ko-KR" altLang="en-US" dirty="0"/>
              <a:t>에서 비 지배 해를 탐색함</a:t>
            </a:r>
            <a:endParaRPr lang="en-US" altLang="ko-KR" dirty="0"/>
          </a:p>
          <a:p>
            <a:r>
              <a:rPr lang="ko-KR" altLang="en-US" dirty="0"/>
              <a:t>주요 구성요소</a:t>
            </a:r>
            <a:endParaRPr lang="en-US" altLang="ko-KR" dirty="0"/>
          </a:p>
          <a:p>
            <a:pPr lvl="1"/>
            <a:r>
              <a:rPr lang="en-US" altLang="ko-KR" dirty="0"/>
              <a:t>__</a:t>
            </a:r>
            <a:r>
              <a:rPr lang="en-US" altLang="ko-KR" dirty="0" err="1"/>
              <a:t>init</a:t>
            </a:r>
            <a:r>
              <a:rPr lang="en-US" altLang="ko-KR" dirty="0"/>
              <a:t>__ </a:t>
            </a:r>
            <a:r>
              <a:rPr lang="ko-KR" altLang="en-US" dirty="0"/>
              <a:t>함수</a:t>
            </a:r>
            <a:endParaRPr lang="en-US" altLang="ko-KR" dirty="0"/>
          </a:p>
          <a:p>
            <a:pPr lvl="2"/>
            <a:r>
              <a:rPr lang="en-US" altLang="ko-KR" dirty="0" err="1"/>
              <a:t>n_var</a:t>
            </a:r>
            <a:r>
              <a:rPr lang="en-US" altLang="ko-KR" dirty="0"/>
              <a:t> :  </a:t>
            </a:r>
            <a:r>
              <a:rPr lang="ko-KR" altLang="en-US" dirty="0"/>
              <a:t>변수 개수 설정</a:t>
            </a:r>
            <a:endParaRPr lang="en-US" altLang="ko-KR" dirty="0"/>
          </a:p>
          <a:p>
            <a:pPr lvl="2"/>
            <a:r>
              <a:rPr lang="en-US" altLang="ko-KR" dirty="0" err="1"/>
              <a:t>n_obj</a:t>
            </a:r>
            <a:r>
              <a:rPr lang="en-US" altLang="ko-KR" dirty="0"/>
              <a:t>  : </a:t>
            </a:r>
            <a:r>
              <a:rPr lang="ko-KR" altLang="en-US" dirty="0"/>
              <a:t>목적 함수 개수 설정</a:t>
            </a:r>
            <a:endParaRPr lang="en-US" altLang="ko-KR" dirty="0"/>
          </a:p>
          <a:p>
            <a:pPr lvl="2"/>
            <a:r>
              <a:rPr lang="en-US" altLang="ko-KR" dirty="0" err="1"/>
              <a:t>n_constr</a:t>
            </a:r>
            <a:r>
              <a:rPr lang="en-US" altLang="ko-KR" dirty="0"/>
              <a:t> :  </a:t>
            </a:r>
            <a:r>
              <a:rPr lang="ko-KR" altLang="en-US" dirty="0"/>
              <a:t>제약 조건 개수 설정 </a:t>
            </a:r>
            <a:endParaRPr lang="en-US" altLang="ko-KR" dirty="0"/>
          </a:p>
          <a:p>
            <a:pPr lvl="2"/>
            <a:r>
              <a:rPr lang="en-US" altLang="ko-KR" dirty="0" err="1"/>
              <a:t>x,l</a:t>
            </a:r>
            <a:r>
              <a:rPr lang="ko-KR" altLang="en-US" dirty="0"/>
              <a:t> </a:t>
            </a:r>
            <a:r>
              <a:rPr lang="en-US" altLang="ko-KR" dirty="0"/>
              <a:t>xu : lower</a:t>
            </a:r>
            <a:r>
              <a:rPr lang="ko-KR" altLang="en-US" dirty="0"/>
              <a:t> </a:t>
            </a:r>
            <a:r>
              <a:rPr lang="en-US" altLang="ko-KR" dirty="0"/>
              <a:t>bound,</a:t>
            </a:r>
            <a:r>
              <a:rPr lang="ko-KR" altLang="en-US" dirty="0"/>
              <a:t> </a:t>
            </a:r>
            <a:r>
              <a:rPr lang="en-US" altLang="ko-KR" dirty="0"/>
              <a:t>upper bound </a:t>
            </a:r>
            <a:r>
              <a:rPr lang="ko-KR" altLang="en-US" dirty="0"/>
              <a:t>설정</a:t>
            </a:r>
            <a:endParaRPr lang="en-US" altLang="ko-KR" dirty="0"/>
          </a:p>
          <a:p>
            <a:pPr lvl="1"/>
            <a:r>
              <a:rPr lang="en-US" altLang="ko-KR" dirty="0"/>
              <a:t>_</a:t>
            </a:r>
            <a:r>
              <a:rPr lang="en-US" altLang="ko-KR" dirty="0" err="1"/>
              <a:t>evalute</a:t>
            </a:r>
            <a:r>
              <a:rPr lang="en-US" altLang="ko-KR" dirty="0"/>
              <a:t> </a:t>
            </a:r>
            <a:r>
              <a:rPr lang="ko-KR" altLang="en-US" dirty="0"/>
              <a:t>함수</a:t>
            </a:r>
            <a:endParaRPr lang="en-US" altLang="ko-KR" dirty="0"/>
          </a:p>
          <a:p>
            <a:pPr lvl="2"/>
            <a:r>
              <a:rPr lang="en-US" altLang="ko-KR" dirty="0"/>
              <a:t>_evaluate : NSGA-3</a:t>
            </a:r>
            <a:r>
              <a:rPr lang="ko-KR" altLang="en-US" dirty="0"/>
              <a:t>의 목적함수와 제약조건을 계산하는 함수</a:t>
            </a:r>
            <a:endParaRPr lang="en-US" altLang="ko-KR" dirty="0"/>
          </a:p>
          <a:p>
            <a:pPr lvl="2"/>
            <a:r>
              <a:rPr lang="ko-KR" altLang="en-US" dirty="0"/>
              <a:t>역할 </a:t>
            </a:r>
            <a:r>
              <a:rPr lang="en-US" altLang="ko-KR" dirty="0"/>
              <a:t>:  </a:t>
            </a:r>
            <a:r>
              <a:rPr lang="ko-KR" altLang="en-US" dirty="0"/>
              <a:t>개체의 설계 변수</a:t>
            </a:r>
            <a:r>
              <a:rPr lang="en-US" altLang="ko-KR" dirty="0"/>
              <a:t>(</a:t>
            </a:r>
            <a:r>
              <a:rPr lang="ko-KR" altLang="en-US" dirty="0"/>
              <a:t>해</a:t>
            </a:r>
            <a:r>
              <a:rPr lang="en-US" altLang="ko-KR" dirty="0"/>
              <a:t>)</a:t>
            </a:r>
            <a:r>
              <a:rPr lang="ko-KR" altLang="en-US" dirty="0"/>
              <a:t>에 대해 목적함수 및 제약조건을 평가하여 </a:t>
            </a:r>
            <a:r>
              <a:rPr lang="en-US" altLang="ko-KR" dirty="0"/>
              <a:t>out[‘F’]</a:t>
            </a:r>
            <a:r>
              <a:rPr lang="ko-KR" altLang="en-US" dirty="0"/>
              <a:t>와 </a:t>
            </a:r>
            <a:r>
              <a:rPr lang="en-US" altLang="ko-KR" dirty="0"/>
              <a:t>out[‘G’]</a:t>
            </a:r>
            <a:r>
              <a:rPr lang="ko-KR" altLang="en-US" dirty="0"/>
              <a:t>에 저장함</a:t>
            </a:r>
            <a:endParaRPr lang="en-US" altLang="ko-KR" dirty="0"/>
          </a:p>
          <a:p>
            <a:pPr lvl="2"/>
            <a:r>
              <a:rPr lang="ko-KR" altLang="en-US" dirty="0"/>
              <a:t>사용 </a:t>
            </a:r>
            <a:r>
              <a:rPr lang="en-US" altLang="ko-KR" dirty="0"/>
              <a:t>: </a:t>
            </a:r>
            <a:r>
              <a:rPr lang="ko-KR" altLang="en-US" dirty="0"/>
              <a:t>이 함수는 개체마다 호출되며</a:t>
            </a:r>
            <a:r>
              <a:rPr lang="en-US" altLang="ko-KR" dirty="0"/>
              <a:t>, </a:t>
            </a:r>
            <a:r>
              <a:rPr lang="ko-KR" altLang="en-US" dirty="0"/>
              <a:t>다목적 최적화 문제에서 중요한 역할을 함</a:t>
            </a:r>
            <a:endParaRPr lang="en-US" altLang="ko-KR" dirty="0"/>
          </a:p>
          <a:p>
            <a:pPr lvl="1"/>
            <a:r>
              <a:rPr lang="en-US" altLang="ko-KR" dirty="0"/>
              <a:t>Optimize</a:t>
            </a:r>
            <a:r>
              <a:rPr lang="ko-KR" altLang="en-US" dirty="0"/>
              <a:t> 함수 </a:t>
            </a:r>
            <a:endParaRPr lang="en-US" altLang="ko-KR" dirty="0"/>
          </a:p>
          <a:p>
            <a:pPr lvl="2"/>
            <a:r>
              <a:rPr lang="en-US" altLang="ko-KR" dirty="0"/>
              <a:t>Optimize : NSGA-3 </a:t>
            </a:r>
            <a:r>
              <a:rPr lang="ko-KR" altLang="en-US" dirty="0"/>
              <a:t>알고리즘이 실행되는 최적화 루프를 관리하는 함수</a:t>
            </a:r>
            <a:endParaRPr lang="en-US" altLang="ko-KR" dirty="0"/>
          </a:p>
          <a:p>
            <a:pPr lvl="2"/>
            <a:r>
              <a:rPr lang="ko-KR" altLang="en-US" dirty="0"/>
              <a:t>역할 </a:t>
            </a:r>
            <a:r>
              <a:rPr lang="en-US" altLang="ko-KR" dirty="0"/>
              <a:t>: </a:t>
            </a:r>
            <a:r>
              <a:rPr lang="ko-KR" altLang="en-US" dirty="0"/>
              <a:t>주어진 문제를 최적화하고</a:t>
            </a:r>
            <a:r>
              <a:rPr lang="en-US" altLang="ko-KR" dirty="0"/>
              <a:t>, </a:t>
            </a:r>
            <a:r>
              <a:rPr lang="ko-KR" altLang="en-US" dirty="0"/>
              <a:t>알고리즘이 각 세대마다 진화하면서 해를 개선해 나가는 과정을 담당</a:t>
            </a:r>
            <a:endParaRPr lang="en-US" altLang="ko-KR" dirty="0"/>
          </a:p>
          <a:p>
            <a:pPr lvl="2"/>
            <a:r>
              <a:rPr lang="ko-KR" altLang="en-US" dirty="0"/>
              <a:t>사용 방법 </a:t>
            </a:r>
            <a:r>
              <a:rPr lang="en-US" altLang="ko-KR" dirty="0"/>
              <a:t>: </a:t>
            </a:r>
            <a:r>
              <a:rPr lang="ko-KR" altLang="en-US" dirty="0"/>
              <a:t>목적함수와 제약조건을 반복적으로 평가하며</a:t>
            </a:r>
            <a:r>
              <a:rPr lang="en-US" altLang="ko-KR" dirty="0"/>
              <a:t>, </a:t>
            </a:r>
            <a:r>
              <a:rPr lang="ko-KR" altLang="en-US" dirty="0"/>
              <a:t>해집합을 갱신하고 최적해를 찾음</a:t>
            </a:r>
            <a:endParaRPr lang="en-US" altLang="ko-KR" dirty="0"/>
          </a:p>
          <a:p>
            <a:pPr lvl="1"/>
            <a:r>
              <a:rPr lang="en-US" altLang="ko-KR" dirty="0" err="1"/>
              <a:t>FloatRandomSampling</a:t>
            </a:r>
            <a:r>
              <a:rPr lang="en-US" altLang="ko-KR" dirty="0"/>
              <a:t> : </a:t>
            </a:r>
            <a:r>
              <a:rPr lang="ko-KR" altLang="en-US" dirty="0"/>
              <a:t>초기 해 생성</a:t>
            </a:r>
            <a:endParaRPr lang="en-US" altLang="ko-KR" dirty="0"/>
          </a:p>
          <a:p>
            <a:pPr lvl="2"/>
            <a:r>
              <a:rPr lang="en-US" altLang="ko-KR" dirty="0" err="1"/>
              <a:t>FloatRandomSampling</a:t>
            </a:r>
            <a:r>
              <a:rPr lang="en-US" altLang="ko-KR" dirty="0"/>
              <a:t> : NSGA-3</a:t>
            </a:r>
            <a:r>
              <a:rPr lang="ko-KR" altLang="en-US" dirty="0"/>
              <a:t>에서 초기 해 집합을 생성하는 방법</a:t>
            </a:r>
            <a:endParaRPr lang="en-US" altLang="ko-KR" dirty="0"/>
          </a:p>
          <a:p>
            <a:pPr lvl="2"/>
            <a:r>
              <a:rPr lang="ko-KR" altLang="en-US" dirty="0"/>
              <a:t>역할 </a:t>
            </a:r>
            <a:r>
              <a:rPr lang="en-US" altLang="ko-KR" dirty="0"/>
              <a:t>: </a:t>
            </a:r>
            <a:r>
              <a:rPr lang="ko-KR" altLang="en-US" dirty="0"/>
              <a:t>연속형 변수</a:t>
            </a:r>
            <a:r>
              <a:rPr lang="en-US" altLang="ko-KR" dirty="0"/>
              <a:t>(</a:t>
            </a:r>
            <a:r>
              <a:rPr lang="ko-KR" altLang="en-US" dirty="0"/>
              <a:t>실수형 변수</a:t>
            </a:r>
            <a:r>
              <a:rPr lang="en-US" altLang="ko-KR" dirty="0"/>
              <a:t>) </a:t>
            </a:r>
            <a:r>
              <a:rPr lang="ko-KR" altLang="en-US" dirty="0"/>
              <a:t>공간에서 무작위로 초기 해를 </a:t>
            </a:r>
            <a:r>
              <a:rPr lang="ko-KR" altLang="en-US" dirty="0" err="1"/>
              <a:t>샘플링하여</a:t>
            </a:r>
            <a:r>
              <a:rPr lang="ko-KR" altLang="en-US" dirty="0"/>
              <a:t> 최적화 탐색을 시작</a:t>
            </a:r>
            <a:endParaRPr lang="en-US" altLang="ko-KR" dirty="0"/>
          </a:p>
          <a:p>
            <a:pPr lvl="2"/>
            <a:r>
              <a:rPr lang="ko-KR" altLang="en-US" dirty="0"/>
              <a:t>장점 </a:t>
            </a:r>
            <a:r>
              <a:rPr lang="en-US" altLang="ko-KR" dirty="0"/>
              <a:t>: </a:t>
            </a:r>
            <a:r>
              <a:rPr lang="ko-KR" altLang="en-US" dirty="0"/>
              <a:t>탐색 공간을 넓게 커버하며</a:t>
            </a:r>
            <a:r>
              <a:rPr lang="en-US" altLang="ko-KR" dirty="0"/>
              <a:t>, </a:t>
            </a:r>
            <a:r>
              <a:rPr lang="ko-KR" altLang="en-US" dirty="0"/>
              <a:t>다양한 해집합으로부터 최적해를 탐색할 수 있도록 도움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E924C8-1814-453B-93EF-AE78D4199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350DB-AEC6-4A70-8DA2-773581ABAB77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9485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C27AB8-048C-43FD-A597-89D65B8A1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Basic concept – NSGA-3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6E2744-A7EB-4B00-8113-77D7726CA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ko-KR" dirty="0" err="1"/>
              <a:t>SimulatedBinaryCrossover</a:t>
            </a:r>
            <a:r>
              <a:rPr lang="en-US" altLang="ko-KR" dirty="0"/>
              <a:t>(SBX)</a:t>
            </a:r>
          </a:p>
          <a:p>
            <a:pPr lvl="2"/>
            <a:r>
              <a:rPr lang="en-US" altLang="ko-KR" dirty="0" err="1"/>
              <a:t>SimulatedBinaryCrossover</a:t>
            </a:r>
            <a:r>
              <a:rPr lang="en-US" altLang="ko-KR" dirty="0"/>
              <a:t> : NSGA-3</a:t>
            </a:r>
            <a:r>
              <a:rPr lang="ko-KR" altLang="en-US" dirty="0"/>
              <a:t>에서 사용되는 교차 연산자로</a:t>
            </a:r>
            <a:r>
              <a:rPr lang="en-US" altLang="ko-KR" dirty="0"/>
              <a:t>, </a:t>
            </a:r>
            <a:r>
              <a:rPr lang="ko-KR" altLang="en-US" dirty="0"/>
              <a:t>부모 해로부터 자식 해를 생성하는 방법</a:t>
            </a:r>
            <a:endParaRPr lang="en-US" altLang="ko-KR" dirty="0"/>
          </a:p>
          <a:p>
            <a:pPr lvl="2"/>
            <a:r>
              <a:rPr lang="ko-KR" altLang="en-US" dirty="0"/>
              <a:t>역할 </a:t>
            </a:r>
            <a:r>
              <a:rPr lang="en-US" altLang="ko-KR" dirty="0"/>
              <a:t>: </a:t>
            </a:r>
            <a:r>
              <a:rPr lang="ko-KR" altLang="en-US" dirty="0"/>
              <a:t>부모 해들의 유전자 정보를 새로운 자식 해를 생성함으로써 탐색 공간을 확장</a:t>
            </a:r>
            <a:endParaRPr lang="en-US" altLang="ko-KR" dirty="0"/>
          </a:p>
          <a:p>
            <a:pPr lvl="2"/>
            <a:r>
              <a:rPr lang="ko-KR" altLang="en-US" dirty="0"/>
              <a:t>파라미터 </a:t>
            </a:r>
            <a:r>
              <a:rPr lang="en-US" altLang="ko-KR" dirty="0"/>
              <a:t>: ‘eta’ </a:t>
            </a:r>
            <a:r>
              <a:rPr lang="ko-KR" altLang="en-US" dirty="0"/>
              <a:t>파라미터는 교차의 범위를 조정하여</a:t>
            </a:r>
            <a:r>
              <a:rPr lang="en-US" altLang="ko-KR" dirty="0"/>
              <a:t>, </a:t>
            </a:r>
            <a:r>
              <a:rPr lang="ko-KR" altLang="en-US" dirty="0"/>
              <a:t>자식 해가 부모 해와 얼마나 가까운지 또는 먼지를 결정</a:t>
            </a:r>
            <a:endParaRPr lang="en-US" altLang="ko-KR" dirty="0"/>
          </a:p>
          <a:p>
            <a:pPr lvl="2"/>
            <a:r>
              <a:rPr lang="ko-KR" altLang="en-US" dirty="0"/>
              <a:t>장점 </a:t>
            </a:r>
            <a:r>
              <a:rPr lang="en-US" altLang="ko-KR" dirty="0"/>
              <a:t>: </a:t>
            </a:r>
            <a:r>
              <a:rPr lang="ko-KR" altLang="en-US" dirty="0"/>
              <a:t>다양한 해집합을 만들고 더 좋은 해를 탐색할 수 있는 기회를 제공</a:t>
            </a:r>
            <a:endParaRPr lang="en-US" altLang="ko-KR" dirty="0"/>
          </a:p>
          <a:p>
            <a:pPr lvl="1"/>
            <a:r>
              <a:rPr lang="en-US" altLang="ko-KR" dirty="0"/>
              <a:t>Reference Directions </a:t>
            </a:r>
            <a:r>
              <a:rPr lang="ko-KR" altLang="en-US" dirty="0"/>
              <a:t>생성</a:t>
            </a:r>
            <a:endParaRPr lang="en-US" altLang="ko-KR" dirty="0"/>
          </a:p>
          <a:p>
            <a:pPr lvl="2"/>
            <a:r>
              <a:rPr lang="en-US" altLang="ko-KR" dirty="0"/>
              <a:t>Reference Directions : </a:t>
            </a:r>
          </a:p>
          <a:p>
            <a:pPr lvl="3"/>
            <a:r>
              <a:rPr lang="ko-KR" altLang="en-US" dirty="0"/>
              <a:t>다목적 최적화 문제에서 </a:t>
            </a:r>
            <a:r>
              <a:rPr lang="en-US" altLang="ko-KR" dirty="0"/>
              <a:t>Pareto Front </a:t>
            </a:r>
            <a:r>
              <a:rPr lang="ko-KR" altLang="en-US" dirty="0"/>
              <a:t>상의 다양한 해를 균일하게 분산시키기 위해 사용되는 방향 벡터</a:t>
            </a:r>
            <a:endParaRPr lang="en-US" altLang="ko-KR" dirty="0"/>
          </a:p>
          <a:p>
            <a:pPr lvl="3"/>
            <a:r>
              <a:rPr lang="en-US" altLang="ko-KR" dirty="0"/>
              <a:t>NSGA-3</a:t>
            </a:r>
            <a:r>
              <a:rPr lang="ko-KR" altLang="en-US" dirty="0"/>
              <a:t>는 다수의 목적함수를 최적화 할 때</a:t>
            </a:r>
            <a:r>
              <a:rPr lang="en-US" altLang="ko-KR" dirty="0"/>
              <a:t>, </a:t>
            </a:r>
            <a:r>
              <a:rPr lang="ko-KR" altLang="en-US" dirty="0"/>
              <a:t>참조 방향을 사용하여 해의 다양성을 보장하고 </a:t>
            </a:r>
            <a:r>
              <a:rPr lang="en-US" altLang="ko-KR" dirty="0"/>
              <a:t>Pareto Front</a:t>
            </a:r>
            <a:r>
              <a:rPr lang="ko-KR" altLang="en-US" dirty="0"/>
              <a:t>에서 고르게 분포된 해를 찾음</a:t>
            </a:r>
            <a:endParaRPr lang="en-US" altLang="ko-KR" dirty="0"/>
          </a:p>
          <a:p>
            <a:pPr lvl="2"/>
            <a:r>
              <a:rPr lang="en-US" altLang="ko-KR" dirty="0" err="1"/>
              <a:t>get_reference_directions</a:t>
            </a:r>
            <a:r>
              <a:rPr lang="en-US" altLang="ko-KR" dirty="0"/>
              <a:t>:</a:t>
            </a:r>
          </a:p>
          <a:p>
            <a:pPr lvl="3"/>
            <a:r>
              <a:rPr lang="ko-KR" altLang="en-US" dirty="0"/>
              <a:t>역할 </a:t>
            </a:r>
            <a:r>
              <a:rPr lang="en-US" altLang="ko-KR" dirty="0"/>
              <a:t>: </a:t>
            </a:r>
            <a:r>
              <a:rPr lang="ko-KR" altLang="en-US" dirty="0"/>
              <a:t>특정 방식으로 참조 방향을 생성하는 함수</a:t>
            </a:r>
            <a:endParaRPr lang="en-US" altLang="ko-KR" dirty="0"/>
          </a:p>
          <a:p>
            <a:pPr lvl="3"/>
            <a:r>
              <a:rPr lang="en-US" altLang="ko-KR" dirty="0"/>
              <a:t>“das-</a:t>
            </a:r>
            <a:r>
              <a:rPr lang="en-US" altLang="ko-KR" dirty="0" err="1"/>
              <a:t>dennis</a:t>
            </a:r>
            <a:r>
              <a:rPr lang="en-US" altLang="ko-KR" dirty="0"/>
              <a:t>” </a:t>
            </a:r>
            <a:r>
              <a:rPr lang="ko-KR" altLang="en-US" dirty="0"/>
              <a:t>방법 </a:t>
            </a:r>
            <a:r>
              <a:rPr lang="en-US" altLang="ko-KR" dirty="0"/>
              <a:t>: Das-Dennis </a:t>
            </a:r>
            <a:r>
              <a:rPr lang="ko-KR" altLang="en-US" dirty="0"/>
              <a:t>방법은 다목적 최적화 문제에서 고차원 해집합의 균등한 분포를 보장하기 위한 기법</a:t>
            </a:r>
            <a:endParaRPr lang="en-US" altLang="ko-KR" dirty="0"/>
          </a:p>
          <a:p>
            <a:pPr lvl="3"/>
            <a:r>
              <a:rPr lang="en-US" altLang="ko-KR" dirty="0"/>
              <a:t>‘</a:t>
            </a:r>
            <a:r>
              <a:rPr lang="en-US" altLang="ko-KR" dirty="0" err="1"/>
              <a:t>n_obj</a:t>
            </a:r>
            <a:r>
              <a:rPr lang="en-US" altLang="ko-KR" dirty="0"/>
              <a:t>’ : </a:t>
            </a:r>
            <a:r>
              <a:rPr lang="ko-KR" altLang="en-US" dirty="0"/>
              <a:t>목적함수의 개수</a:t>
            </a:r>
            <a:endParaRPr lang="en-US" altLang="ko-KR" dirty="0"/>
          </a:p>
          <a:p>
            <a:pPr lvl="3"/>
            <a:r>
              <a:rPr lang="en-US" altLang="ko-KR" dirty="0" err="1"/>
              <a:t>n_partitions</a:t>
            </a:r>
            <a:r>
              <a:rPr lang="en-US" altLang="ko-KR" dirty="0"/>
              <a:t> : </a:t>
            </a:r>
            <a:r>
              <a:rPr lang="ko-KR" altLang="en-US" dirty="0"/>
              <a:t>각</a:t>
            </a:r>
            <a:r>
              <a:rPr lang="en-US" altLang="ko-KR" dirty="0"/>
              <a:t> </a:t>
            </a:r>
            <a:r>
              <a:rPr lang="ko-KR" altLang="en-US" dirty="0"/>
              <a:t>차원에서 참조방향을 몇 개의 부분으로 나눌지 결정하는 값으로</a:t>
            </a:r>
            <a:r>
              <a:rPr lang="en-US" altLang="ko-KR" dirty="0"/>
              <a:t>, </a:t>
            </a:r>
            <a:r>
              <a:rPr lang="ko-KR" altLang="en-US" dirty="0"/>
              <a:t>더 많은 분할 수를 사용할수록 해집합이 더 세밀하게 분포됨</a:t>
            </a:r>
            <a:endParaRPr lang="en-US" altLang="ko-KR" dirty="0"/>
          </a:p>
          <a:p>
            <a:pPr lvl="2"/>
            <a:r>
              <a:rPr lang="ko-KR" altLang="en-US" dirty="0"/>
              <a:t>참조 방향의 역할</a:t>
            </a:r>
            <a:endParaRPr lang="en-US" altLang="ko-KR" dirty="0"/>
          </a:p>
          <a:p>
            <a:pPr lvl="3"/>
            <a:r>
              <a:rPr lang="ko-KR" altLang="en-US" dirty="0"/>
              <a:t>다양성 보장</a:t>
            </a:r>
            <a:r>
              <a:rPr lang="en-US" altLang="ko-KR" dirty="0"/>
              <a:t>: NSGA-III</a:t>
            </a:r>
            <a:r>
              <a:rPr lang="ko-KR" altLang="en-US" dirty="0"/>
              <a:t>는 참조 방향을 사용하여 탐색 과정에서 해가 다양한 방향으로 분산될 수 있도록 함</a:t>
            </a:r>
            <a:endParaRPr lang="en-US" altLang="ko-KR" dirty="0"/>
          </a:p>
          <a:p>
            <a:pPr lvl="3"/>
            <a:r>
              <a:rPr lang="en-US" altLang="ko-KR" dirty="0"/>
              <a:t>Pareto Front: </a:t>
            </a:r>
            <a:r>
              <a:rPr lang="ko-KR" altLang="en-US" dirty="0"/>
              <a:t>최종 해집합이 다양한 목표를 고르게 최적화할 수 있도록 도움</a:t>
            </a:r>
            <a:endParaRPr lang="en-US" altLang="ko-KR" dirty="0"/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E382BF-F6DB-4F9E-A33F-D55DD1387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350DB-AEC6-4A70-8DA2-773581ABAB77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039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48BEBC-27A6-454A-9CD3-0C75BD44D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Basic concept – NSGA-3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EA48A9-5F44-4485-8E21-F89360BD2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72816"/>
            <a:ext cx="8229600" cy="4711149"/>
          </a:xfrm>
        </p:spPr>
        <p:txBody>
          <a:bodyPr>
            <a:normAutofit/>
          </a:bodyPr>
          <a:lstStyle/>
          <a:p>
            <a:r>
              <a:rPr lang="en-US" altLang="ko-KR" dirty="0"/>
              <a:t>NSGA-3</a:t>
            </a:r>
            <a:r>
              <a:rPr lang="ko-KR" altLang="en-US" dirty="0"/>
              <a:t>를 사용할 때 회귀 모델을 왜 사용해야 하는가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pPr lvl="1"/>
            <a:r>
              <a:rPr lang="ko-KR" altLang="en-US" b="1" dirty="0"/>
              <a:t>목표 함수</a:t>
            </a:r>
            <a:r>
              <a:rPr lang="en-US" altLang="ko-KR" b="1" dirty="0"/>
              <a:t>(Objective Function)</a:t>
            </a:r>
            <a:r>
              <a:rPr lang="ko-KR" altLang="en-US" b="1" dirty="0"/>
              <a:t>의 정의</a:t>
            </a:r>
            <a:endParaRPr lang="en-US" altLang="ko-KR" b="1" dirty="0"/>
          </a:p>
          <a:p>
            <a:pPr lvl="2"/>
            <a:r>
              <a:rPr lang="en-US" altLang="ko-KR" dirty="0"/>
              <a:t>(1) </a:t>
            </a:r>
            <a:r>
              <a:rPr lang="ko-KR" altLang="en-US" dirty="0"/>
              <a:t>명확한 수식 기반 목표 함수</a:t>
            </a:r>
            <a:endParaRPr lang="en-US" altLang="ko-KR" dirty="0"/>
          </a:p>
          <a:p>
            <a:pPr lvl="3"/>
            <a:r>
              <a:rPr lang="ko-KR" altLang="en-US" dirty="0"/>
              <a:t>수학적으로 잘 정의된 함수가 있다면 그 함수 자체를 바로 </a:t>
            </a:r>
            <a:r>
              <a:rPr lang="en-US" altLang="ko-KR" dirty="0"/>
              <a:t>NSGA-3</a:t>
            </a:r>
            <a:r>
              <a:rPr lang="ko-KR" altLang="en-US" dirty="0"/>
              <a:t>에 넣을 수 있음</a:t>
            </a:r>
            <a:endParaRPr lang="en-US" altLang="ko-KR" dirty="0"/>
          </a:p>
          <a:p>
            <a:pPr lvl="3"/>
            <a:r>
              <a:rPr lang="ko-KR" altLang="en-US" dirty="0"/>
              <a:t>그러므로 회귀모델은 필요 없음</a:t>
            </a:r>
            <a:endParaRPr lang="en-US" altLang="ko-KR" dirty="0"/>
          </a:p>
          <a:p>
            <a:pPr lvl="2"/>
            <a:r>
              <a:rPr lang="en-US" altLang="ko-KR" dirty="0"/>
              <a:t>(2) </a:t>
            </a:r>
            <a:r>
              <a:rPr lang="ko-KR" altLang="en-US" dirty="0"/>
              <a:t>시뮬레이션</a:t>
            </a:r>
            <a:r>
              <a:rPr lang="en-US" altLang="ko-KR" dirty="0"/>
              <a:t>/</a:t>
            </a:r>
            <a:r>
              <a:rPr lang="ko-KR" altLang="en-US" dirty="0"/>
              <a:t>실험 기반 목표 함수</a:t>
            </a:r>
            <a:endParaRPr lang="en-US" altLang="ko-KR" dirty="0"/>
          </a:p>
          <a:p>
            <a:pPr lvl="3"/>
            <a:r>
              <a:rPr lang="ko-KR" altLang="en-US" dirty="0"/>
              <a:t>실험이나 시뮬레이션에 의존하는 경우</a:t>
            </a:r>
            <a:r>
              <a:rPr lang="en-US" altLang="ko-KR" dirty="0"/>
              <a:t>, </a:t>
            </a:r>
            <a:r>
              <a:rPr lang="ko-KR" altLang="en-US" dirty="0"/>
              <a:t>목표 함수는 특정 매개변수를 입력했을 때 실험 결과로부터 나오는 값일 수 있음</a:t>
            </a:r>
            <a:r>
              <a:rPr lang="en-US" altLang="ko-KR" dirty="0"/>
              <a:t>. </a:t>
            </a:r>
          </a:p>
          <a:p>
            <a:pPr lvl="3"/>
            <a:r>
              <a:rPr lang="ko-KR" altLang="en-US" dirty="0"/>
              <a:t>이 경우 시뮬레이션 실행이 비용이 크거나 시간이 오래 걸릴 수 있으므로</a:t>
            </a:r>
            <a:r>
              <a:rPr lang="en-US" altLang="ko-KR" dirty="0"/>
              <a:t>,  </a:t>
            </a:r>
            <a:r>
              <a:rPr lang="ko-KR" altLang="en-US" dirty="0"/>
              <a:t>이럴 때는 회귀 모델이 유용 할 수 있음</a:t>
            </a:r>
            <a:endParaRPr lang="en-US" altLang="ko-KR" dirty="0"/>
          </a:p>
          <a:p>
            <a:pPr lvl="2"/>
            <a:r>
              <a:rPr lang="en-US" altLang="ko-KR" dirty="0"/>
              <a:t>(3) </a:t>
            </a:r>
            <a:r>
              <a:rPr lang="ko-KR" altLang="en-US" dirty="0"/>
              <a:t>데이터 기반 목표 함수</a:t>
            </a:r>
            <a:endParaRPr lang="en-US" altLang="ko-KR" dirty="0"/>
          </a:p>
          <a:p>
            <a:pPr lvl="3"/>
            <a:r>
              <a:rPr lang="ko-KR" altLang="en-US" dirty="0"/>
              <a:t>실험 데이터만 있고</a:t>
            </a:r>
            <a:r>
              <a:rPr lang="en-US" altLang="ko-KR" dirty="0"/>
              <a:t>, </a:t>
            </a:r>
            <a:r>
              <a:rPr lang="ko-KR" altLang="en-US" dirty="0"/>
              <a:t>그로부터 목표 함수를 추론해야 하는 경우도 있는데 이 경우에는 회귀 모델이 필수적임 </a:t>
            </a:r>
            <a:endParaRPr lang="en-US" altLang="ko-KR" dirty="0"/>
          </a:p>
          <a:p>
            <a:pPr lvl="3"/>
            <a:r>
              <a:rPr lang="ko-KR" altLang="en-US" dirty="0"/>
              <a:t>데이터에서 목표 함수의 패턴을 학습한 후</a:t>
            </a:r>
            <a:r>
              <a:rPr lang="en-US" altLang="ko-KR" dirty="0"/>
              <a:t>, NSGA-3 </a:t>
            </a:r>
            <a:r>
              <a:rPr lang="ko-KR" altLang="en-US" dirty="0"/>
              <a:t>모델을 사용하여 최적화 수행</a:t>
            </a:r>
            <a:endParaRPr lang="en-US" altLang="ko-KR" dirty="0"/>
          </a:p>
          <a:p>
            <a:pPr lvl="3"/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b="1" dirty="0"/>
              <a:t>회귀 모델을 사용하는 이유</a:t>
            </a:r>
            <a:endParaRPr lang="en-US" altLang="ko-KR" b="1" dirty="0"/>
          </a:p>
          <a:p>
            <a:pPr lvl="2"/>
            <a:r>
              <a:rPr lang="ko-KR" altLang="en-US" dirty="0"/>
              <a:t>명시적인 수학적 목표 함수가 없고 데이터 기반으로 목표 함수를 추정해야 하는 상황이기 때문에 사용함</a:t>
            </a:r>
            <a:endParaRPr lang="en-US" altLang="ko-KR" dirty="0"/>
          </a:p>
          <a:p>
            <a:pPr lvl="2"/>
            <a:r>
              <a:rPr lang="ko-KR" altLang="en-US" dirty="0"/>
              <a:t>사용할 회귀 모델은 대체 모델</a:t>
            </a:r>
            <a:r>
              <a:rPr lang="en-US" altLang="ko-KR" dirty="0"/>
              <a:t>(surrogate model)</a:t>
            </a:r>
            <a:r>
              <a:rPr lang="ko-KR" altLang="en-US" dirty="0"/>
              <a:t>로  작동하는데 실제 실험 대신 데이터를 바탕으로 빠르게 예측을 수행하기 때문에  실험 비용을 줄이고 </a:t>
            </a:r>
            <a:r>
              <a:rPr lang="en-US" altLang="ko-KR" dirty="0"/>
              <a:t>NSGA-3</a:t>
            </a:r>
            <a:r>
              <a:rPr lang="ko-KR" altLang="en-US" dirty="0"/>
              <a:t>에서 최적화 과정을 간소화 할 수 있음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EA9DB2-E09B-4273-B67A-995BAFFC9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350DB-AEC6-4A70-8DA2-773581ABAB77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219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89F167-1633-49BB-A96E-CA1F62DC5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Basic concept – Surrogate Model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664828-D353-4EC6-B69D-4C036A744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46528"/>
            <a:ext cx="8229600" cy="5285988"/>
          </a:xfrm>
        </p:spPr>
        <p:txBody>
          <a:bodyPr>
            <a:normAutofit/>
          </a:bodyPr>
          <a:lstStyle/>
          <a:p>
            <a:r>
              <a:rPr lang="ko-KR" altLang="en-US" dirty="0"/>
              <a:t>대리모델</a:t>
            </a:r>
            <a:r>
              <a:rPr lang="en-US" altLang="ko-KR" dirty="0"/>
              <a:t>(Surrogate Model) </a:t>
            </a:r>
            <a:r>
              <a:rPr lang="ko-KR" altLang="en-US" dirty="0"/>
              <a:t>개요</a:t>
            </a:r>
            <a:endParaRPr lang="en-US" altLang="ko-KR" dirty="0"/>
          </a:p>
          <a:p>
            <a:pPr lvl="1"/>
            <a:r>
              <a:rPr lang="ko-KR" altLang="en-US" dirty="0"/>
              <a:t>대리모델은 실제 목표 함수나 시스템을 대신해서 빠르고 저렴하게 근사화 하는 모델임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실제 문제의 계산비용이 매우 크거나 시간 소모가 많을 때</a:t>
            </a:r>
            <a:r>
              <a:rPr lang="en-US" altLang="ko-KR" dirty="0"/>
              <a:t>, </a:t>
            </a:r>
            <a:r>
              <a:rPr lang="ko-KR" altLang="en-US" dirty="0"/>
              <a:t>그 복잡한 시스템을 효율적으로 다루기 위해 대리모델이 사용됨 특히</a:t>
            </a:r>
            <a:r>
              <a:rPr lang="en-US" altLang="ko-KR" dirty="0"/>
              <a:t>, </a:t>
            </a:r>
            <a:r>
              <a:rPr lang="ko-KR" altLang="en-US" dirty="0"/>
              <a:t>최적화 문제에서 반복적으로 평가해야 할 목표 함수가 매우 복잡하거나 계산 비용이 클 경우</a:t>
            </a:r>
            <a:r>
              <a:rPr lang="en-US" altLang="ko-KR" dirty="0"/>
              <a:t>, </a:t>
            </a:r>
            <a:r>
              <a:rPr lang="ko-KR" altLang="en-US" dirty="0"/>
              <a:t>대리모델은 빠르게 근사화 된 값을 제공하여 최적화 과정의 속도를 크게 높일 수 있음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NSGA-3</a:t>
            </a:r>
            <a:r>
              <a:rPr lang="ko-KR" altLang="en-US" dirty="0"/>
              <a:t>에서 사용되는 대리모델</a:t>
            </a:r>
            <a:endParaRPr lang="en-US" altLang="ko-KR" dirty="0"/>
          </a:p>
          <a:p>
            <a:pPr lvl="1"/>
            <a:r>
              <a:rPr lang="en-US" altLang="ko-KR" dirty="0"/>
              <a:t>NSGA-III </a:t>
            </a:r>
            <a:r>
              <a:rPr lang="ko-KR" altLang="en-US" dirty="0"/>
              <a:t>같은 다목적 최적화 알고리즘에서는 대리모델이 복잡한 목표 함수나 제약 조건을 근사화 하기 위해 자주 사용됨</a:t>
            </a:r>
            <a:r>
              <a:rPr lang="en-US" altLang="ko-KR" dirty="0"/>
              <a:t>. </a:t>
            </a:r>
          </a:p>
          <a:p>
            <a:pPr lvl="1"/>
            <a:r>
              <a:rPr lang="en-US" altLang="ko-KR" dirty="0"/>
              <a:t>NSGA-III</a:t>
            </a:r>
            <a:r>
              <a:rPr lang="ko-KR" altLang="en-US" dirty="0"/>
              <a:t>는 여러 세대에 걸쳐 많은 평가를 수행하므로</a:t>
            </a:r>
            <a:r>
              <a:rPr lang="en-US" altLang="ko-KR" dirty="0"/>
              <a:t>, </a:t>
            </a:r>
            <a:r>
              <a:rPr lang="ko-KR" altLang="en-US" dirty="0"/>
              <a:t>만약 목표 함수 평가가 비용이 많이 들거나 시간이 오래 걸린다면 최적화가 매우 비효율적일 수 있음</a:t>
            </a:r>
            <a:r>
              <a:rPr lang="en-US" altLang="ko-KR" dirty="0"/>
              <a:t>. </a:t>
            </a:r>
            <a:r>
              <a:rPr lang="ko-KR" altLang="en-US" dirty="0"/>
              <a:t>이를 보완하기 위해 대리모델을 사용하여 목표 함수의 값을 근사화를 함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NSGA-3</a:t>
            </a:r>
            <a:r>
              <a:rPr lang="ko-KR" altLang="en-US" dirty="0"/>
              <a:t>에서 사용되는 대표적인 대리모델</a:t>
            </a:r>
            <a:endParaRPr lang="en-US" altLang="ko-KR" dirty="0"/>
          </a:p>
          <a:p>
            <a:pPr lvl="1"/>
            <a:r>
              <a:rPr lang="ko-KR" altLang="en-US" dirty="0"/>
              <a:t>다항 회귀 모델</a:t>
            </a:r>
            <a:r>
              <a:rPr lang="en-US" altLang="ko-KR" dirty="0"/>
              <a:t>(Polynomial Regression)</a:t>
            </a:r>
          </a:p>
          <a:p>
            <a:pPr lvl="1"/>
            <a:r>
              <a:rPr lang="ko-KR" altLang="en-US" dirty="0" err="1"/>
              <a:t>가우시안</a:t>
            </a:r>
            <a:r>
              <a:rPr lang="ko-KR" altLang="en-US" dirty="0"/>
              <a:t> 프로세스 회귀</a:t>
            </a:r>
            <a:r>
              <a:rPr lang="en-US" altLang="ko-KR" dirty="0"/>
              <a:t>(Gaussian Process Regression, GPR)</a:t>
            </a:r>
          </a:p>
          <a:p>
            <a:pPr lvl="1"/>
            <a:r>
              <a:rPr lang="ko-KR" altLang="en-US" dirty="0"/>
              <a:t>서포트 벡터 회귀</a:t>
            </a:r>
            <a:r>
              <a:rPr lang="en-US" altLang="ko-KR" dirty="0"/>
              <a:t>(Support Vector Regression, SVR)</a:t>
            </a:r>
          </a:p>
          <a:p>
            <a:pPr lvl="1"/>
            <a:r>
              <a:rPr lang="ko-KR" altLang="en-US" dirty="0"/>
              <a:t>신경망</a:t>
            </a:r>
            <a:r>
              <a:rPr lang="en-US" altLang="ko-KR" dirty="0"/>
              <a:t>(Neural Networks)</a:t>
            </a:r>
          </a:p>
          <a:p>
            <a:pPr lvl="1"/>
            <a:r>
              <a:rPr lang="ko-KR" altLang="en-US" dirty="0"/>
              <a:t>랜덤 포레스트</a:t>
            </a:r>
            <a:r>
              <a:rPr lang="en-US" altLang="ko-KR" dirty="0"/>
              <a:t>(Random Forest)</a:t>
            </a:r>
          </a:p>
          <a:p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98C296-9BAF-4EA9-8DEB-A3A3A0732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350DB-AEC6-4A70-8DA2-773581ABAB77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0226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43F9A4-B133-4D9F-9738-315DD887F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Basic concept – Surrogate Model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87F6DD-1438-46FB-9ED0-9750F9B03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각각의 목적함수에 해당하는 </a:t>
            </a:r>
            <a:r>
              <a:rPr lang="en-US" altLang="ko-KR" dirty="0"/>
              <a:t>Regressor </a:t>
            </a:r>
            <a:r>
              <a:rPr lang="ko-KR" altLang="en-US" dirty="0"/>
              <a:t>모델로 대리모델 생성</a:t>
            </a:r>
            <a:endParaRPr lang="en-US" altLang="ko-KR" dirty="0"/>
          </a:p>
          <a:p>
            <a:pPr lvl="1"/>
            <a:r>
              <a:rPr lang="en-US" altLang="ko-KR" dirty="0"/>
              <a:t>Surrogate Model1 : ‘</a:t>
            </a:r>
            <a:r>
              <a:rPr lang="en-US" altLang="ko-KR" dirty="0" err="1"/>
              <a:t>average_T</a:t>
            </a:r>
            <a:r>
              <a:rPr lang="en-US" altLang="ko-KR" dirty="0"/>
              <a:t>’</a:t>
            </a:r>
          </a:p>
          <a:p>
            <a:pPr lvl="1"/>
            <a:r>
              <a:rPr lang="en-US" altLang="ko-KR" dirty="0"/>
              <a:t>Surrogate Model2 : ‘</a:t>
            </a:r>
            <a:r>
              <a:rPr lang="en-US" altLang="ko-KR" dirty="0" err="1"/>
              <a:t>Torque_Ripple</a:t>
            </a:r>
            <a:r>
              <a:rPr lang="en-US" altLang="ko-KR" dirty="0"/>
              <a:t>’</a:t>
            </a:r>
          </a:p>
          <a:p>
            <a:pPr lvl="1"/>
            <a:r>
              <a:rPr lang="en-US" altLang="ko-KR" dirty="0"/>
              <a:t>Surrogate Model3 : ‘</a:t>
            </a:r>
            <a:r>
              <a:rPr lang="en-US" altLang="ko-KR" dirty="0" err="1"/>
              <a:t>Cogging_T</a:t>
            </a:r>
            <a:r>
              <a:rPr lang="en-US" altLang="ko-KR" dirty="0"/>
              <a:t>’</a:t>
            </a:r>
          </a:p>
          <a:p>
            <a:pPr lvl="1"/>
            <a:r>
              <a:rPr lang="en-US" altLang="ko-KR" dirty="0"/>
              <a:t>Surrogate Model4(constraint) : ‘</a:t>
            </a:r>
            <a:r>
              <a:rPr lang="en-US" altLang="ko-KR" dirty="0" err="1"/>
              <a:t>Slot_Area</a:t>
            </a:r>
            <a:r>
              <a:rPr lang="en-US" altLang="ko-KR" dirty="0"/>
              <a:t>’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NSGA-3 </a:t>
            </a:r>
            <a:r>
              <a:rPr lang="ko-KR" altLang="en-US" dirty="0"/>
              <a:t>대리모델 기반 최적화</a:t>
            </a:r>
            <a:endParaRPr lang="en-US" altLang="ko-KR" dirty="0"/>
          </a:p>
          <a:p>
            <a:pPr lvl="1"/>
            <a:r>
              <a:rPr lang="en-US" altLang="ko-KR" dirty="0"/>
              <a:t>3</a:t>
            </a:r>
            <a:r>
              <a:rPr lang="ko-KR" altLang="en-US" dirty="0"/>
              <a:t>개의 목적 함수와 </a:t>
            </a:r>
            <a:r>
              <a:rPr lang="en-US" altLang="ko-KR" dirty="0"/>
              <a:t>1</a:t>
            </a:r>
            <a:r>
              <a:rPr lang="ko-KR" altLang="en-US" dirty="0"/>
              <a:t>개의 제약조건을 포함한 최적화 진행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목적함수와 제약조건의 분배</a:t>
            </a:r>
            <a:endParaRPr lang="en-US" altLang="ko-KR" dirty="0"/>
          </a:p>
          <a:p>
            <a:pPr lvl="1"/>
            <a:r>
              <a:rPr lang="ko-KR" altLang="en-US" dirty="0"/>
              <a:t>목적함수</a:t>
            </a:r>
            <a:r>
              <a:rPr lang="en-US" altLang="ko-KR" dirty="0"/>
              <a:t>(F) : 3</a:t>
            </a:r>
            <a:r>
              <a:rPr lang="ko-KR" altLang="en-US" dirty="0"/>
              <a:t>개의 대리모델을 사용하여 목적함수를 평가</a:t>
            </a:r>
            <a:endParaRPr lang="en-US" altLang="ko-KR" dirty="0"/>
          </a:p>
          <a:p>
            <a:pPr lvl="2"/>
            <a:r>
              <a:rPr lang="en-US" altLang="ko-KR" dirty="0"/>
              <a:t>out[‘F’] : </a:t>
            </a:r>
            <a:r>
              <a:rPr lang="ko-KR" altLang="en-US" dirty="0"/>
              <a:t>에 최종 목적함수 값 저장</a:t>
            </a:r>
            <a:endParaRPr lang="en-US" altLang="ko-KR" dirty="0"/>
          </a:p>
          <a:p>
            <a:pPr lvl="1"/>
            <a:r>
              <a:rPr lang="ko-KR" altLang="en-US" dirty="0"/>
              <a:t>제약조건</a:t>
            </a:r>
            <a:r>
              <a:rPr lang="en-US" altLang="ko-KR" dirty="0"/>
              <a:t>(G) : 1</a:t>
            </a:r>
            <a:r>
              <a:rPr lang="ko-KR" altLang="en-US" dirty="0"/>
              <a:t>개의 대리모델을 사용하여 제약조건을 평가</a:t>
            </a:r>
            <a:endParaRPr lang="en-US" altLang="ko-KR" dirty="0"/>
          </a:p>
          <a:p>
            <a:pPr lvl="2"/>
            <a:r>
              <a:rPr lang="en-US" altLang="ko-KR" dirty="0"/>
              <a:t>out[‘G’] : </a:t>
            </a:r>
            <a:r>
              <a:rPr lang="ko-KR" altLang="en-US" dirty="0"/>
              <a:t>에 제약조건 위반 정도 값 저장</a:t>
            </a:r>
            <a:endParaRPr lang="en-US" altLang="ko-KR" dirty="0"/>
          </a:p>
          <a:p>
            <a:pPr lvl="1"/>
            <a:r>
              <a:rPr lang="ko-KR" altLang="en-US" dirty="0"/>
              <a:t>목적함수와 제약조건의 역할</a:t>
            </a:r>
            <a:r>
              <a:rPr lang="en-US" altLang="ko-KR" dirty="0"/>
              <a:t>:</a:t>
            </a:r>
          </a:p>
          <a:p>
            <a:pPr lvl="2"/>
            <a:r>
              <a:rPr lang="ko-KR" altLang="en-US" dirty="0"/>
              <a:t>목적함수 </a:t>
            </a:r>
            <a:r>
              <a:rPr lang="en-US" altLang="ko-KR" dirty="0"/>
              <a:t>: </a:t>
            </a:r>
            <a:r>
              <a:rPr lang="ko-KR" altLang="en-US" dirty="0"/>
              <a:t>시스템 성능 최적화</a:t>
            </a:r>
            <a:endParaRPr lang="en-US" altLang="ko-KR" dirty="0"/>
          </a:p>
          <a:p>
            <a:pPr lvl="2"/>
            <a:r>
              <a:rPr lang="ko-KR" altLang="en-US" dirty="0"/>
              <a:t>제약조건 </a:t>
            </a:r>
            <a:r>
              <a:rPr lang="en-US" altLang="ko-KR" dirty="0"/>
              <a:t>: </a:t>
            </a:r>
            <a:r>
              <a:rPr lang="ko-KR" altLang="en-US" dirty="0"/>
              <a:t>설계의 제한 조건을 준수하는지 평가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6204B1-8A9C-4727-ABC8-94CAC064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350DB-AEC6-4A70-8DA2-773581ABAB77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9285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36648D-91FB-4F54-B030-B779073A6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Basic concept – Maximization, </a:t>
            </a:r>
            <a:r>
              <a:rPr lang="en-US" altLang="ko-KR" b="1" dirty="0"/>
              <a:t>M</a:t>
            </a:r>
            <a:r>
              <a:rPr lang="en-US" altLang="ko-KR" dirty="0"/>
              <a:t>inimization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0DC9924-7A5C-43D0-B687-931A03DF4A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최대화와 최소화 문제의 차이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최대화 문제</a:t>
                </a:r>
                <a:r>
                  <a:rPr lang="en-US" altLang="ko-KR" dirty="0"/>
                  <a:t>(Maximization Problem)</a:t>
                </a:r>
              </a:p>
              <a:p>
                <a:pPr lvl="2"/>
                <a:r>
                  <a:rPr lang="ko-KR" altLang="en-US" dirty="0"/>
                  <a:t>목적 함수의 값을 가능한 한 크게 만드는 것이 목표 </a:t>
                </a:r>
                <a:r>
                  <a:rPr lang="en-US" altLang="ko-KR" dirty="0"/>
                  <a:t>-&gt; </a:t>
                </a:r>
                <a:r>
                  <a:rPr lang="ko-KR" altLang="en-US" dirty="0"/>
                  <a:t>함수의 최댓값을 찾는 문제</a:t>
                </a:r>
                <a:endParaRPr lang="en-US" altLang="ko-KR" dirty="0"/>
              </a:p>
              <a:p>
                <a:pPr lvl="3"/>
                <a:r>
                  <a:rPr lang="ko-KR" altLang="en-US" dirty="0"/>
                  <a:t>예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수익을 최대화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효율을 최대화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최소화 문제</a:t>
                </a:r>
                <a:r>
                  <a:rPr lang="en-US" altLang="ko-KR" dirty="0"/>
                  <a:t>(Minimization Problem)</a:t>
                </a:r>
              </a:p>
              <a:p>
                <a:pPr lvl="2"/>
                <a:r>
                  <a:rPr lang="ko-KR" altLang="en-US" dirty="0"/>
                  <a:t>목적 함수의 값을 가능한 한 작게 만드는 것이 목표 </a:t>
                </a:r>
                <a:r>
                  <a:rPr lang="en-US" altLang="ko-KR" dirty="0"/>
                  <a:t>-&gt; </a:t>
                </a:r>
                <a:r>
                  <a:rPr lang="ko-KR" altLang="en-US" dirty="0"/>
                  <a:t>함수의 최소값을 찾는 문제</a:t>
                </a:r>
                <a:endParaRPr lang="en-US" altLang="ko-KR" dirty="0"/>
              </a:p>
              <a:p>
                <a:pPr lvl="3"/>
                <a:r>
                  <a:rPr lang="ko-KR" altLang="en-US" dirty="0"/>
                  <a:t>예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비용을 최소화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에러를 최소화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최대화를 최소화로 변환하기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최대화 문제를 최소화 문제로 변환하는 방법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목적함수의 부호를 반대로 만드는 것</a:t>
                </a:r>
                <a:endParaRPr lang="en-US" altLang="ko-KR" dirty="0"/>
              </a:p>
              <a:p>
                <a:pPr lvl="3"/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      </m:t>
                        </m:r>
                      </m:e>
                    </m:func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dirty="0"/>
                  <a:t> :  </a:t>
                </a:r>
                <a:r>
                  <a:rPr lang="ko-KR" altLang="en-US" dirty="0"/>
                  <a:t>목적함수가 큰 숫자가 좋은 해</a:t>
                </a:r>
                <a:endParaRPr lang="en-US" altLang="ko-KR" dirty="0"/>
              </a:p>
              <a:p>
                <a:pPr lvl="3"/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      </m:t>
                        </m:r>
                      </m:e>
                    </m:func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 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dirty="0"/>
                  <a:t> :  </a:t>
                </a:r>
                <a:r>
                  <a:rPr lang="ko-KR" altLang="en-US" dirty="0"/>
                  <a:t>목적함수가 작은 값이 되어야  좋은 해</a:t>
                </a:r>
                <a:endParaRPr lang="en-US" altLang="ko-KR" dirty="0"/>
              </a:p>
              <a:p>
                <a:pPr marL="761400" lvl="3" indent="0">
                  <a:buNone/>
                </a:pPr>
                <a:endParaRPr lang="en-US" altLang="ko-KR" dirty="0"/>
              </a:p>
              <a:p>
                <a:pPr lvl="1"/>
                <a:r>
                  <a:rPr lang="en-US" altLang="ko-KR" dirty="0"/>
                  <a:t>NSGA-3</a:t>
                </a:r>
                <a:r>
                  <a:rPr lang="en-US" altLang="ko-KR" b="1" dirty="0"/>
                  <a:t> </a:t>
                </a:r>
              </a:p>
              <a:p>
                <a:pPr lvl="2"/>
                <a:r>
                  <a:rPr lang="ko-KR" altLang="en-US" dirty="0"/>
                  <a:t>목표 </a:t>
                </a:r>
                <a:r>
                  <a:rPr lang="en-US" altLang="ko-KR" dirty="0"/>
                  <a:t>1 : </a:t>
                </a:r>
                <a:r>
                  <a:rPr lang="en-US" altLang="ko-KR" dirty="0" err="1"/>
                  <a:t>average_T</a:t>
                </a:r>
                <a:r>
                  <a:rPr lang="en-US" altLang="ko-KR" dirty="0"/>
                  <a:t> -&gt; Maximization -&gt; </a:t>
                </a:r>
                <a:r>
                  <a:rPr lang="ko-KR" altLang="en-US" dirty="0"/>
                  <a:t>부호 반전</a:t>
                </a:r>
                <a:r>
                  <a:rPr lang="en-US" altLang="ko-KR" dirty="0"/>
                  <a:t>(‘-’)</a:t>
                </a:r>
              </a:p>
              <a:p>
                <a:pPr lvl="2"/>
                <a:r>
                  <a:rPr lang="ko-KR" altLang="en-US" dirty="0"/>
                  <a:t>목표 </a:t>
                </a:r>
                <a:r>
                  <a:rPr lang="en-US" altLang="ko-KR" dirty="0"/>
                  <a:t>2: </a:t>
                </a:r>
                <a:r>
                  <a:rPr lang="en-US" altLang="ko-KR" dirty="0" err="1"/>
                  <a:t>Torque_Ripple</a:t>
                </a:r>
                <a:r>
                  <a:rPr lang="en-US" altLang="ko-KR" dirty="0"/>
                  <a:t> -&gt; Minimization</a:t>
                </a:r>
              </a:p>
              <a:p>
                <a:pPr lvl="2"/>
                <a:r>
                  <a:rPr lang="ko-KR" altLang="en-US" dirty="0"/>
                  <a:t>목표 </a:t>
                </a:r>
                <a:r>
                  <a:rPr lang="en-US" altLang="ko-KR" dirty="0"/>
                  <a:t>3: </a:t>
                </a:r>
                <a:r>
                  <a:rPr lang="en-US" altLang="ko-KR" dirty="0" err="1"/>
                  <a:t>Cogging_T</a:t>
                </a:r>
                <a:r>
                  <a:rPr lang="en-US" altLang="ko-KR" dirty="0"/>
                  <a:t> -&gt; Minimization</a:t>
                </a:r>
              </a:p>
              <a:p>
                <a:pPr lvl="2"/>
                <a:r>
                  <a:rPr lang="ko-KR" altLang="en-US" dirty="0"/>
                  <a:t>목표 </a:t>
                </a:r>
                <a:r>
                  <a:rPr lang="en-US" altLang="ko-KR" dirty="0"/>
                  <a:t>4:: </a:t>
                </a:r>
                <a:r>
                  <a:rPr lang="en-US" altLang="ko-KR" dirty="0" err="1"/>
                  <a:t>Slot_Area</a:t>
                </a:r>
                <a:r>
                  <a:rPr lang="en-US" altLang="ko-KR" dirty="0"/>
                  <a:t> -&gt; Above 270</a:t>
                </a:r>
                <a:r>
                  <a:rPr lang="ko-KR" altLang="en-US" dirty="0"/>
                  <a:t> </a:t>
                </a:r>
                <a:endParaRPr lang="en-US" altLang="ko-KR" b="1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0DC9924-7A5C-43D0-B687-931A03DF4A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F3A965-B93D-491E-BD61-92CF18029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350DB-AEC6-4A70-8DA2-773581ABAB77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574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8D8CC-C26D-4C6E-81CE-011FB1409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Basic concept – Pareto Front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50C4E7-7A2F-4D4B-A1C5-009F38EC8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파레토 프론트의 개념</a:t>
            </a:r>
            <a:endParaRPr lang="en-US" altLang="ko-KR" dirty="0"/>
          </a:p>
          <a:p>
            <a:pPr lvl="1"/>
            <a:r>
              <a:rPr lang="ko-KR" altLang="en-US" dirty="0"/>
              <a:t>파레토 최적화</a:t>
            </a:r>
            <a:r>
              <a:rPr lang="en-US" altLang="ko-KR" dirty="0"/>
              <a:t>(Pareto Optimization) : </a:t>
            </a:r>
            <a:r>
              <a:rPr lang="ko-KR" altLang="en-US" dirty="0"/>
              <a:t>여러 목표를 동시에 최적화하는 문제에서 하나의 목표를 개선하려면 다른 목표를 희생해야 하는 상황 의미</a:t>
            </a:r>
            <a:endParaRPr lang="en-US" altLang="ko-KR" dirty="0"/>
          </a:p>
          <a:p>
            <a:pPr lvl="1"/>
            <a:r>
              <a:rPr lang="ko-KR" altLang="en-US" dirty="0"/>
              <a:t>파레토 프론트</a:t>
            </a:r>
            <a:r>
              <a:rPr lang="en-US" altLang="ko-KR" dirty="0"/>
              <a:t>(Pareto Front) : </a:t>
            </a:r>
            <a:r>
              <a:rPr lang="ko-KR" altLang="en-US" dirty="0"/>
              <a:t>더 이상 다른 목표를 희생하지 않고는 한 목표를 더 이상 개선할 수 없는 비지배해</a:t>
            </a:r>
            <a:r>
              <a:rPr lang="en-US" altLang="ko-KR" dirty="0"/>
              <a:t>(Non-dominated Solutions)</a:t>
            </a:r>
            <a:r>
              <a:rPr lang="ko-KR" altLang="en-US" dirty="0"/>
              <a:t>들의 집합</a:t>
            </a:r>
            <a:endParaRPr lang="en-US" altLang="ko-KR" dirty="0"/>
          </a:p>
          <a:p>
            <a:pPr lvl="1"/>
            <a:r>
              <a:rPr lang="ko-KR" altLang="en-US" dirty="0"/>
              <a:t>특징 </a:t>
            </a:r>
            <a:r>
              <a:rPr lang="en-US" altLang="ko-KR" dirty="0"/>
              <a:t>: </a:t>
            </a:r>
          </a:p>
          <a:p>
            <a:pPr lvl="2"/>
            <a:r>
              <a:rPr lang="ko-KR" altLang="en-US" dirty="0"/>
              <a:t>비지배해 </a:t>
            </a:r>
            <a:r>
              <a:rPr lang="en-US" altLang="ko-KR" dirty="0"/>
              <a:t>: </a:t>
            </a:r>
            <a:r>
              <a:rPr lang="ko-KR" altLang="en-US" dirty="0"/>
              <a:t>어떤 해도 다른 해보다 모든 면에서 우수하지 않음</a:t>
            </a:r>
            <a:r>
              <a:rPr lang="en-US" altLang="ko-KR" dirty="0"/>
              <a:t>.(</a:t>
            </a:r>
            <a:r>
              <a:rPr lang="ko-KR" altLang="en-US" dirty="0"/>
              <a:t>두 가지 이상의 목표일때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다목적 최적화 문제에서 목표들 간의 트레이드오프를 보여줌</a:t>
            </a:r>
            <a:endParaRPr lang="en-US" altLang="ko-KR" dirty="0"/>
          </a:p>
          <a:p>
            <a:pPr lvl="1"/>
            <a:r>
              <a:rPr lang="ko-KR" altLang="en-US" dirty="0"/>
              <a:t>파레토 프론트 도출 </a:t>
            </a:r>
            <a:r>
              <a:rPr lang="en-US" altLang="ko-KR" dirty="0"/>
              <a:t>: NSGA-3</a:t>
            </a:r>
            <a:r>
              <a:rPr lang="ko-KR" altLang="en-US" dirty="0"/>
              <a:t>를 통해 도출된 해들은 최적화 공간에서 비지배해로 구성된 파레토 프론트를 형성함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7D1673-8C1E-4666-B257-B03330A11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350DB-AEC6-4A70-8DA2-773581ABAB77}" type="slidenum">
              <a:rPr lang="ko-KR" altLang="en-US" smtClean="0"/>
              <a:pPr/>
              <a:t>12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AE2AF99-5C4A-42CA-909C-5037DBFC631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6" b="16775"/>
          <a:stretch/>
        </p:blipFill>
        <p:spPr>
          <a:xfrm>
            <a:off x="2972924" y="3891501"/>
            <a:ext cx="2816672" cy="233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56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29F45A-E717-4A25-925E-5C99D3968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실험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025522-C30F-47EB-90D8-A92D6F623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실험 설계</a:t>
            </a:r>
            <a:endParaRPr lang="en-US" altLang="ko-KR" dirty="0"/>
          </a:p>
          <a:p>
            <a:pPr lvl="1"/>
            <a:r>
              <a:rPr lang="ko-KR" altLang="en-US" dirty="0"/>
              <a:t>실험에 사용된 코드</a:t>
            </a:r>
            <a:endParaRPr lang="en-US" altLang="ko-KR" dirty="0"/>
          </a:p>
          <a:p>
            <a:pPr lvl="2"/>
            <a:r>
              <a:rPr lang="en-US" altLang="ko-KR" dirty="0"/>
              <a:t>main.py </a:t>
            </a:r>
          </a:p>
          <a:p>
            <a:pPr lvl="3"/>
            <a:r>
              <a:rPr lang="ko-KR" altLang="en-US" dirty="0"/>
              <a:t>코드 전반적인 흐름 관여</a:t>
            </a:r>
            <a:endParaRPr lang="en-US" altLang="ko-KR" dirty="0"/>
          </a:p>
          <a:p>
            <a:pPr lvl="3"/>
            <a:r>
              <a:rPr lang="en-US" altLang="ko-KR" dirty="0"/>
              <a:t>Surrogate modeling</a:t>
            </a:r>
            <a:r>
              <a:rPr lang="ko-KR" altLang="en-US" dirty="0"/>
              <a:t>과 </a:t>
            </a:r>
            <a:r>
              <a:rPr lang="en-US" altLang="ko-KR" dirty="0"/>
              <a:t>NSGA-3 Algorithm </a:t>
            </a:r>
            <a:r>
              <a:rPr lang="ko-KR" altLang="en-US" dirty="0"/>
              <a:t>전달하는 역할 수행</a:t>
            </a:r>
            <a:endParaRPr lang="en-US" altLang="ko-KR" dirty="0"/>
          </a:p>
          <a:p>
            <a:pPr lvl="2"/>
            <a:r>
              <a:rPr lang="en-US" altLang="ko-KR" dirty="0"/>
              <a:t>Model.py </a:t>
            </a:r>
          </a:p>
          <a:p>
            <a:pPr lvl="3"/>
            <a:r>
              <a:rPr lang="ko-KR" altLang="en-US" dirty="0"/>
              <a:t>제한 제약 조건 설정 </a:t>
            </a:r>
            <a:endParaRPr lang="en-US" altLang="ko-KR" dirty="0"/>
          </a:p>
          <a:p>
            <a:pPr lvl="2"/>
            <a:r>
              <a:rPr lang="en-US" altLang="ko-KR" dirty="0"/>
              <a:t>leaner.py</a:t>
            </a:r>
          </a:p>
          <a:p>
            <a:pPr lvl="3"/>
            <a:r>
              <a:rPr lang="en-US" altLang="ko-KR" dirty="0"/>
              <a:t>MOO </a:t>
            </a:r>
            <a:r>
              <a:rPr lang="ko-KR" altLang="en-US" dirty="0"/>
              <a:t>의 </a:t>
            </a:r>
            <a:r>
              <a:rPr lang="en-US" altLang="ko-KR" dirty="0"/>
              <a:t>Base</a:t>
            </a:r>
            <a:r>
              <a:rPr lang="ko-KR" altLang="en-US" dirty="0"/>
              <a:t>가 되는 </a:t>
            </a:r>
            <a:r>
              <a:rPr lang="en-US" altLang="ko-KR" dirty="0"/>
              <a:t> surrogate SVR </a:t>
            </a:r>
            <a:r>
              <a:rPr lang="ko-KR" altLang="en-US" dirty="0"/>
              <a:t>모델 학습 </a:t>
            </a:r>
            <a:endParaRPr lang="en-US" altLang="ko-KR" dirty="0"/>
          </a:p>
          <a:p>
            <a:pPr lvl="2"/>
            <a:r>
              <a:rPr lang="en-US" altLang="ko-KR" dirty="0"/>
              <a:t>Optimizer.py</a:t>
            </a:r>
          </a:p>
          <a:p>
            <a:pPr lvl="3"/>
            <a:r>
              <a:rPr lang="en-US" altLang="ko-KR" dirty="0"/>
              <a:t>NSGA-3  3</a:t>
            </a:r>
            <a:r>
              <a:rPr lang="ko-KR" altLang="en-US" dirty="0"/>
              <a:t>개의 목적함수와 </a:t>
            </a:r>
            <a:r>
              <a:rPr lang="en-US" altLang="ko-KR" dirty="0"/>
              <a:t>1</a:t>
            </a:r>
            <a:r>
              <a:rPr lang="ko-KR" altLang="en-US" dirty="0"/>
              <a:t>개의 제약 조건으로 최적화 수행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1"/>
            <a:r>
              <a:rPr lang="ko-KR" altLang="en-US" dirty="0"/>
              <a:t>사용된 알고리즘</a:t>
            </a:r>
            <a:endParaRPr lang="en-US" altLang="ko-KR" dirty="0"/>
          </a:p>
          <a:p>
            <a:pPr lvl="2"/>
            <a:r>
              <a:rPr lang="ko-KR" altLang="en-US" dirty="0"/>
              <a:t>서포트 벡터 회귀</a:t>
            </a:r>
            <a:r>
              <a:rPr lang="en-US" altLang="ko-KR" dirty="0"/>
              <a:t>(Support Vector Regressor, SVR)</a:t>
            </a:r>
          </a:p>
          <a:p>
            <a:pPr lvl="3"/>
            <a:r>
              <a:rPr lang="en-US" altLang="ko-KR" dirty="0"/>
              <a:t>Surrogate Model 4</a:t>
            </a:r>
            <a:r>
              <a:rPr lang="ko-KR" altLang="en-US" dirty="0"/>
              <a:t>개 </a:t>
            </a:r>
            <a:r>
              <a:rPr lang="en-US" altLang="ko-KR" dirty="0"/>
              <a:t>(obj 3</a:t>
            </a:r>
            <a:r>
              <a:rPr lang="ko-KR" altLang="en-US" dirty="0"/>
              <a:t>개</a:t>
            </a:r>
            <a:r>
              <a:rPr lang="en-US" altLang="ko-KR" dirty="0"/>
              <a:t>, cons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개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NSGA-3</a:t>
            </a:r>
          </a:p>
          <a:p>
            <a:pPr lvl="3"/>
            <a:r>
              <a:rPr lang="en-US" altLang="ko-KR" dirty="0"/>
              <a:t>Multi-objective optimization – Class Moo</a:t>
            </a:r>
          </a:p>
          <a:p>
            <a:pPr marL="761400" lvl="3" indent="0">
              <a:buNone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A16322-2D95-4631-BCFB-3E6C9EB6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350DB-AEC6-4A70-8DA2-773581ABAB77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364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4D90E9-E607-4389-88F2-48C8F077B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8D719F-B875-4648-B168-680A27C93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75260" y="356140"/>
            <a:ext cx="8668871" cy="6145720"/>
          </a:xfrm>
        </p:spPr>
        <p:txBody>
          <a:bodyPr>
            <a:normAutofit/>
          </a:bodyPr>
          <a:lstStyle/>
          <a:p>
            <a:pPr marL="761400" lvl="3" indent="0">
              <a:buNone/>
            </a:pPr>
            <a:endParaRPr lang="en-US" altLang="ko-KR" dirty="0"/>
          </a:p>
          <a:p>
            <a:pPr lvl="3"/>
            <a:endParaRPr lang="en-US" altLang="ko-KR" dirty="0"/>
          </a:p>
          <a:p>
            <a:pPr lvl="1"/>
            <a:r>
              <a:rPr lang="ko-KR" altLang="en-US" dirty="0"/>
              <a:t>데이터 구성</a:t>
            </a:r>
            <a:endParaRPr lang="en-US" altLang="ko-KR" dirty="0"/>
          </a:p>
          <a:p>
            <a:pPr lvl="2"/>
            <a:r>
              <a:rPr lang="en-US" altLang="ko-KR" dirty="0"/>
              <a:t>20240819_2th_ECmotor_SuperCom_loadcase_total.csv</a:t>
            </a:r>
          </a:p>
          <a:p>
            <a:pPr lvl="2"/>
            <a:r>
              <a:rPr lang="en-US" altLang="ko-KR" dirty="0"/>
              <a:t>EC Fan</a:t>
            </a:r>
            <a:r>
              <a:rPr lang="ko-KR" altLang="en-US" dirty="0"/>
              <a:t>의 데이터는 총 </a:t>
            </a:r>
            <a:r>
              <a:rPr lang="en-US" altLang="ko-KR" dirty="0"/>
              <a:t>10</a:t>
            </a:r>
            <a:r>
              <a:rPr lang="ko-KR" altLang="en-US" dirty="0"/>
              <a:t>개의 데이터로 이루어져 있다</a:t>
            </a:r>
            <a:r>
              <a:rPr lang="en-US" altLang="ko-KR" dirty="0"/>
              <a:t>.   [ 6720 rows x 10 columns ]</a:t>
            </a:r>
          </a:p>
          <a:p>
            <a:pPr marL="761400" lvl="3" indent="0">
              <a:buNone/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1ABFA1-6585-4E66-A8C2-2D147C77B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350DB-AEC6-4A70-8DA2-773581ABAB77}" type="slidenum">
              <a:rPr lang="ko-KR" altLang="en-US" smtClean="0"/>
              <a:pPr/>
              <a:t>14</a:t>
            </a:fld>
            <a:endParaRPr lang="ko-KR" altLang="en-US"/>
          </a:p>
        </p:txBody>
      </p:sp>
      <p:graphicFrame>
        <p:nvGraphicFramePr>
          <p:cNvPr id="9" name="표 9">
            <a:extLst>
              <a:ext uri="{FF2B5EF4-FFF2-40B4-BE49-F238E27FC236}">
                <a16:creationId xmlns:a16="http://schemas.microsoft.com/office/drawing/2014/main" id="{E40B2FE1-14F0-4122-9962-6C28EBC74B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104336"/>
              </p:ext>
            </p:extLst>
          </p:nvPr>
        </p:nvGraphicFramePr>
        <p:xfrm>
          <a:off x="700940" y="1971294"/>
          <a:ext cx="7635241" cy="404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0581">
                  <a:extLst>
                    <a:ext uri="{9D8B030D-6E8A-4147-A177-3AD203B41FA5}">
                      <a16:colId xmlns:a16="http://schemas.microsoft.com/office/drawing/2014/main" val="1269677997"/>
                    </a:ext>
                  </a:extLst>
                </a:gridCol>
                <a:gridCol w="1860704">
                  <a:extLst>
                    <a:ext uri="{9D8B030D-6E8A-4147-A177-3AD203B41FA5}">
                      <a16:colId xmlns:a16="http://schemas.microsoft.com/office/drawing/2014/main" val="4269475680"/>
                    </a:ext>
                  </a:extLst>
                </a:gridCol>
                <a:gridCol w="4943956">
                  <a:extLst>
                    <a:ext uri="{9D8B030D-6E8A-4147-A177-3AD203B41FA5}">
                      <a16:colId xmlns:a16="http://schemas.microsoft.com/office/drawing/2014/main" val="2411565312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열 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154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V_rotor_r1 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Design Variable(</a:t>
                      </a:r>
                      <a:r>
                        <a:rPr lang="ko-KR" altLang="en-US" sz="1400" dirty="0"/>
                        <a:t>설계 변수</a:t>
                      </a:r>
                      <a:r>
                        <a:rPr lang="en-US" altLang="ko-KR" sz="1400" dirty="0"/>
                        <a:t>)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996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 err="1"/>
                        <a:t>V_Opening_A</a:t>
                      </a:r>
                      <a:r>
                        <a:rPr lang="en-US" altLang="ko-KR" sz="1400" dirty="0"/>
                        <a:t> 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Design Variable(</a:t>
                      </a:r>
                      <a:r>
                        <a:rPr lang="ko-KR" altLang="en-US" sz="1400" dirty="0"/>
                        <a:t>설계 변수</a:t>
                      </a:r>
                      <a:r>
                        <a:rPr lang="en-US" altLang="ko-KR" sz="1400" dirty="0"/>
                        <a:t>)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9924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 err="1"/>
                        <a:t>V_Opening_W</a:t>
                      </a:r>
                      <a:r>
                        <a:rPr lang="en-US" altLang="ko-KR" sz="1400" dirty="0"/>
                        <a:t>	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Design Variable(</a:t>
                      </a:r>
                      <a:r>
                        <a:rPr lang="ko-KR" altLang="en-US" sz="1400" dirty="0"/>
                        <a:t>설계 변수</a:t>
                      </a:r>
                      <a:r>
                        <a:rPr lang="en-US" altLang="ko-KR" sz="1400" dirty="0"/>
                        <a:t>)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228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 err="1"/>
                        <a:t>V_Shoe_A</a:t>
                      </a:r>
                      <a:r>
                        <a:rPr lang="en-US" altLang="ko-KR" sz="1400" dirty="0"/>
                        <a:t> 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Design Variable(</a:t>
                      </a:r>
                      <a:r>
                        <a:rPr lang="ko-KR" altLang="en-US" sz="1400" dirty="0"/>
                        <a:t>설계 변수</a:t>
                      </a:r>
                      <a:r>
                        <a:rPr lang="en-US" altLang="ko-KR" sz="1400" dirty="0"/>
                        <a:t>)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567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 err="1"/>
                        <a:t>V_Shoe_W</a:t>
                      </a:r>
                      <a:r>
                        <a:rPr lang="en-US" altLang="ko-KR" sz="1400" dirty="0"/>
                        <a:t> 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Design Variable(</a:t>
                      </a:r>
                      <a:r>
                        <a:rPr lang="ko-KR" altLang="en-US" sz="1400" dirty="0"/>
                        <a:t>설계 변수</a:t>
                      </a:r>
                      <a:r>
                        <a:rPr lang="en-US" altLang="ko-KR" sz="1400" dirty="0"/>
                        <a:t>)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5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563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 err="1"/>
                        <a:t>V_Tooth_W</a:t>
                      </a:r>
                      <a:r>
                        <a:rPr lang="en-US" altLang="ko-KR" sz="1400" dirty="0"/>
                        <a:t> 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Design Variable(</a:t>
                      </a:r>
                      <a:r>
                        <a:rPr lang="ko-KR" altLang="en-US" sz="1400" dirty="0"/>
                        <a:t>설계 변수</a:t>
                      </a:r>
                      <a:r>
                        <a:rPr lang="en-US" altLang="ko-KR" sz="1400" dirty="0"/>
                        <a:t>)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384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 err="1"/>
                        <a:t>average_T</a:t>
                      </a:r>
                      <a:r>
                        <a:rPr lang="en-US" altLang="ko-KR" sz="1400" dirty="0"/>
                        <a:t> 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최적화 대상 목적함수 </a:t>
                      </a:r>
                      <a:r>
                        <a:rPr lang="en-US" altLang="ko-KR" sz="1400" dirty="0"/>
                        <a:t>1 (</a:t>
                      </a:r>
                      <a:r>
                        <a:rPr lang="ko-KR" altLang="en-US" sz="1400" dirty="0" err="1"/>
                        <a:t>평균토크</a:t>
                      </a:r>
                      <a:r>
                        <a:rPr lang="en-US" altLang="ko-KR" sz="1400" dirty="0"/>
                        <a:t>) Maximization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12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 err="1"/>
                        <a:t>Torque_Ripple</a:t>
                      </a:r>
                      <a:r>
                        <a:rPr lang="en-US" altLang="ko-KR" sz="1400" dirty="0"/>
                        <a:t> 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최적화 대상 목적함수 </a:t>
                      </a:r>
                      <a:r>
                        <a:rPr lang="en-US" altLang="ko-KR" sz="1400" dirty="0"/>
                        <a:t>2 (</a:t>
                      </a:r>
                      <a:r>
                        <a:rPr lang="ko-KR" altLang="en-US" sz="1400" dirty="0"/>
                        <a:t>토크 리플</a:t>
                      </a:r>
                      <a:r>
                        <a:rPr lang="en-US" altLang="ko-KR" sz="1400" dirty="0"/>
                        <a:t>) Minimization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454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 err="1"/>
                        <a:t>Cogging_T</a:t>
                      </a:r>
                      <a:r>
                        <a:rPr lang="en-US" altLang="ko-KR" sz="1400" dirty="0"/>
                        <a:t> 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최적화 대상 목적함수 </a:t>
                      </a:r>
                      <a:r>
                        <a:rPr lang="en-US" altLang="ko-KR" sz="1400" dirty="0"/>
                        <a:t>3 (</a:t>
                      </a:r>
                      <a:r>
                        <a:rPr lang="ko-KR" altLang="en-US" sz="1400" dirty="0" err="1"/>
                        <a:t>코깅</a:t>
                      </a:r>
                      <a:r>
                        <a:rPr lang="ko-KR" altLang="en-US" sz="1400" dirty="0"/>
                        <a:t> 토크</a:t>
                      </a:r>
                      <a:r>
                        <a:rPr lang="en-US" altLang="ko-KR" sz="1400" dirty="0"/>
                        <a:t>) Minimization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08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 err="1"/>
                        <a:t>Slot_Area</a:t>
                      </a:r>
                      <a:r>
                        <a:rPr lang="en-US" altLang="ko-KR" sz="1400" dirty="0"/>
                        <a:t> 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제약 조건 </a:t>
                      </a:r>
                      <a:r>
                        <a:rPr lang="en-US" altLang="ko-KR" sz="1400" dirty="0"/>
                        <a:t>Above 270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574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9191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A10BC4-EDAD-4557-9E35-76983A2E1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/>
            <a:endParaRPr lang="en-US" altLang="ko-KR" dirty="0"/>
          </a:p>
          <a:p>
            <a:r>
              <a:rPr lang="en-US" altLang="ko-KR" dirty="0"/>
              <a:t>Flowchart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2F42E3-A7E2-4232-995E-7278EC1F6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350DB-AEC6-4A70-8DA2-773581ABAB77}" type="slidenum">
              <a:rPr lang="ko-KR" altLang="en-US" smtClean="0"/>
              <a:pPr/>
              <a:t>15</a:t>
            </a:fld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7E43831-664F-4CD1-B0C3-2869EA132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7" y="1954570"/>
            <a:ext cx="8575225" cy="3288244"/>
          </a:xfrm>
          <a:prstGeom prst="rect">
            <a:avLst/>
          </a:prstGeom>
        </p:spPr>
      </p:pic>
      <p:sp>
        <p:nvSpPr>
          <p:cNvPr id="6" name="제목 5">
            <a:extLst>
              <a:ext uri="{FF2B5EF4-FFF2-40B4-BE49-F238E27FC236}">
                <a16:creationId xmlns:a16="http://schemas.microsoft.com/office/drawing/2014/main" id="{55DC404D-AB55-4098-B7C1-9B52A758A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0545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FB67BB-4DB9-4B1A-9760-C4E0EC85E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실험 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0ED8C1-AEF8-4185-9C48-38FD1413E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200" b="0" dirty="0"/>
              <a:t>본 실험에서는 데이터셋에서 </a:t>
            </a:r>
            <a:r>
              <a:rPr lang="en-US" altLang="ko-KR" sz="1200" b="0" dirty="0"/>
              <a:t>6</a:t>
            </a:r>
            <a:r>
              <a:rPr lang="ko-KR" altLang="en-US" sz="1200" b="0" dirty="0"/>
              <a:t>개의 </a:t>
            </a:r>
            <a:r>
              <a:rPr lang="en-US" altLang="ko-KR" sz="1200" b="0" dirty="0"/>
              <a:t>Design Variable</a:t>
            </a:r>
            <a:r>
              <a:rPr lang="ko-KR" altLang="en-US" sz="1200" b="0" dirty="0"/>
              <a:t>은 그대로 두고</a:t>
            </a:r>
            <a:r>
              <a:rPr lang="en-US" altLang="ko-KR" sz="1200" b="0" dirty="0"/>
              <a:t>,</a:t>
            </a:r>
            <a:r>
              <a:rPr lang="ko-KR" altLang="en-US" sz="1200" b="0" dirty="0"/>
              <a:t> </a:t>
            </a:r>
            <a:r>
              <a:rPr lang="en-US" altLang="ko-KR" sz="1200" b="0" dirty="0"/>
              <a:t>3</a:t>
            </a:r>
            <a:r>
              <a:rPr lang="ko-KR" altLang="en-US" sz="1200" b="0" dirty="0"/>
              <a:t>개의 목적함수</a:t>
            </a:r>
            <a:r>
              <a:rPr lang="en-US" altLang="ko-KR" sz="1200" b="0" dirty="0"/>
              <a:t>(‘average_T’,‘</a:t>
            </a:r>
            <a:r>
              <a:rPr lang="en-US" altLang="ko-KR" sz="1200" b="0" dirty="0" err="1"/>
              <a:t>Torque_Rippe</a:t>
            </a:r>
            <a:r>
              <a:rPr lang="en-US" altLang="ko-KR" sz="1200" b="0" dirty="0"/>
              <a:t>’, ’</a:t>
            </a:r>
            <a:r>
              <a:rPr lang="en-US" altLang="ko-KR" sz="1200" b="0" dirty="0" err="1"/>
              <a:t>Cogging_T</a:t>
            </a:r>
            <a:r>
              <a:rPr lang="en-US" altLang="ko-KR" sz="1200" b="0" dirty="0"/>
              <a:t>’)</a:t>
            </a:r>
            <a:r>
              <a:rPr lang="ko-KR" altLang="en-US" sz="1200" b="0" dirty="0"/>
              <a:t>에 대해서는 </a:t>
            </a:r>
            <a:r>
              <a:rPr lang="en-US" altLang="ko-KR" sz="1200" b="0" dirty="0" err="1"/>
              <a:t>MinMax</a:t>
            </a:r>
            <a:r>
              <a:rPr lang="en-US" altLang="ko-KR" sz="1200" b="0" dirty="0"/>
              <a:t> Scaling</a:t>
            </a:r>
            <a:r>
              <a:rPr lang="ko-KR" altLang="en-US" sz="1200" b="0" dirty="0"/>
              <a:t>을 적용하였다</a:t>
            </a:r>
            <a:r>
              <a:rPr lang="en-US" altLang="ko-KR" sz="1200" b="0" dirty="0"/>
              <a:t>.</a:t>
            </a:r>
          </a:p>
          <a:p>
            <a:pPr marL="0" indent="0">
              <a:buNone/>
            </a:pPr>
            <a:r>
              <a:rPr lang="ko-KR" altLang="en-US" sz="1200" b="0" dirty="0"/>
              <a:t>또한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목적함수 </a:t>
            </a:r>
            <a:r>
              <a:rPr lang="en-US" altLang="ko-KR" sz="1200" b="0" dirty="0"/>
              <a:t>‘</a:t>
            </a:r>
            <a:r>
              <a:rPr lang="en-US" altLang="ko-KR" sz="1200" b="0" dirty="0" err="1"/>
              <a:t>average_T</a:t>
            </a:r>
            <a:r>
              <a:rPr lang="en-US" altLang="ko-KR" sz="1200" b="0" dirty="0"/>
              <a:t>’</a:t>
            </a:r>
            <a:r>
              <a:rPr lang="ko-KR" altLang="en-US" sz="1200" b="0" dirty="0"/>
              <a:t>는 최대화를 목표로 하였기 때문에 </a:t>
            </a:r>
            <a:r>
              <a:rPr lang="en-US" altLang="ko-KR" sz="1200" b="0" dirty="0"/>
              <a:t>y</a:t>
            </a:r>
            <a:r>
              <a:rPr lang="ko-KR" altLang="en-US" sz="1200" b="0" dirty="0"/>
              <a:t>값을 음수로 변환하여 최적화를 진행하였다</a:t>
            </a:r>
            <a:r>
              <a:rPr lang="en-US" altLang="ko-KR" sz="1200" b="0" dirty="0"/>
              <a:t>.</a:t>
            </a:r>
          </a:p>
          <a:p>
            <a:pPr marL="0" indent="0">
              <a:buNone/>
            </a:pPr>
            <a:endParaRPr lang="en-US" altLang="ko-KR" sz="1200" b="0" dirty="0"/>
          </a:p>
          <a:p>
            <a:pPr marL="0" indent="0">
              <a:buNone/>
            </a:pPr>
            <a:r>
              <a:rPr lang="ko-KR" altLang="en-US" sz="1200" b="0" dirty="0"/>
              <a:t>데이터는 </a:t>
            </a:r>
            <a:r>
              <a:rPr lang="en-US" altLang="ko-KR" sz="1200" b="0" dirty="0" err="1"/>
              <a:t>train_test_split</a:t>
            </a:r>
            <a:r>
              <a:rPr lang="ko-KR" altLang="en-US" sz="1200" b="0" dirty="0"/>
              <a:t>을 사용하여 훈련 데이터와 테스트 데이터로 분리하였으며</a:t>
            </a:r>
            <a:r>
              <a:rPr lang="en-US" altLang="ko-KR" sz="1200" b="0" dirty="0"/>
              <a:t>, SVR </a:t>
            </a:r>
            <a:r>
              <a:rPr lang="ko-KR" altLang="en-US" sz="1200" b="0" dirty="0"/>
              <a:t>모델의 </a:t>
            </a:r>
            <a:r>
              <a:rPr lang="ko-KR" altLang="en-US" sz="1200" b="0" dirty="0" err="1"/>
              <a:t>하이퍼파라미터</a:t>
            </a:r>
            <a:r>
              <a:rPr lang="ko-KR" altLang="en-US" sz="1200" b="0" dirty="0"/>
              <a:t> 튜닝은 </a:t>
            </a:r>
            <a:r>
              <a:rPr lang="en-US" altLang="ko-KR" sz="1200" b="0" dirty="0" err="1"/>
              <a:t>RandomizedSearhCV</a:t>
            </a:r>
            <a:r>
              <a:rPr lang="ko-KR" altLang="en-US" sz="1200" b="0" dirty="0"/>
              <a:t>를 통해 수행 되었다</a:t>
            </a:r>
            <a:r>
              <a:rPr lang="en-US" altLang="ko-KR" sz="1200" b="0" dirty="0"/>
              <a:t>. </a:t>
            </a:r>
          </a:p>
          <a:p>
            <a:pPr marL="0" indent="0">
              <a:buNone/>
            </a:pPr>
            <a:r>
              <a:rPr lang="ko-KR" altLang="en-US" sz="1200" b="0" dirty="0"/>
              <a:t>사용한 </a:t>
            </a:r>
            <a:r>
              <a:rPr lang="en-US" altLang="ko-KR" sz="1200" b="0" dirty="0"/>
              <a:t>parameter search Grid</a:t>
            </a:r>
            <a:r>
              <a:rPr lang="ko-KR" altLang="en-US" sz="1200" b="0" dirty="0"/>
              <a:t>는 다음과 같다</a:t>
            </a:r>
            <a:r>
              <a:rPr lang="en-US" altLang="ko-KR" sz="1200" b="0" dirty="0"/>
              <a:t>.</a:t>
            </a:r>
          </a:p>
          <a:p>
            <a:pPr marL="0" indent="0">
              <a:buNone/>
            </a:pPr>
            <a:endParaRPr lang="en-US" altLang="ko-KR" sz="1200" b="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200" dirty="0"/>
              <a:t>C </a:t>
            </a:r>
            <a:r>
              <a:rPr lang="en-US" altLang="ko-KR" sz="1200" b="0" dirty="0"/>
              <a:t>: [0.01, 0.1, 1, 10, 100]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200" dirty="0"/>
              <a:t>kernel </a:t>
            </a:r>
            <a:r>
              <a:rPr lang="en-US" altLang="ko-KR" sz="1200" b="0" dirty="0"/>
              <a:t>: [‘poly’, ‘</a:t>
            </a:r>
            <a:r>
              <a:rPr lang="en-US" altLang="ko-KR" sz="1200" b="0" dirty="0" err="1"/>
              <a:t>rbf</a:t>
            </a:r>
            <a:r>
              <a:rPr lang="en-US" altLang="ko-KR" sz="1200" b="0" dirty="0"/>
              <a:t>’]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200" dirty="0"/>
              <a:t>gamma </a:t>
            </a:r>
            <a:r>
              <a:rPr lang="en-US" altLang="ko-KR" sz="1200" b="0" dirty="0"/>
              <a:t>: [‘scale’, ‘auto’, 0.001, 0.01, 0.1, 1]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200" dirty="0"/>
              <a:t>epsilon </a:t>
            </a:r>
            <a:r>
              <a:rPr lang="en-US" altLang="ko-KR" sz="1200" b="0" dirty="0"/>
              <a:t>: [0.001, 0.01, 0.1, 0.5, 1]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1200" b="0" dirty="0"/>
          </a:p>
          <a:p>
            <a:pPr marL="0" indent="0">
              <a:buNone/>
            </a:pPr>
            <a:endParaRPr lang="en-US" altLang="ko-KR" sz="1200" b="0" dirty="0"/>
          </a:p>
          <a:p>
            <a:pPr marL="0" indent="0">
              <a:buNone/>
            </a:pPr>
            <a:r>
              <a:rPr lang="sv-SE" altLang="ko-KR" sz="1200" b="0" dirty="0"/>
              <a:t>RandomizedSearchCV</a:t>
            </a:r>
            <a:r>
              <a:rPr lang="ko-KR" altLang="en-US" sz="1200" b="0" dirty="0"/>
              <a:t>에서는 </a:t>
            </a:r>
            <a:r>
              <a:rPr lang="en-US" altLang="ko-KR" sz="1200" b="0" dirty="0"/>
              <a:t>SVR </a:t>
            </a:r>
            <a:r>
              <a:rPr lang="ko-KR" altLang="en-US" sz="1200" b="0" dirty="0"/>
              <a:t>모델을 사용하였고</a:t>
            </a:r>
            <a:r>
              <a:rPr lang="en-US" altLang="ko-KR" sz="1200" b="0" dirty="0"/>
              <a:t>, </a:t>
            </a:r>
            <a:r>
              <a:rPr lang="en-US" altLang="ko-KR" sz="1200" b="0" dirty="0" err="1"/>
              <a:t>pram_dist</a:t>
            </a:r>
            <a:r>
              <a:rPr lang="en-US" altLang="ko-KR" sz="1200" b="0" dirty="0"/>
              <a:t> </a:t>
            </a:r>
            <a:r>
              <a:rPr lang="ko-KR" altLang="en-US" sz="1200" b="0" dirty="0"/>
              <a:t>를 위와 같이 설정한 후</a:t>
            </a:r>
            <a:r>
              <a:rPr lang="en-US" altLang="ko-KR" sz="1200" b="0" dirty="0"/>
              <a:t>, </a:t>
            </a:r>
            <a:r>
              <a:rPr lang="en-US" altLang="ko-KR" sz="1200" b="0" dirty="0" err="1"/>
              <a:t>n_iter</a:t>
            </a:r>
            <a:r>
              <a:rPr lang="en-US" altLang="ko-KR" sz="1200" b="0" dirty="0"/>
              <a:t>=5, scoring=’</a:t>
            </a:r>
            <a:r>
              <a:rPr lang="en-US" altLang="ko-KR" sz="1200" b="0" dirty="0" err="1"/>
              <a:t>neg_mean_squared_error</a:t>
            </a:r>
            <a:r>
              <a:rPr lang="en-US" altLang="ko-KR" sz="1200" b="0" dirty="0"/>
              <a:t>’, cv=5</a:t>
            </a:r>
            <a:r>
              <a:rPr lang="ko-KR" altLang="en-US" sz="1200" b="0" dirty="0"/>
              <a:t>로 </a:t>
            </a:r>
            <a:r>
              <a:rPr lang="ko-KR" altLang="en-US" sz="1200" b="0" dirty="0" err="1"/>
              <a:t>하이퍼파라미터</a:t>
            </a:r>
            <a:r>
              <a:rPr lang="ko-KR" altLang="en-US" sz="1200" b="0" dirty="0"/>
              <a:t> 탐색을 진행하였다</a:t>
            </a:r>
            <a:r>
              <a:rPr lang="en-US" altLang="ko-KR" sz="1200" b="0" dirty="0"/>
              <a:t>.</a:t>
            </a:r>
          </a:p>
          <a:p>
            <a:pPr marL="0" indent="0">
              <a:buNone/>
            </a:pPr>
            <a:endParaRPr lang="en-US" altLang="ko-KR" sz="1200" b="0" dirty="0"/>
          </a:p>
          <a:p>
            <a:pPr marL="0" indent="0">
              <a:buNone/>
            </a:pPr>
            <a:r>
              <a:rPr lang="ko-KR" altLang="en-US" sz="1200" b="0" dirty="0"/>
              <a:t>최종적으로 최적의 </a:t>
            </a:r>
            <a:r>
              <a:rPr lang="en-US" altLang="ko-KR" sz="1200" b="0" dirty="0"/>
              <a:t>SVR </a:t>
            </a:r>
            <a:r>
              <a:rPr lang="ko-KR" altLang="en-US" sz="1200" b="0" dirty="0" err="1"/>
              <a:t>하이퍼파라미터는</a:t>
            </a:r>
            <a:r>
              <a:rPr lang="ko-KR" altLang="en-US" sz="1200" b="0" dirty="0"/>
              <a:t> </a:t>
            </a:r>
            <a:r>
              <a:rPr lang="en-US" altLang="ko-KR" sz="1200" b="0" dirty="0"/>
              <a:t>SVR(C=10, kernel=‘</a:t>
            </a:r>
            <a:r>
              <a:rPr lang="en-US" altLang="ko-KR" sz="1200" b="0" dirty="0" err="1"/>
              <a:t>rbf</a:t>
            </a:r>
            <a:r>
              <a:rPr lang="en-US" altLang="ko-KR" sz="1200" b="0" dirty="0"/>
              <a:t>’, epsilon=0.01, gamma=1)</a:t>
            </a:r>
            <a:r>
              <a:rPr lang="ko-KR" altLang="en-US" sz="1200" b="0" dirty="0"/>
              <a:t>로 도출되었으며</a:t>
            </a:r>
            <a:r>
              <a:rPr lang="en-US" altLang="ko-KR" sz="1200" b="0" dirty="0"/>
              <a:t>, 4</a:t>
            </a:r>
            <a:r>
              <a:rPr lang="ko-KR" altLang="en-US" sz="1200" b="0" dirty="0"/>
              <a:t>개의 목적함수 모두에서 최적 파라미터를 얻었다</a:t>
            </a:r>
            <a:r>
              <a:rPr lang="en-US" altLang="ko-KR" sz="1200" b="0" dirty="0"/>
              <a:t>.</a:t>
            </a:r>
            <a:endParaRPr lang="sv-SE" altLang="ko-KR" sz="1200" b="0" dirty="0"/>
          </a:p>
          <a:p>
            <a:pPr marL="0" indent="0">
              <a:buNone/>
            </a:pPr>
            <a:endParaRPr lang="sv-SE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480E75-94CD-4C87-8CE8-D1C3A0897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350DB-AEC6-4A70-8DA2-773581ABAB77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84046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30087D-E794-4B5F-A30E-92CA9D712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2C13B86-2F99-4075-BB67-8F79B471A6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3761" y="780273"/>
                <a:ext cx="8229600" cy="303969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ko-KR" altLang="en-US" sz="1200" b="0" dirty="0"/>
                  <a:t>최적 파라미터를 바탕으로 모델을 학습한 후</a:t>
                </a:r>
                <a:r>
                  <a:rPr lang="en-US" altLang="ko-KR" sz="1200" b="0" dirty="0"/>
                  <a:t>, </a:t>
                </a:r>
                <a:r>
                  <a:rPr lang="ko-KR" altLang="en-US" sz="1200" b="0" dirty="0"/>
                  <a:t>테스트 데이터로 사용하여 예측한 결과</a:t>
                </a:r>
                <a:r>
                  <a:rPr lang="en-US" altLang="ko-KR" sz="1200" b="0" dirty="0"/>
                  <a:t>, </a:t>
                </a:r>
                <a:r>
                  <a:rPr lang="ko-KR" altLang="en-US" sz="1200" b="0" dirty="0"/>
                  <a:t>각 목적함수에 대한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200" b="0" i="0" smtClean="0">
                        <a:latin typeface="Cambria Math" panose="02040503050406030204" pitchFamily="18" charset="0"/>
                      </a:rPr>
                      <m:t>score</m:t>
                    </m:r>
                    <m:r>
                      <a:rPr lang="en-US" altLang="ko-KR" sz="12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200" b="0" dirty="0"/>
                  <a:t>값은 다음과 같이 나타났다</a:t>
                </a:r>
                <a:r>
                  <a:rPr lang="en-US" altLang="ko-KR" sz="1200" b="0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ko-KR" sz="1200" dirty="0" err="1"/>
                  <a:t>Average_T</a:t>
                </a:r>
                <a:r>
                  <a:rPr lang="ko-KR" altLang="en-US" sz="1200" b="0" dirty="0"/>
                  <a:t> </a:t>
                </a:r>
                <a:r>
                  <a:rPr lang="en-US" altLang="ko-KR" sz="1200" b="0" dirty="0"/>
                  <a:t>:</a:t>
                </a:r>
                <a:r>
                  <a:rPr lang="ko-KR" altLang="en-US" sz="1200" b="0" dirty="0"/>
                  <a:t> </a:t>
                </a:r>
                <a:r>
                  <a:rPr lang="en-US" altLang="ko-KR" sz="1200" b="0" dirty="0"/>
                  <a:t>0.9970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ko-KR" sz="1200" dirty="0" err="1"/>
                  <a:t>Torque_Ripple</a:t>
                </a:r>
                <a:r>
                  <a:rPr lang="en-US" altLang="ko-KR" sz="1200" dirty="0"/>
                  <a:t> </a:t>
                </a:r>
                <a:r>
                  <a:rPr lang="en-US" altLang="ko-KR" sz="1200" b="0" dirty="0"/>
                  <a:t>: 0.9952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ko-KR" sz="1200" dirty="0" err="1"/>
                  <a:t>Cogging_T</a:t>
                </a:r>
                <a:r>
                  <a:rPr lang="en-US" altLang="ko-KR" sz="1200" b="0" dirty="0"/>
                  <a:t> : 0.9958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ko-KR" sz="1200" dirty="0" err="1"/>
                  <a:t>Slot_Area</a:t>
                </a:r>
                <a:r>
                  <a:rPr lang="ko-KR" altLang="en-US" sz="1200" dirty="0"/>
                  <a:t> </a:t>
                </a:r>
                <a:r>
                  <a:rPr lang="en-US" altLang="ko-KR" sz="1200" b="0" dirty="0"/>
                  <a:t>:</a:t>
                </a:r>
                <a:r>
                  <a:rPr lang="ko-KR" altLang="en-US" sz="1200" b="0" dirty="0"/>
                  <a:t> </a:t>
                </a:r>
                <a:r>
                  <a:rPr lang="en-US" altLang="ko-KR" sz="1200" b="0" dirty="0"/>
                  <a:t>0.9907</a:t>
                </a:r>
              </a:p>
              <a:p>
                <a:pPr marL="0" indent="0">
                  <a:buNone/>
                </a:pPr>
                <a:r>
                  <a:rPr lang="ko-KR" altLang="en-US" sz="1200" b="0" dirty="0"/>
                  <a:t>각 모델에서 변수의 특징 중요도를 평가하기 위해 </a:t>
                </a:r>
                <a:r>
                  <a:rPr lang="en-US" altLang="ko-KR" sz="1200" b="0" dirty="0" err="1"/>
                  <a:t>Permutation_importance</a:t>
                </a:r>
                <a:r>
                  <a:rPr lang="ko-KR" altLang="en-US" sz="1200" b="0" dirty="0"/>
                  <a:t>를</a:t>
                </a:r>
                <a:r>
                  <a:rPr lang="en-US" altLang="ko-KR" sz="1200" b="0" dirty="0"/>
                  <a:t> </a:t>
                </a:r>
                <a:r>
                  <a:rPr lang="ko-KR" altLang="en-US" sz="1200" b="0" dirty="0"/>
                  <a:t>적용하였으며</a:t>
                </a:r>
                <a:r>
                  <a:rPr lang="en-US" altLang="ko-KR" sz="1200" b="0" dirty="0"/>
                  <a:t>, </a:t>
                </a:r>
                <a:r>
                  <a:rPr lang="ko-KR" altLang="en-US" sz="1200" b="0" dirty="0"/>
                  <a:t>그 결과는 아래와 나타났다</a:t>
                </a:r>
                <a:r>
                  <a:rPr lang="en-US" altLang="ko-KR" sz="1200" b="0" dirty="0"/>
                  <a:t>.</a:t>
                </a:r>
              </a:p>
              <a:p>
                <a:endParaRPr lang="ko-KR" altLang="en-US" sz="1200" b="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2C13B86-2F99-4075-BB67-8F79B471A6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3761" y="780273"/>
                <a:ext cx="8229600" cy="303969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2C0214-80B9-4F9B-8C5D-160DEB675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350DB-AEC6-4A70-8DA2-773581ABAB77}" type="slidenum">
              <a:rPr lang="ko-KR" altLang="en-US" smtClean="0"/>
              <a:pPr/>
              <a:t>17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F2FAF51-C5BD-4977-AF24-E04AE9E27A3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96" t="7426" r="8799" b="3524"/>
          <a:stretch/>
        </p:blipFill>
        <p:spPr>
          <a:xfrm>
            <a:off x="1468955" y="2509589"/>
            <a:ext cx="2918628" cy="183882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4E90976-AFA4-4562-AFB6-22791407A62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15" t="5475" r="8779" b="3004"/>
          <a:stretch/>
        </p:blipFill>
        <p:spPr>
          <a:xfrm>
            <a:off x="4441071" y="2509589"/>
            <a:ext cx="2918629" cy="190263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0E99D56-BAF1-4C08-AEF7-85F354A56EE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94" t="5271" r="7669" b="2072"/>
          <a:stretch/>
        </p:blipFill>
        <p:spPr>
          <a:xfrm>
            <a:off x="4406634" y="4384423"/>
            <a:ext cx="2981641" cy="191329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8D7853A-76B1-4830-BA85-00BFC1571F8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66" t="5132" r="7598" b="2211"/>
          <a:stretch/>
        </p:blipFill>
        <p:spPr>
          <a:xfrm>
            <a:off x="1459430" y="4348411"/>
            <a:ext cx="2981641" cy="1913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917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449E61-0C2F-4624-AA80-412C86C0A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9609F6-B608-40E8-9C2F-7F284EB15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086" y="901526"/>
            <a:ext cx="8229600" cy="5054947"/>
          </a:xfrm>
        </p:spPr>
        <p:txBody>
          <a:bodyPr/>
          <a:lstStyle/>
          <a:p>
            <a:r>
              <a:rPr lang="ko-KR" altLang="en-US" dirty="0"/>
              <a:t>모델평가 </a:t>
            </a:r>
            <a:r>
              <a:rPr lang="en-US" altLang="ko-KR" dirty="0"/>
              <a:t>: Permutation Importance </a:t>
            </a:r>
            <a:r>
              <a:rPr lang="ko-KR" altLang="en-US" dirty="0"/>
              <a:t>분석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pPr marL="0" indent="0">
              <a:buNone/>
            </a:pPr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pPr lvl="1"/>
            <a:r>
              <a:rPr lang="ko-KR" altLang="en-US" sz="1200" dirty="0"/>
              <a:t>분석 결과</a:t>
            </a:r>
            <a:r>
              <a:rPr lang="en-US" altLang="ko-KR" sz="1200" dirty="0"/>
              <a:t>, ‘</a:t>
            </a:r>
            <a:r>
              <a:rPr lang="en-US" altLang="ko-KR" sz="1200" dirty="0" err="1"/>
              <a:t>average_T</a:t>
            </a:r>
            <a:r>
              <a:rPr lang="en-US" altLang="ko-KR" sz="1200" dirty="0"/>
              <a:t>’</a:t>
            </a:r>
            <a:r>
              <a:rPr lang="ko-KR" altLang="en-US" sz="1200" dirty="0"/>
              <a:t>에서는 </a:t>
            </a:r>
            <a:r>
              <a:rPr lang="en-US" altLang="ko-KR" sz="1200" dirty="0"/>
              <a:t>V_rotor_r1</a:t>
            </a:r>
            <a:r>
              <a:rPr lang="ko-KR" altLang="en-US" sz="1200" dirty="0"/>
              <a:t>이 </a:t>
            </a:r>
            <a:r>
              <a:rPr lang="en-US" altLang="ko-KR" sz="1200" dirty="0"/>
              <a:t>‘</a:t>
            </a:r>
            <a:r>
              <a:rPr lang="en-US" altLang="ko-KR" sz="1200" dirty="0" err="1"/>
              <a:t>Torque_Ripple</a:t>
            </a:r>
            <a:r>
              <a:rPr lang="en-US" altLang="ko-KR" sz="1200" dirty="0"/>
              <a:t>’</a:t>
            </a:r>
            <a:r>
              <a:rPr lang="ko-KR" altLang="en-US" sz="1200" dirty="0"/>
              <a:t>에서는 </a:t>
            </a:r>
            <a:r>
              <a:rPr lang="en-US" altLang="ko-KR" sz="1200" dirty="0"/>
              <a:t>V_rotor_r1</a:t>
            </a:r>
            <a:r>
              <a:rPr lang="ko-KR" altLang="en-US" sz="1200" dirty="0"/>
              <a:t>과 </a:t>
            </a:r>
            <a:r>
              <a:rPr lang="en-US" altLang="ko-KR" sz="1200" dirty="0" err="1"/>
              <a:t>V_Opening_W</a:t>
            </a:r>
            <a:r>
              <a:rPr lang="en-US" altLang="ko-KR" sz="1200" dirty="0"/>
              <a:t>,</a:t>
            </a:r>
            <a:r>
              <a:rPr lang="ko-KR" altLang="en-US" sz="1200" dirty="0"/>
              <a:t> </a:t>
            </a:r>
            <a:r>
              <a:rPr lang="en-US" altLang="ko-KR" sz="1200" dirty="0"/>
              <a:t>‘</a:t>
            </a:r>
            <a:r>
              <a:rPr lang="en-US" altLang="ko-KR" sz="1200" dirty="0" err="1"/>
              <a:t>Cogging_T</a:t>
            </a:r>
            <a:r>
              <a:rPr lang="en-US" altLang="ko-KR" sz="1200" dirty="0"/>
              <a:t>’</a:t>
            </a:r>
            <a:r>
              <a:rPr lang="ko-KR" altLang="en-US" sz="1200" dirty="0"/>
              <a:t>에서는 </a:t>
            </a:r>
            <a:r>
              <a:rPr lang="en-US" altLang="ko-KR" sz="1200" dirty="0" err="1"/>
              <a:t>V_Opening_W</a:t>
            </a:r>
            <a:r>
              <a:rPr lang="en-US" altLang="ko-KR" sz="1200" dirty="0"/>
              <a:t>, ‘Slot Area’</a:t>
            </a:r>
            <a:r>
              <a:rPr lang="ko-KR" altLang="en-US" sz="1200" dirty="0"/>
              <a:t>에서는 </a:t>
            </a:r>
            <a:r>
              <a:rPr lang="en-US" altLang="ko-KR" sz="1200" dirty="0" err="1"/>
              <a:t>V_Tooth_W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V_Shoe_A</a:t>
            </a:r>
            <a:r>
              <a:rPr lang="ko-KR" altLang="en-US" sz="1200" dirty="0"/>
              <a:t>이 목적함수에서 높은 중요도를 보이며</a:t>
            </a:r>
            <a:r>
              <a:rPr lang="en-US" altLang="ko-KR" sz="1200" dirty="0"/>
              <a:t>, </a:t>
            </a:r>
            <a:r>
              <a:rPr lang="ko-KR" altLang="en-US" sz="1200" dirty="0"/>
              <a:t>모델의 성능에 크게 </a:t>
            </a:r>
            <a:r>
              <a:rPr lang="ko-KR" altLang="en-US" sz="1200" dirty="0" err="1"/>
              <a:t>기여한것으로</a:t>
            </a:r>
            <a:r>
              <a:rPr lang="ko-KR" altLang="en-US" sz="1200" dirty="0"/>
              <a:t> 확인 되었다</a:t>
            </a:r>
            <a:r>
              <a:rPr lang="en-US" altLang="ko-KR" sz="1200" dirty="0"/>
              <a:t>. </a:t>
            </a:r>
            <a:r>
              <a:rPr lang="en-US" altLang="ko-KR" sz="1200" dirty="0" err="1"/>
              <a:t>V_Opening_A</a:t>
            </a:r>
            <a:r>
              <a:rPr lang="ko-KR" altLang="en-US" sz="1200" dirty="0"/>
              <a:t>는 상대적으로 낮은 중요도를 나타내</a:t>
            </a:r>
            <a:r>
              <a:rPr lang="en-US" altLang="ko-KR" sz="1200" dirty="0"/>
              <a:t>, </a:t>
            </a:r>
            <a:r>
              <a:rPr lang="ko-KR" altLang="en-US" sz="1200" dirty="0"/>
              <a:t>해당 변수가 모델에서 차지하는 비중이 적다는 것을 알 수 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8CC8B8-5CAB-443A-BCE0-BD3D93368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350DB-AEC6-4A70-8DA2-773581ABAB77}" type="slidenum">
              <a:rPr lang="ko-KR" altLang="en-US" smtClean="0"/>
              <a:pPr/>
              <a:t>18</a:t>
            </a:fld>
            <a:endParaRPr lang="ko-KR" altLang="en-US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444FF871-5C53-4759-BDC7-D7061E7017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289615"/>
              </p:ext>
            </p:extLst>
          </p:nvPr>
        </p:nvGraphicFramePr>
        <p:xfrm>
          <a:off x="1328737" y="1492250"/>
          <a:ext cx="6777039" cy="2538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8738">
                  <a:extLst>
                    <a:ext uri="{9D8B030D-6E8A-4147-A177-3AD203B41FA5}">
                      <a16:colId xmlns:a16="http://schemas.microsoft.com/office/drawing/2014/main" val="3388918540"/>
                    </a:ext>
                  </a:extLst>
                </a:gridCol>
                <a:gridCol w="1304925">
                  <a:extLst>
                    <a:ext uri="{9D8B030D-6E8A-4147-A177-3AD203B41FA5}">
                      <a16:colId xmlns:a16="http://schemas.microsoft.com/office/drawing/2014/main" val="1919349404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3729966961"/>
                    </a:ext>
                  </a:extLst>
                </a:gridCol>
                <a:gridCol w="1355408">
                  <a:extLst>
                    <a:ext uri="{9D8B030D-6E8A-4147-A177-3AD203B41FA5}">
                      <a16:colId xmlns:a16="http://schemas.microsoft.com/office/drawing/2014/main" val="3068693391"/>
                    </a:ext>
                  </a:extLst>
                </a:gridCol>
                <a:gridCol w="1355408">
                  <a:extLst>
                    <a:ext uri="{9D8B030D-6E8A-4147-A177-3AD203B41FA5}">
                      <a16:colId xmlns:a16="http://schemas.microsoft.com/office/drawing/2014/main" val="304980008"/>
                    </a:ext>
                  </a:extLst>
                </a:gridCol>
              </a:tblGrid>
              <a:tr h="2839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변수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tx1"/>
                          </a:solidFill>
                        </a:rPr>
                        <a:t>average_T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tx1"/>
                          </a:solidFill>
                        </a:rPr>
                        <a:t>Torque_Ripple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tx1"/>
                          </a:solidFill>
                        </a:rPr>
                        <a:t>Cogging_T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tx1"/>
                          </a:solidFill>
                        </a:rPr>
                        <a:t>Slot_Area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751466"/>
                  </a:ext>
                </a:extLst>
              </a:tr>
              <a:tr h="3710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V_rotor_r1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1.7112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1.1122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0.4896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0.2865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694061"/>
                  </a:ext>
                </a:extLst>
              </a:tr>
              <a:tr h="3710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V_Opening_A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-0.0007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0.0149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0.0136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-0.0019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001824"/>
                  </a:ext>
                </a:extLst>
              </a:tr>
              <a:tr h="3785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V_Opening_W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0.0523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0.7598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1.5282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0.0882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6474554"/>
                  </a:ext>
                </a:extLst>
              </a:tr>
              <a:tr h="3710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V_Shoe_A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-0.0003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-0.0004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-0.0008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0.587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605084"/>
                  </a:ext>
                </a:extLst>
              </a:tr>
              <a:tr h="3710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V_Shoe_W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0.0155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0.0012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0.0048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0.2663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040528"/>
                  </a:ext>
                </a:extLst>
              </a:tr>
              <a:tr h="3710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V_Tooth_W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0.2101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0.0639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-0.0007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0.7449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241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7385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F33995-7535-4AD1-ACE4-DB26D1197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BA7FAE-626B-4683-8F54-56ADD9936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778142"/>
            <a:ext cx="8534400" cy="5717908"/>
          </a:xfrm>
        </p:spPr>
        <p:txBody>
          <a:bodyPr/>
          <a:lstStyle/>
          <a:p>
            <a:r>
              <a:rPr lang="ko-KR" altLang="en-US" dirty="0"/>
              <a:t>대리 모델 구성</a:t>
            </a:r>
            <a:endParaRPr lang="en-US" altLang="ko-KR" dirty="0"/>
          </a:p>
          <a:p>
            <a:pPr lvl="1"/>
            <a:r>
              <a:rPr lang="ko-KR" altLang="en-US" sz="1200" b="0" dirty="0"/>
              <a:t>본 </a:t>
            </a:r>
            <a:r>
              <a:rPr lang="ko-KR" altLang="en-US" sz="1200" b="0" dirty="0" err="1"/>
              <a:t>연구에선는</a:t>
            </a:r>
            <a:r>
              <a:rPr lang="ko-KR" altLang="en-US" sz="1200" b="0" dirty="0"/>
              <a:t> 대리 모델을 통해 실험 데이터를 학습하고</a:t>
            </a:r>
            <a:r>
              <a:rPr lang="en-US" altLang="ko-KR" sz="1200" b="0" dirty="0"/>
              <a:t>, NSGA-3 </a:t>
            </a:r>
            <a:r>
              <a:rPr lang="ko-KR" altLang="en-US" sz="1200" b="0" dirty="0"/>
              <a:t>알고리즘의 최적화 효율을 높였다</a:t>
            </a:r>
            <a:r>
              <a:rPr lang="en-US" altLang="ko-KR" sz="1200" b="0" dirty="0"/>
              <a:t>. </a:t>
            </a:r>
            <a:r>
              <a:rPr lang="ko-KR" altLang="en-US" sz="1200" b="0" dirty="0"/>
              <a:t>대리모델은 고비용 시뮬레이션 대신 예측 모델을 사용하여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최적화를 더 빠르게 진행 할 수 있도록 설계 하였다</a:t>
            </a:r>
            <a:r>
              <a:rPr lang="en-US" altLang="ko-KR" sz="1200" b="0" dirty="0"/>
              <a:t>. </a:t>
            </a:r>
            <a:r>
              <a:rPr lang="ko-KR" altLang="en-US" sz="1200" b="0" dirty="0"/>
              <a:t>목적함수는 </a:t>
            </a:r>
            <a:r>
              <a:rPr lang="en-US" altLang="ko-KR" sz="1200" b="0" dirty="0"/>
              <a:t>‘average_T’,‘</a:t>
            </a:r>
            <a:r>
              <a:rPr lang="en-US" altLang="ko-KR" sz="1200" b="0" dirty="0" err="1"/>
              <a:t>Torque_Rippe</a:t>
            </a:r>
            <a:r>
              <a:rPr lang="en-US" altLang="ko-KR" sz="1200" b="0" dirty="0"/>
              <a:t>’, ’</a:t>
            </a:r>
            <a:r>
              <a:rPr lang="en-US" altLang="ko-KR" sz="1200" b="0" dirty="0" err="1"/>
              <a:t>Cogging_T</a:t>
            </a:r>
            <a:r>
              <a:rPr lang="en-US" altLang="ko-KR" sz="1200" b="0" dirty="0"/>
              <a:t>’</a:t>
            </a:r>
            <a:r>
              <a:rPr lang="ko-KR" altLang="en-US" sz="1200" b="0" dirty="0"/>
              <a:t>으로 두고 제약 조건은 </a:t>
            </a:r>
            <a:r>
              <a:rPr lang="en-US" altLang="ko-KR" sz="1200" b="0" dirty="0"/>
              <a:t>‘</a:t>
            </a:r>
            <a:r>
              <a:rPr lang="en-US" altLang="ko-KR" sz="1200" b="0" dirty="0" err="1"/>
              <a:t>Slot_Area</a:t>
            </a:r>
            <a:r>
              <a:rPr lang="en-US" altLang="ko-KR" sz="1200" b="0" dirty="0"/>
              <a:t>’</a:t>
            </a:r>
            <a:r>
              <a:rPr lang="ko-KR" altLang="en-US" sz="1200" b="0" dirty="0"/>
              <a:t>로 정의 하였으며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이를 통해 다목적 최적화를 효과적으로 수행하였다</a:t>
            </a:r>
            <a:r>
              <a:rPr lang="en-US" altLang="ko-KR" sz="1200" b="0" dirty="0"/>
              <a:t>.</a:t>
            </a:r>
          </a:p>
          <a:p>
            <a:pPr lvl="1"/>
            <a:endParaRPr lang="en-US" altLang="ko-KR" sz="1200" dirty="0"/>
          </a:p>
          <a:p>
            <a:r>
              <a:rPr lang="en-US" altLang="ko-KR" dirty="0"/>
              <a:t>NSGA-3</a:t>
            </a:r>
            <a:r>
              <a:rPr lang="ko-KR" altLang="en-US" dirty="0"/>
              <a:t> 알고리즘의 구성 및 최적화 과정</a:t>
            </a:r>
            <a:endParaRPr lang="en-US" altLang="ko-KR" dirty="0"/>
          </a:p>
          <a:p>
            <a:pPr marL="0" indent="0">
              <a:buNone/>
            </a:pPr>
            <a:endParaRPr lang="en-US" altLang="ko-KR" b="0" dirty="0"/>
          </a:p>
          <a:p>
            <a:pPr marL="0" indent="0">
              <a:buNone/>
            </a:pPr>
            <a:endParaRPr lang="en-US" altLang="ko-KR" b="0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B55319-AA04-4E08-A746-2711ED1FD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350DB-AEC6-4A70-8DA2-773581ABAB77}" type="slidenum">
              <a:rPr lang="ko-KR" altLang="en-US" smtClean="0"/>
              <a:pPr/>
              <a:t>19</a:t>
            </a:fld>
            <a:endParaRPr lang="ko-KR" altLang="en-US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E50B62E8-1FD8-4D51-BA30-98CF1FACC2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6155994"/>
              </p:ext>
            </p:extLst>
          </p:nvPr>
        </p:nvGraphicFramePr>
        <p:xfrm>
          <a:off x="721360" y="2362200"/>
          <a:ext cx="7679690" cy="3899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4265">
                  <a:extLst>
                    <a:ext uri="{9D8B030D-6E8A-4147-A177-3AD203B41FA5}">
                      <a16:colId xmlns:a16="http://schemas.microsoft.com/office/drawing/2014/main" val="793840503"/>
                    </a:ext>
                  </a:extLst>
                </a:gridCol>
                <a:gridCol w="5305425">
                  <a:extLst>
                    <a:ext uri="{9D8B030D-6E8A-4147-A177-3AD203B41FA5}">
                      <a16:colId xmlns:a16="http://schemas.microsoft.com/office/drawing/2014/main" val="965541379"/>
                    </a:ext>
                  </a:extLst>
                </a:gridCol>
              </a:tblGrid>
              <a:tr h="47559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347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목적함수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개의 목적 함수 사용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‘average_T’,‘</a:t>
                      </a: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</a:rPr>
                        <a:t>Torque_Rippe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’, ’</a:t>
                      </a: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</a:rPr>
                        <a:t>Cogging_T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610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제약 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개의 제약 조건 사용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</a:rPr>
                        <a:t>Slot_Area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’ -&gt; Above 270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735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평가 함수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 (_evaluate)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목적함수와 제약조건의 적합도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(fitness)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와 위반 여부 평가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2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최적화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(optimize)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각 세대에서의 최적의 해를 반복적으로 찾으며 최적화 진행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547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종료조건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(termination)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</a:rPr>
                        <a:t>xtol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’, ‘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</a:rPr>
                        <a:t>ftol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’, ‘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</a:rPr>
                        <a:t>cvtol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’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을 설정하여 최적화가 설정된 기준에 도달 시 종료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214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참조 방향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</a:rPr>
                        <a:t>ref_dirs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참조 방향을 설정하여 다양한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Pareto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해를 탐색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04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샘플링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(sampling)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초기 해집단을 생성하고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그 후 교차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(crossover)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및 변이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(mutation)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연산 수행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753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중복해 제거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</a:rPr>
                        <a:t>eliminate_duplicates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중복된 해를 제거하여 탐색 공간의 다양성을 유지함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692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최종 결과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(res)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최적화 결과로부터 최종 해 반환 및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Pareto Front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도출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9564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89134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F4C4E5-FD10-42CE-944D-8A06CC788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2DBAB7-A063-4CFB-BDAD-A33478E9C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56894"/>
            <a:ext cx="8229600" cy="5054947"/>
          </a:xfrm>
        </p:spPr>
        <p:txBody>
          <a:bodyPr/>
          <a:lstStyle/>
          <a:p>
            <a:endParaRPr lang="en-US" altLang="ko-KR" dirty="0"/>
          </a:p>
          <a:p>
            <a:r>
              <a:rPr lang="ko-KR" altLang="en-US" dirty="0" err="1"/>
              <a:t>하이퍼파라미터</a:t>
            </a:r>
            <a:r>
              <a:rPr lang="ko-KR" altLang="en-US" dirty="0"/>
              <a:t> 튜닝 및 최적화 설정</a:t>
            </a:r>
            <a:endParaRPr lang="en-US" altLang="ko-KR" dirty="0"/>
          </a:p>
          <a:p>
            <a:pPr lvl="1"/>
            <a:r>
              <a:rPr lang="en-US" altLang="ko-KR" dirty="0"/>
              <a:t>NSGA-3</a:t>
            </a:r>
            <a:r>
              <a:rPr lang="ko-KR" altLang="en-US" dirty="0"/>
              <a:t>의 성능을 최적화하기 위해</a:t>
            </a:r>
            <a:r>
              <a:rPr lang="en-US" altLang="ko-KR" dirty="0"/>
              <a:t>, </a:t>
            </a:r>
            <a:r>
              <a:rPr lang="ko-KR" altLang="en-US" dirty="0"/>
              <a:t>각 단계에서 사용한 설정은 아래와 같다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7A035A-DEDD-4B11-B5D8-BF56F6983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350DB-AEC6-4A70-8DA2-773581ABAB77}" type="slidenum">
              <a:rPr lang="ko-KR" altLang="en-US" smtClean="0"/>
              <a:pPr/>
              <a:t>20</a:t>
            </a:fld>
            <a:endParaRPr lang="ko-KR" altLang="en-US"/>
          </a:p>
        </p:txBody>
      </p:sp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99FB3D29-8EAA-4C3A-ACEE-8C0708D4D0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9627159"/>
              </p:ext>
            </p:extLst>
          </p:nvPr>
        </p:nvGraphicFramePr>
        <p:xfrm>
          <a:off x="566737" y="1882774"/>
          <a:ext cx="8010525" cy="3422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8792">
                  <a:extLst>
                    <a:ext uri="{9D8B030D-6E8A-4147-A177-3AD203B41FA5}">
                      <a16:colId xmlns:a16="http://schemas.microsoft.com/office/drawing/2014/main" val="1837169578"/>
                    </a:ext>
                  </a:extLst>
                </a:gridCol>
                <a:gridCol w="6301733">
                  <a:extLst>
                    <a:ext uri="{9D8B030D-6E8A-4147-A177-3AD203B41FA5}">
                      <a16:colId xmlns:a16="http://schemas.microsoft.com/office/drawing/2014/main" val="4283061572"/>
                    </a:ext>
                  </a:extLst>
                </a:gridCol>
              </a:tblGrid>
              <a:tr h="4889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설정 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293685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초기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n_var</a:t>
                      </a:r>
                      <a:r>
                        <a:rPr lang="en-US" altLang="ko-KR" sz="1200" dirty="0"/>
                        <a:t>=6, </a:t>
                      </a:r>
                      <a:r>
                        <a:rPr lang="en-US" altLang="ko-KR" sz="1200" dirty="0" err="1"/>
                        <a:t>n_obj</a:t>
                      </a:r>
                      <a:r>
                        <a:rPr lang="en-US" altLang="ko-KR" sz="1200" dirty="0"/>
                        <a:t>=3, </a:t>
                      </a:r>
                      <a:r>
                        <a:rPr lang="en-US" altLang="ko-KR" sz="1200" dirty="0" err="1"/>
                        <a:t>n_constr</a:t>
                      </a:r>
                      <a:r>
                        <a:rPr lang="en-US" altLang="ko-KR" sz="1200" dirty="0"/>
                        <a:t>=1, ‘xl, xu’=model</a:t>
                      </a:r>
                      <a:r>
                        <a:rPr lang="ko-KR" altLang="en-US" sz="1200" dirty="0"/>
                        <a:t>의 조건 사용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411498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_evaluate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대리모델</a:t>
                      </a:r>
                      <a:r>
                        <a:rPr lang="en-US" altLang="ko-KR" sz="1200" dirty="0"/>
                        <a:t>(Surrogate Model) </a:t>
                      </a:r>
                      <a:r>
                        <a:rPr lang="ko-KR" altLang="en-US" sz="1200" dirty="0"/>
                        <a:t>결과를 사용하여 </a:t>
                      </a:r>
                      <a:r>
                        <a:rPr lang="en-US" altLang="ko-KR" sz="1200" dirty="0"/>
                        <a:t>SVR </a:t>
                      </a:r>
                      <a:r>
                        <a:rPr lang="ko-KR" altLang="en-US" sz="1200" dirty="0"/>
                        <a:t>모델을 적용하였으며</a:t>
                      </a:r>
                      <a:r>
                        <a:rPr lang="en-US" altLang="ko-KR" sz="1200" dirty="0"/>
                        <a:t>, out[‘F’]</a:t>
                      </a:r>
                      <a:r>
                        <a:rPr lang="ko-KR" altLang="en-US" sz="1200" dirty="0"/>
                        <a:t>에 </a:t>
                      </a:r>
                      <a:r>
                        <a:rPr lang="en-US" altLang="ko-KR" sz="1200" dirty="0"/>
                        <a:t>3</a:t>
                      </a:r>
                      <a:r>
                        <a:rPr lang="ko-KR" altLang="en-US" sz="1200" dirty="0"/>
                        <a:t>개의 목적함수를 넣고</a:t>
                      </a:r>
                      <a:r>
                        <a:rPr lang="en-US" altLang="ko-KR" sz="1200" dirty="0"/>
                        <a:t>, out[‘G’]</a:t>
                      </a:r>
                      <a:r>
                        <a:rPr lang="ko-KR" altLang="en-US" sz="1200" dirty="0"/>
                        <a:t>에 </a:t>
                      </a:r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/>
                        <a:t>개의 제약조건을 포함하였다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963038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참조 방향</a:t>
                      </a:r>
                      <a:r>
                        <a:rPr lang="en-US" altLang="ko-KR" sz="1200" dirty="0"/>
                        <a:t>(</a:t>
                      </a:r>
                      <a:r>
                        <a:rPr lang="en-US" altLang="ko-KR" sz="1200" dirty="0" err="1"/>
                        <a:t>ref_dirs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Pareto </a:t>
                      </a:r>
                      <a:r>
                        <a:rPr lang="ko-KR" altLang="en-US" sz="1200" dirty="0"/>
                        <a:t>최적해 탐색을 위한 참조 방향 설정</a:t>
                      </a:r>
                      <a:r>
                        <a:rPr lang="en-US" altLang="ko-KR" sz="1200" dirty="0"/>
                        <a:t>,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“das-</a:t>
                      </a:r>
                      <a:r>
                        <a:rPr lang="en-US" altLang="ko-KR" sz="1200" dirty="0" err="1"/>
                        <a:t>dennis</a:t>
                      </a:r>
                      <a:r>
                        <a:rPr lang="en-US" altLang="ko-KR" sz="1200" dirty="0"/>
                        <a:t>”, </a:t>
                      </a:r>
                      <a:r>
                        <a:rPr lang="en-US" altLang="ko-KR" sz="1200" dirty="0" err="1"/>
                        <a:t>n_parititions</a:t>
                      </a:r>
                      <a:r>
                        <a:rPr lang="ko-KR" altLang="en-US" sz="1200" dirty="0"/>
                        <a:t>는 </a:t>
                      </a:r>
                      <a:r>
                        <a:rPr lang="en-US" altLang="ko-KR" sz="1200" dirty="0"/>
                        <a:t>40</a:t>
                      </a:r>
                      <a:r>
                        <a:rPr lang="ko-KR" altLang="en-US" sz="1200" dirty="0"/>
                        <a:t>으로 </a:t>
                      </a:r>
                      <a:r>
                        <a:rPr lang="en-US" altLang="ko-KR" sz="1200" dirty="0" err="1"/>
                        <a:t>pop_size</a:t>
                      </a:r>
                      <a:r>
                        <a:rPr lang="ko-KR" altLang="en-US" sz="1200" dirty="0"/>
                        <a:t>는 </a:t>
                      </a:r>
                      <a:r>
                        <a:rPr lang="en-US" altLang="ko-KR" sz="1200" dirty="0"/>
                        <a:t>861</a:t>
                      </a:r>
                      <a:r>
                        <a:rPr lang="ko-KR" altLang="en-US" sz="1200" dirty="0"/>
                        <a:t>로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444090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교차율</a:t>
                      </a:r>
                      <a:r>
                        <a:rPr lang="en-US" altLang="ko-KR" sz="1200" dirty="0"/>
                        <a:t>(crossover rate)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SimulatedBinary</a:t>
                      </a:r>
                      <a:r>
                        <a:rPr lang="en-US" altLang="ko-KR" sz="1200" dirty="0"/>
                        <a:t> Crossover</a:t>
                      </a:r>
                      <a:r>
                        <a:rPr lang="ko-KR" altLang="en-US" sz="1200" dirty="0"/>
                        <a:t>를 사용하였고 </a:t>
                      </a:r>
                      <a:r>
                        <a:rPr lang="en-US" altLang="ko-KR" sz="1200" dirty="0"/>
                        <a:t>0.9</a:t>
                      </a:r>
                      <a:r>
                        <a:rPr lang="ko-KR" altLang="en-US" sz="1200" dirty="0"/>
                        <a:t>의 교차율과 </a:t>
                      </a:r>
                      <a:r>
                        <a:rPr lang="en-US" altLang="ko-KR" sz="1200" dirty="0"/>
                        <a:t>eta</a:t>
                      </a:r>
                      <a:r>
                        <a:rPr lang="ko-KR" altLang="en-US" sz="1200" dirty="0"/>
                        <a:t>를 </a:t>
                      </a:r>
                      <a:r>
                        <a:rPr lang="en-US" altLang="ko-KR" sz="1200" dirty="0"/>
                        <a:t>15</a:t>
                      </a:r>
                      <a:r>
                        <a:rPr lang="ko-KR" altLang="en-US" sz="1200" dirty="0"/>
                        <a:t>로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442336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변이율</a:t>
                      </a:r>
                      <a:r>
                        <a:rPr lang="en-US" altLang="ko-KR" sz="1200" dirty="0"/>
                        <a:t>(mutation rate)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PolynomialMutation</a:t>
                      </a:r>
                      <a:r>
                        <a:rPr lang="ko-KR" altLang="en-US" sz="1200" dirty="0"/>
                        <a:t>을 사용함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654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종료 조건</a:t>
                      </a:r>
                      <a:r>
                        <a:rPr lang="en-US" altLang="ko-KR" sz="1200" dirty="0"/>
                        <a:t>(termination)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xtol</a:t>
                      </a:r>
                      <a:r>
                        <a:rPr lang="en-US" altLang="ko-KR" sz="1200" dirty="0"/>
                        <a:t>=1e-8, </a:t>
                      </a:r>
                      <a:r>
                        <a:rPr lang="en-US" altLang="ko-KR" sz="1200" dirty="0" err="1"/>
                        <a:t>ftol</a:t>
                      </a:r>
                      <a:r>
                        <a:rPr lang="en-US" altLang="ko-KR" sz="1200" dirty="0"/>
                        <a:t>=0.0025, </a:t>
                      </a:r>
                      <a:r>
                        <a:rPr lang="en-US" altLang="ko-KR" sz="1200" dirty="0" err="1"/>
                        <a:t>cvtol</a:t>
                      </a:r>
                      <a:r>
                        <a:rPr lang="en-US" altLang="ko-KR" sz="1200" dirty="0"/>
                        <a:t>=1e-6</a:t>
                      </a:r>
                      <a:r>
                        <a:rPr lang="ko-KR" altLang="en-US" sz="1200" dirty="0"/>
                        <a:t>의 종료 조건을 설정하여 </a:t>
                      </a:r>
                      <a:r>
                        <a:rPr lang="en-US" altLang="ko-KR" sz="1200" dirty="0"/>
                        <a:t>3000 </a:t>
                      </a:r>
                      <a:r>
                        <a:rPr lang="ko-KR" altLang="en-US" sz="1200" dirty="0"/>
                        <a:t>세대까지 최적화를 진행함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835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22268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ED371D-64CC-4FD6-A815-FA544AC7D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399" y="775944"/>
            <a:ext cx="7517746" cy="5326803"/>
          </a:xfrm>
        </p:spPr>
        <p:txBody>
          <a:bodyPr>
            <a:normAutofit fontScale="92500"/>
          </a:bodyPr>
          <a:lstStyle/>
          <a:p>
            <a:r>
              <a:rPr lang="en-US" altLang="ko-KR" dirty="0"/>
              <a:t>Pareto Front </a:t>
            </a:r>
            <a:r>
              <a:rPr lang="ko-KR" altLang="en-US" dirty="0"/>
              <a:t>시각화 및 결과 분석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lvl="1"/>
            <a:r>
              <a:rPr lang="en-US" altLang="ko-KR" sz="1300" dirty="0"/>
              <a:t>Pareto Front</a:t>
            </a:r>
            <a:r>
              <a:rPr lang="ko-KR" altLang="en-US" sz="1300" dirty="0"/>
              <a:t>와 최종 집단의 관계</a:t>
            </a:r>
            <a:endParaRPr lang="en-US" altLang="ko-KR" sz="1300" dirty="0"/>
          </a:p>
          <a:p>
            <a:pPr lvl="2"/>
            <a:r>
              <a:rPr lang="ko-KR" altLang="en-US" sz="1300" dirty="0"/>
              <a:t>최종 집단은 파란색으로 표시 되었으며</a:t>
            </a:r>
            <a:r>
              <a:rPr lang="en-US" altLang="ko-KR" sz="1300" dirty="0"/>
              <a:t>, </a:t>
            </a:r>
            <a:r>
              <a:rPr lang="ko-KR" altLang="en-US" sz="1300" dirty="0"/>
              <a:t>빨간색으로 표시된 해는 </a:t>
            </a:r>
            <a:r>
              <a:rPr lang="en-US" altLang="ko-KR" sz="1300" dirty="0"/>
              <a:t>Pareto Front</a:t>
            </a:r>
            <a:r>
              <a:rPr lang="ko-KR" altLang="en-US" sz="1300" dirty="0"/>
              <a:t>에 속한 최적 해들이다</a:t>
            </a:r>
            <a:r>
              <a:rPr lang="en-US" altLang="ko-KR" sz="1300" dirty="0"/>
              <a:t>. </a:t>
            </a:r>
          </a:p>
          <a:p>
            <a:pPr lvl="1"/>
            <a:r>
              <a:rPr lang="ko-KR" altLang="en-US" sz="1300" dirty="0"/>
              <a:t>경계선 </a:t>
            </a:r>
            <a:r>
              <a:rPr lang="en-US" altLang="ko-KR" sz="1300" dirty="0"/>
              <a:t>: </a:t>
            </a:r>
            <a:r>
              <a:rPr lang="ko-KR" altLang="en-US" sz="1300" dirty="0"/>
              <a:t>파레토 프론트가 비지배해로서 경계를 형성했다</a:t>
            </a:r>
            <a:r>
              <a:rPr lang="en-US" altLang="ko-KR" sz="1300" dirty="0"/>
              <a:t>.</a:t>
            </a:r>
          </a:p>
          <a:p>
            <a:pPr lvl="1"/>
            <a:r>
              <a:rPr lang="ko-KR" altLang="en-US" sz="1300" dirty="0"/>
              <a:t>비지배해가 고르게 분포 </a:t>
            </a:r>
            <a:r>
              <a:rPr lang="en-US" altLang="ko-KR" sz="1300" dirty="0"/>
              <a:t>:  </a:t>
            </a:r>
            <a:r>
              <a:rPr lang="ko-KR" altLang="en-US" sz="1300" dirty="0"/>
              <a:t>다양한 트레이드오프를 찾아냈음을 확인했고 다양한 목표 조합에 대해 최적화된 해를 찾았다</a:t>
            </a:r>
            <a:r>
              <a:rPr lang="en-US" altLang="ko-KR" sz="1300" dirty="0"/>
              <a:t>.</a:t>
            </a:r>
          </a:p>
          <a:p>
            <a:pPr lvl="1"/>
            <a:r>
              <a:rPr lang="ko-KR" altLang="en-US" sz="1300" dirty="0"/>
              <a:t>특정한 패턴 </a:t>
            </a:r>
            <a:r>
              <a:rPr lang="en-US" altLang="ko-KR" sz="1300" dirty="0"/>
              <a:t>: </a:t>
            </a:r>
            <a:r>
              <a:rPr lang="ko-KR" altLang="en-US" sz="1300" dirty="0"/>
              <a:t>파레토 프론트가 계단식</a:t>
            </a:r>
            <a:r>
              <a:rPr lang="en-US" altLang="ko-KR" sz="1300" dirty="0"/>
              <a:t>(step-like pattern)</a:t>
            </a:r>
            <a:r>
              <a:rPr lang="ko-KR" altLang="en-US" sz="1300" dirty="0"/>
              <a:t>으로 나타나 각 목표 간의 트레이드 오프를 잘 반영 했다</a:t>
            </a:r>
            <a:r>
              <a:rPr lang="en-US" altLang="ko-KR" sz="1300" dirty="0"/>
              <a:t>.</a:t>
            </a:r>
            <a:endParaRPr lang="en-US" altLang="ko-KR" sz="1300" b="1" dirty="0"/>
          </a:p>
          <a:p>
            <a:pPr lvl="1"/>
            <a:r>
              <a:rPr lang="ko-KR" altLang="en-US" sz="1300" b="1" dirty="0"/>
              <a:t>파레토 프론트가 명확한 경계를 형성하고</a:t>
            </a:r>
            <a:r>
              <a:rPr lang="en-US" altLang="ko-KR" sz="1300" b="1" dirty="0"/>
              <a:t>, </a:t>
            </a:r>
            <a:r>
              <a:rPr lang="ko-KR" altLang="en-US" sz="1300" b="1" dirty="0"/>
              <a:t>다양한 트레이드오프가 잘 반영된 해들을 포함하고 있기 때문에 최적화과 효과적으로 수행되었고</a:t>
            </a:r>
            <a:r>
              <a:rPr lang="en-US" altLang="ko-KR" sz="1300" b="1" dirty="0"/>
              <a:t>, </a:t>
            </a:r>
            <a:r>
              <a:rPr lang="ko-KR" altLang="en-US" sz="1300" b="1" dirty="0"/>
              <a:t>각 목표 간의 최적 타협점들이 잘 도출되었다</a:t>
            </a:r>
            <a:r>
              <a:rPr lang="en-US" altLang="ko-KR" sz="1300" b="1" dirty="0"/>
              <a:t>.</a:t>
            </a:r>
            <a:r>
              <a:rPr lang="en-US" altLang="ko-KR" sz="1300" dirty="0"/>
              <a:t> </a:t>
            </a:r>
          </a:p>
          <a:p>
            <a:pPr lvl="1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C6B222-1526-4292-A97A-84229DF6D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350DB-AEC6-4A70-8DA2-773581ABAB77}" type="slidenum">
              <a:rPr lang="ko-KR" altLang="en-US" smtClean="0"/>
              <a:pPr/>
              <a:t>21</a:t>
            </a:fld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D79D630-7693-4889-B7A9-D1B86E3FFBA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6" b="16775"/>
          <a:stretch/>
        </p:blipFill>
        <p:spPr>
          <a:xfrm>
            <a:off x="759001" y="1208963"/>
            <a:ext cx="3242027" cy="268358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7E7E736-EF62-41C9-94E7-BC7DD9F4B16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6" b="16775"/>
          <a:stretch/>
        </p:blipFill>
        <p:spPr>
          <a:xfrm>
            <a:off x="4370881" y="1208963"/>
            <a:ext cx="3242027" cy="2683587"/>
          </a:xfrm>
          <a:prstGeom prst="rect">
            <a:avLst/>
          </a:prstGeom>
        </p:spPr>
      </p:pic>
      <p:sp>
        <p:nvSpPr>
          <p:cNvPr id="14" name="제목 13">
            <a:extLst>
              <a:ext uri="{FF2B5EF4-FFF2-40B4-BE49-F238E27FC236}">
                <a16:creationId xmlns:a16="http://schemas.microsoft.com/office/drawing/2014/main" id="{2642E2A6-BF57-479A-B787-63AEBD459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결과 분석</a:t>
            </a:r>
          </a:p>
        </p:txBody>
      </p:sp>
    </p:spTree>
    <p:extLst>
      <p:ext uri="{BB962C8B-B14F-4D97-AF65-F5344CB8AC3E}">
        <p14:creationId xmlns:p14="http://schemas.microsoft.com/office/powerpoint/2010/main" val="37936741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A5CFC-A30D-4E86-912B-51FD65D33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/>
              <a:t>결론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925081-96CD-449F-BA79-D2487D67C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b="0" dirty="0"/>
              <a:t>이번 실험에서는 </a:t>
            </a:r>
            <a:r>
              <a:rPr lang="en-US" altLang="ko-KR" b="0" dirty="0"/>
              <a:t>SVR(Support Vector Regressor)</a:t>
            </a:r>
            <a:r>
              <a:rPr lang="ko-KR" altLang="en-US" b="0" dirty="0"/>
              <a:t>을 대리모델로 사용하여 </a:t>
            </a:r>
            <a:r>
              <a:rPr lang="en-US" altLang="ko-KR" b="0" dirty="0"/>
              <a:t>NSGA-3 </a:t>
            </a:r>
            <a:r>
              <a:rPr lang="ko-KR" altLang="en-US" b="0" dirty="0"/>
              <a:t>알고리즘을 통해 </a:t>
            </a:r>
            <a:r>
              <a:rPr lang="en-US" altLang="ko-KR" b="0" dirty="0"/>
              <a:t>3</a:t>
            </a:r>
            <a:r>
              <a:rPr lang="ko-KR" altLang="en-US" b="0" dirty="0"/>
              <a:t>개의 목적함수를 최적화 했다</a:t>
            </a:r>
            <a:r>
              <a:rPr lang="en-US" altLang="ko-KR" b="0" dirty="0"/>
              <a:t>. </a:t>
            </a:r>
            <a:r>
              <a:rPr lang="ko-KR" altLang="en-US" b="0" dirty="0"/>
              <a:t>처음에는 </a:t>
            </a:r>
            <a:r>
              <a:rPr lang="en-US" altLang="ko-KR" b="0" dirty="0" err="1"/>
              <a:t>XGBoostRegressor</a:t>
            </a:r>
            <a:r>
              <a:rPr lang="ko-KR" altLang="en-US" b="0" dirty="0"/>
              <a:t>와 같은 트리 기반 회귀 모델을 사용했지만</a:t>
            </a:r>
            <a:r>
              <a:rPr lang="en-US" altLang="ko-KR" b="0" dirty="0"/>
              <a:t>, </a:t>
            </a:r>
            <a:r>
              <a:rPr lang="ko-KR" altLang="en-US" b="0" dirty="0"/>
              <a:t>트리 기반 모델이 좁은</a:t>
            </a:r>
            <a:r>
              <a:rPr lang="en-US" altLang="ko-KR" b="0" dirty="0"/>
              <a:t>(</a:t>
            </a:r>
            <a:r>
              <a:rPr lang="ko-KR" altLang="en-US" b="0" dirty="0"/>
              <a:t>제한</a:t>
            </a:r>
            <a:r>
              <a:rPr lang="en-US" altLang="ko-KR" b="0" dirty="0"/>
              <a:t>)</a:t>
            </a:r>
            <a:r>
              <a:rPr lang="ko-KR" altLang="en-US" b="0" dirty="0"/>
              <a:t> 범위에서 최적해를 찾는 경향이 있어</a:t>
            </a:r>
            <a:r>
              <a:rPr lang="en-US" altLang="ko-KR" b="0" dirty="0"/>
              <a:t>, </a:t>
            </a:r>
            <a:r>
              <a:rPr lang="ko-KR" altLang="en-US" b="0" dirty="0"/>
              <a:t>보다 일반적이고 다양한 해를 찾기 위해 </a:t>
            </a:r>
            <a:r>
              <a:rPr lang="en-US" altLang="ko-KR" b="0" dirty="0"/>
              <a:t>SVR </a:t>
            </a:r>
            <a:r>
              <a:rPr lang="ko-KR" altLang="en-US" b="0" dirty="0"/>
              <a:t>모델을 사용하게 되었다</a:t>
            </a:r>
            <a:r>
              <a:rPr lang="en-US" altLang="ko-KR" b="0" dirty="0"/>
              <a:t>. SVR</a:t>
            </a:r>
            <a:r>
              <a:rPr lang="ko-KR" altLang="en-US" b="0" dirty="0"/>
              <a:t> 모델은 특정한 제한 조건 없이 넓은 해 탐색이 가능하다는 장점이 있어 최적화 과정에서 더 적합한 대안이어서 선택되었다</a:t>
            </a:r>
            <a:r>
              <a:rPr lang="en-US" altLang="ko-KR" b="0" dirty="0"/>
              <a:t>.</a:t>
            </a:r>
          </a:p>
          <a:p>
            <a:pPr marL="0" indent="0">
              <a:buNone/>
            </a:pPr>
            <a:endParaRPr lang="en-US" altLang="ko-KR" b="0" dirty="0"/>
          </a:p>
          <a:p>
            <a:pPr marL="0" indent="0">
              <a:buNone/>
            </a:pPr>
            <a:r>
              <a:rPr lang="ko-KR" altLang="en-US" b="0" dirty="0"/>
              <a:t>최적화 결과</a:t>
            </a:r>
            <a:r>
              <a:rPr lang="en-US" altLang="ko-KR" b="0" dirty="0"/>
              <a:t>, </a:t>
            </a:r>
            <a:r>
              <a:rPr lang="ko-KR" altLang="en-US" b="0" dirty="0"/>
              <a:t>파레토 프론트는 명확한 경계를 형성하며 각 목표 간의 다양한 트레이드오프를 잘 반영한 해를 얻을 수 있었다</a:t>
            </a:r>
            <a:r>
              <a:rPr lang="en-US" altLang="ko-KR" b="0" dirty="0"/>
              <a:t>. 6</a:t>
            </a:r>
            <a:r>
              <a:rPr lang="ko-KR" altLang="en-US" b="0" dirty="0"/>
              <a:t>개의 설계 변수와 </a:t>
            </a:r>
            <a:r>
              <a:rPr lang="en-US" altLang="ko-KR" b="0" dirty="0"/>
              <a:t>1</a:t>
            </a:r>
            <a:r>
              <a:rPr lang="ko-KR" altLang="en-US" b="0" dirty="0"/>
              <a:t>개의 제약 조건을 적용한 결과 </a:t>
            </a:r>
            <a:r>
              <a:rPr lang="en-US" altLang="ko-KR" b="0" dirty="0" err="1"/>
              <a:t>Slot_Area</a:t>
            </a:r>
            <a:r>
              <a:rPr lang="ko-KR" altLang="en-US" b="0" dirty="0"/>
              <a:t>라는 제약조건</a:t>
            </a:r>
            <a:r>
              <a:rPr lang="en-US" altLang="ko-KR" b="0" dirty="0"/>
              <a:t>(270 </a:t>
            </a:r>
            <a:r>
              <a:rPr lang="ko-KR" altLang="en-US" b="0" dirty="0"/>
              <a:t>이상</a:t>
            </a:r>
            <a:r>
              <a:rPr lang="en-US" altLang="ko-KR" b="0" dirty="0"/>
              <a:t>)</a:t>
            </a:r>
            <a:r>
              <a:rPr lang="ko-KR" altLang="en-US" b="0" dirty="0"/>
              <a:t>을 만족하는 </a:t>
            </a:r>
            <a:r>
              <a:rPr lang="en-US" altLang="ko-KR" b="0" dirty="0"/>
              <a:t>861</a:t>
            </a:r>
            <a:r>
              <a:rPr lang="ko-KR" altLang="en-US" b="0" dirty="0"/>
              <a:t>개중 </a:t>
            </a:r>
            <a:r>
              <a:rPr lang="en-US" altLang="ko-KR" b="0" dirty="0"/>
              <a:t>91</a:t>
            </a:r>
            <a:r>
              <a:rPr lang="ko-KR" altLang="en-US" b="0" dirty="0"/>
              <a:t>개의 최적해를 찾을 수 있었다</a:t>
            </a:r>
            <a:r>
              <a:rPr lang="en-US" altLang="ko-KR" b="0" dirty="0"/>
              <a:t>.</a:t>
            </a:r>
          </a:p>
          <a:p>
            <a:pPr marL="0" indent="0">
              <a:buNone/>
            </a:pPr>
            <a:endParaRPr lang="en-US" altLang="ko-KR" b="0" dirty="0"/>
          </a:p>
          <a:p>
            <a:pPr marL="0" indent="0">
              <a:buNone/>
            </a:pPr>
            <a:r>
              <a:rPr lang="ko-KR" altLang="en-US" b="0" dirty="0"/>
              <a:t>본 연구는 </a:t>
            </a:r>
            <a:r>
              <a:rPr lang="en-US" altLang="ko-KR" b="0" dirty="0"/>
              <a:t>3</a:t>
            </a:r>
            <a:r>
              <a:rPr lang="ko-KR" altLang="en-US" b="0" dirty="0"/>
              <a:t>개의 목적 함수를 동시에 최적화 하는 문제에서 비지배해를 성공적으로 도출함으로써 다목적 최적화 문제의 해결에 있어서 성과를 얻을 수 있었다</a:t>
            </a:r>
            <a:r>
              <a:rPr lang="en-US" altLang="ko-KR" b="0" dirty="0"/>
              <a:t>.</a:t>
            </a:r>
          </a:p>
          <a:p>
            <a:pPr marL="0" indent="0">
              <a:buNone/>
            </a:pPr>
            <a:endParaRPr lang="en-US" altLang="ko-KR" b="0" dirty="0"/>
          </a:p>
          <a:p>
            <a:pPr marL="0" indent="0">
              <a:buNone/>
            </a:pPr>
            <a:r>
              <a:rPr lang="ko-KR" altLang="en-US" b="0" dirty="0"/>
              <a:t>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6393B3-E770-404E-AF5A-208A35C07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350DB-AEC6-4A70-8DA2-773581ABAB77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8904362"/>
      </p:ext>
    </p:extLst>
  </p:cSld>
  <p:clrMapOvr>
    <a:masterClrMapping/>
  </p:clrMapOvr>
</p:sld>
</file>

<file path=ppt/theme/theme1.xml><?xml version="1.0" encoding="utf-8"?>
<a:theme xmlns:a="http://schemas.openxmlformats.org/drawingml/2006/main" name="4_Hanyang_CNR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NR_HYU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esis PPT_final" id="{52A90602-11FF-4DCE-8DF7-3F99E2488091}" vid="{CE88A00F-0845-4C22-8E85-B18F669C0961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</TotalTime>
  <Words>3060</Words>
  <Application>Microsoft Office PowerPoint</Application>
  <PresentationFormat>화면 슬라이드 쇼(4:3)</PresentationFormat>
  <Paragraphs>398</Paragraphs>
  <Slides>22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0" baseType="lpstr">
      <vt:lpstr>AppleGothic</vt:lpstr>
      <vt:lpstr>DotumChe</vt:lpstr>
      <vt:lpstr>맑은 고딕</vt:lpstr>
      <vt:lpstr>Arial</vt:lpstr>
      <vt:lpstr>Cambria Math</vt:lpstr>
      <vt:lpstr>Tahoma</vt:lpstr>
      <vt:lpstr>Wingdings</vt:lpstr>
      <vt:lpstr>4_Hanyang_CNR Template</vt:lpstr>
      <vt:lpstr>EC-Fan</vt:lpstr>
      <vt:lpstr>1. 서론</vt:lpstr>
      <vt:lpstr>2. Basic concept - setup</vt:lpstr>
      <vt:lpstr>2. Basic concept - Data preprocessing &amp; Hyperparameter tuning</vt:lpstr>
      <vt:lpstr>2. Basic concept – Feature Importance</vt:lpstr>
      <vt:lpstr>2. Basic concept – NSGA-3</vt:lpstr>
      <vt:lpstr>2. Basic concept – NSGA-3</vt:lpstr>
      <vt:lpstr>2. Basic concept – NSGA-3</vt:lpstr>
      <vt:lpstr>2. Basic concept – Surrogate Model</vt:lpstr>
      <vt:lpstr>2. Basic concept – Surrogate Model</vt:lpstr>
      <vt:lpstr>2. Basic concept – Maximization, Minimization</vt:lpstr>
      <vt:lpstr>2. Basic concept – Pareto Front </vt:lpstr>
      <vt:lpstr>3. 실험 </vt:lpstr>
      <vt:lpstr>PowerPoint 프레젠테이션</vt:lpstr>
      <vt:lpstr>PowerPoint 프레젠테이션</vt:lpstr>
      <vt:lpstr>4. 실험 과정</vt:lpstr>
      <vt:lpstr>PowerPoint 프레젠테이션</vt:lpstr>
      <vt:lpstr>PowerPoint 프레젠테이션</vt:lpstr>
      <vt:lpstr>PowerPoint 프레젠테이션</vt:lpstr>
      <vt:lpstr>PowerPoint 프레젠테이션</vt:lpstr>
      <vt:lpstr>5. 결과 분석</vt:lpstr>
      <vt:lpstr>6. 결론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keti</dc:creator>
  <cp:lastModifiedBy>정환 이</cp:lastModifiedBy>
  <cp:revision>195</cp:revision>
  <cp:lastPrinted>2024-10-17T02:45:25Z</cp:lastPrinted>
  <dcterms:created xsi:type="dcterms:W3CDTF">2023-05-10T05:47:35Z</dcterms:created>
  <dcterms:modified xsi:type="dcterms:W3CDTF">2024-10-17T07:50:45Z</dcterms:modified>
</cp:coreProperties>
</file>