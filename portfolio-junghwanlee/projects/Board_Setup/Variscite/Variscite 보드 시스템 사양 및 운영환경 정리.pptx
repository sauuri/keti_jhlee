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75" r:id="rId4"/>
    <p:sldId id="259" r:id="rId5"/>
    <p:sldId id="262" r:id="rId6"/>
    <p:sldId id="273" r:id="rId7"/>
    <p:sldId id="263" r:id="rId8"/>
    <p:sldId id="269" r:id="rId9"/>
    <p:sldId id="264" r:id="rId10"/>
    <p:sldId id="270" r:id="rId11"/>
    <p:sldId id="265" r:id="rId12"/>
    <p:sldId id="266" r:id="rId13"/>
    <p:sldId id="267" r:id="rId14"/>
    <p:sldId id="268" r:id="rId15"/>
    <p:sldId id="272" r:id="rId16"/>
    <p:sldId id="274" r:id="rId17"/>
    <p:sldId id="271" r:id="rId18"/>
    <p:sldId id="276" r:id="rId19"/>
    <p:sldId id="277" r:id="rId20"/>
    <p:sldId id="278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6544" autoAdjust="0"/>
  </p:normalViewPr>
  <p:slideViewPr>
    <p:cSldViewPr snapToGrid="0">
      <p:cViewPr varScale="1">
        <p:scale>
          <a:sx n="85" d="100"/>
          <a:sy n="85" d="100"/>
        </p:scale>
        <p:origin x="102" y="87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00052C-C160-4D44-B668-548EC6B886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BE838B6-14DC-4FC8-9B1E-B80AFA8516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1FE9B9-8F0C-46C6-A91F-6A643DFB3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5D74C-AEA6-4408-B7D9-019FEF1F2D2A}" type="datetimeFigureOut">
              <a:rPr lang="ko-KR" altLang="en-US" smtClean="0"/>
              <a:t>2025-04-18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2D2AB7-E3D7-4D87-B17C-204F5F457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82BA6F-B48B-4094-BD75-331FA3C9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93DF6-0436-4796-93F1-B9ECF843DB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8653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9CC161-3970-4CA0-A073-BC74F1A4D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660CBA-6957-4802-8C54-5244ECD01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DCF6B1-942D-4499-9985-0D82CF104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5D74C-AEA6-4408-B7D9-019FEF1F2D2A}" type="datetimeFigureOut">
              <a:rPr lang="ko-KR" altLang="en-US" smtClean="0"/>
              <a:t>2025-04-18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1F740F-8189-428B-B7B7-0C920A5A5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0C0897-FF4B-44A6-B72C-3F9711174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93DF6-0436-4796-93F1-B9ECF843DB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912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D0C045-3E51-4E1E-A249-AAD6716AC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171F71-3090-4A7A-837A-614E39AD8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FD4882-C528-4E79-8523-288EFE56A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5D74C-AEA6-4408-B7D9-019FEF1F2D2A}" type="datetimeFigureOut">
              <a:rPr lang="ko-KR" altLang="en-US" smtClean="0"/>
              <a:t>2025-04-18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A057DC-AAA0-4656-A888-D242DAA35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F3D40E-9399-4214-A741-D58AE01E7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93DF6-0436-4796-93F1-B9ECF843DB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8622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8AA36B-D4D0-4A44-BC3C-AAAE61F35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C70883-5325-48EF-BB9E-1CADA82FC0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B9B220B-87D1-44AA-BB95-3B54A110BC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C53BD5B-67C8-49F5-966D-1CE6F2B76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5D74C-AEA6-4408-B7D9-019FEF1F2D2A}" type="datetimeFigureOut">
              <a:rPr lang="ko-KR" altLang="en-US" smtClean="0"/>
              <a:t>2025-04-18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CD4891-D32D-45E1-9B19-69D320A87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457869-BF3E-4059-B97F-15071C90D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93DF6-0436-4796-93F1-B9ECF843DB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3714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5BA1FF-94FF-40C5-952C-642F532AB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187AF1-2E1C-4879-B17A-5283E94CEB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60D7443-55D8-4FBC-BD93-B90E76A2B8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040E4CF-E845-4969-98BC-816DF842A5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4803C81-5E60-46DB-A338-8DBED08B80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117F3D0-7348-48C6-B6E1-E67C6C153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5D74C-AEA6-4408-B7D9-019FEF1F2D2A}" type="datetimeFigureOut">
              <a:rPr lang="ko-KR" altLang="en-US" smtClean="0"/>
              <a:t>2025-04-18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9A9E04D-FE4E-4C19-92E7-A8CE86FE6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B1326FF-0A53-479C-9A85-264B29037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93DF6-0436-4796-93F1-B9ECF843DB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6729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28428F-DB1D-4E42-AECE-597755B79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AB5A673-6B70-4D2B-AF64-000A69C4F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5D74C-AEA6-4408-B7D9-019FEF1F2D2A}" type="datetimeFigureOut">
              <a:rPr lang="ko-KR" altLang="en-US" smtClean="0"/>
              <a:t>2025-04-18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9F086D4-85A1-48CB-8AC1-456B55EF1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F045375-3ADF-42B9-B323-916821405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93DF6-0436-4796-93F1-B9ECF843DB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445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A70AF76-B97C-48A4-8825-46E325741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5D74C-AEA6-4408-B7D9-019FEF1F2D2A}" type="datetimeFigureOut">
              <a:rPr lang="ko-KR" altLang="en-US" smtClean="0"/>
              <a:t>2025-04-18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05012E3-A2A5-4683-BC9D-A7359BBB9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D23C10-784C-4027-A086-5D5F8C80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93DF6-0436-4796-93F1-B9ECF843DB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8710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A5392B-3204-4F21-ADAB-00D9525F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F4B135-FFD3-4CF1-8835-45DA167D9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95BDAE-A748-44CC-9009-FC541A3BA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140FF2-61B1-43D3-8BFB-4F9A436AB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5D74C-AEA6-4408-B7D9-019FEF1F2D2A}" type="datetimeFigureOut">
              <a:rPr lang="ko-KR" altLang="en-US" smtClean="0"/>
              <a:t>2025-04-18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4C78A83-94BC-4851-BA62-EAAB65C92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FAD1FD-02A8-4667-B5E6-54FE1EB18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93DF6-0436-4796-93F1-B9ECF843DB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1415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28B980-EEBD-427A-83C4-4DF902162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860AE5C-A22C-4BDC-9ADA-DBB21B3447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4349E15-6FAE-4A27-A08F-21D97CB481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977DF4-0AC2-42DB-B3A3-7CF1C7906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5D74C-AEA6-4408-B7D9-019FEF1F2D2A}" type="datetimeFigureOut">
              <a:rPr lang="ko-KR" altLang="en-US" smtClean="0"/>
              <a:t>2025-04-18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286EE6-05E6-423F-83EB-FA180635B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1497A20-8868-4159-A10E-E56FF20E4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93DF6-0436-4796-93F1-B9ECF843DB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744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7C12A4-5665-474A-9B76-027F44838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87AB1C-4CE6-4B74-B8DC-4E3C20EBF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B66C6D-E88B-4A02-8EC0-6865C81EA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5D74C-AEA6-4408-B7D9-019FEF1F2D2A}" type="datetimeFigureOut">
              <a:rPr lang="ko-KR" altLang="en-US" smtClean="0"/>
              <a:t>2025-04-18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FD734D-F549-423A-847A-474F5C6CA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14A628-7A9F-4514-9056-BDC756DFF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93DF6-0436-4796-93F1-B9ECF843DB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275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20051BB-BCE1-472D-B5B6-D458C00201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92C6E74-9B0B-4DF6-8EE0-07F4620CC9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9FCFD5-FF39-4572-ABAC-146808B2B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5D74C-AEA6-4408-B7D9-019FEF1F2D2A}" type="datetimeFigureOut">
              <a:rPr lang="ko-KR" altLang="en-US" smtClean="0"/>
              <a:t>2025-04-18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48CB08-2FE4-4888-9307-2E5406FF3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1EF8FD-2666-4FD5-971C-095AADD49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93DF6-0436-4796-93F1-B9ECF843DB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6945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069785A-4207-4086-A6E2-98E487D83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D5A583-146D-4661-9968-F17444D6B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07FF78-F301-4740-9DB3-A70687CB9E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5D74C-AEA6-4408-B7D9-019FEF1F2D2A}" type="datetimeFigureOut">
              <a:rPr lang="ko-KR" altLang="en-US" smtClean="0"/>
              <a:t>2025-04-18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5A3411-3741-4608-B0DA-A201A8464A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7A45FE-CD1B-4051-AB50-E2CB97B78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93DF6-0436-4796-93F1-B9ECF843DB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793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7DF62B-520C-4172-9FC4-1C4E9C0113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Variscite </a:t>
            </a:r>
            <a:r>
              <a:rPr lang="ko-KR" altLang="en-US" dirty="0"/>
              <a:t>보드 시스템 사양 및 운영환경 정리</a:t>
            </a:r>
          </a:p>
        </p:txBody>
      </p:sp>
    </p:spTree>
    <p:extLst>
      <p:ext uri="{BB962C8B-B14F-4D97-AF65-F5344CB8AC3E}">
        <p14:creationId xmlns:p14="http://schemas.microsoft.com/office/powerpoint/2010/main" val="3074487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64E66C7-329B-44C9-88BA-761B961DC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80" y="861926"/>
            <a:ext cx="4305901" cy="4210638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5CA66F1-EAC1-4BDA-B84A-4A7B260518D1}"/>
              </a:ext>
            </a:extLst>
          </p:cNvPr>
          <p:cNvSpPr/>
          <p:nvPr/>
        </p:nvSpPr>
        <p:spPr>
          <a:xfrm>
            <a:off x="2200275" y="2311925"/>
            <a:ext cx="611505" cy="20267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61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ED916EA-75B7-45B3-BCA9-296678E48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0704" y="899318"/>
            <a:ext cx="4305901" cy="4210638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56574CA-6560-4E5F-AFE6-6885C6B43820}"/>
              </a:ext>
            </a:extLst>
          </p:cNvPr>
          <p:cNvSpPr/>
          <p:nvPr/>
        </p:nvSpPr>
        <p:spPr>
          <a:xfrm>
            <a:off x="9519285" y="2363677"/>
            <a:ext cx="611505" cy="20267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A668F67-9513-4679-9417-8BEFF60B7431}"/>
              </a:ext>
            </a:extLst>
          </p:cNvPr>
          <p:cNvSpPr/>
          <p:nvPr/>
        </p:nvSpPr>
        <p:spPr>
          <a:xfrm>
            <a:off x="9014049" y="1754077"/>
            <a:ext cx="2663601" cy="44905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A8BF8A8-55D1-4A84-BDAE-29D9CAAA8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88" y="616978"/>
            <a:ext cx="6134643" cy="4492978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D880017-4227-4284-A2D2-3BB2760BB10E}"/>
              </a:ext>
            </a:extLst>
          </p:cNvPr>
          <p:cNvCxnSpPr/>
          <p:nvPr/>
        </p:nvCxnSpPr>
        <p:spPr>
          <a:xfrm flipV="1">
            <a:off x="2443163" y="1978604"/>
            <a:ext cx="6431931" cy="207904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C9986B7D-B4C0-4951-A057-A57924CE422E}"/>
              </a:ext>
            </a:extLst>
          </p:cNvPr>
          <p:cNvCxnSpPr/>
          <p:nvPr/>
        </p:nvCxnSpPr>
        <p:spPr>
          <a:xfrm>
            <a:off x="10429875" y="2203132"/>
            <a:ext cx="0" cy="25403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748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1358BDF-7395-4E96-9604-E7D9B678E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891"/>
            <a:ext cx="6296904" cy="398200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1357552-8256-43FA-B2EE-B4EA1C023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096" y="2875994"/>
            <a:ext cx="6296904" cy="398200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BD06F08-A331-418A-AEF8-9794DD873305}"/>
              </a:ext>
            </a:extLst>
          </p:cNvPr>
          <p:cNvSpPr txBox="1"/>
          <p:nvPr/>
        </p:nvSpPr>
        <p:spPr>
          <a:xfrm>
            <a:off x="2257426" y="15725"/>
            <a:ext cx="2609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>
                <a:solidFill>
                  <a:srgbClr val="FF0000"/>
                </a:solidFill>
              </a:rPr>
              <a:t>빈화면</a:t>
            </a:r>
            <a:r>
              <a:rPr lang="ko-KR" altLang="en-US" b="1" dirty="0">
                <a:solidFill>
                  <a:srgbClr val="FF0000"/>
                </a:solidFill>
              </a:rPr>
              <a:t> </a:t>
            </a:r>
            <a:r>
              <a:rPr lang="ko-KR" altLang="en-US" b="1" dirty="0" err="1">
                <a:solidFill>
                  <a:srgbClr val="FF0000"/>
                </a:solidFill>
              </a:rPr>
              <a:t>일때</a:t>
            </a:r>
            <a:endParaRPr lang="en-US" altLang="ko-KR" b="1" dirty="0">
              <a:solidFill>
                <a:srgbClr val="FF0000"/>
              </a:solidFill>
            </a:endParaRPr>
          </a:p>
          <a:p>
            <a:r>
              <a:rPr lang="ko-KR" altLang="en-US" b="1" dirty="0">
                <a:solidFill>
                  <a:srgbClr val="FF0000"/>
                </a:solidFill>
              </a:rPr>
              <a:t>보드의 전원 </a:t>
            </a:r>
            <a:r>
              <a:rPr lang="en-US" altLang="ko-KR" b="1" dirty="0">
                <a:solidFill>
                  <a:srgbClr val="FF0000"/>
                </a:solidFill>
              </a:rPr>
              <a:t>On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82AD90-260C-4FA5-B172-6D73652B5B7D}"/>
              </a:ext>
            </a:extLst>
          </p:cNvPr>
          <p:cNvSpPr txBox="1"/>
          <p:nvPr/>
        </p:nvSpPr>
        <p:spPr>
          <a:xfrm>
            <a:off x="8353426" y="2506662"/>
            <a:ext cx="2609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login:</a:t>
            </a:r>
            <a:r>
              <a:rPr lang="ko-KR" altLang="en-US" b="1" dirty="0">
                <a:solidFill>
                  <a:srgbClr val="FF0000"/>
                </a:solidFill>
              </a:rPr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root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410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C01DA1-80E7-4896-B6F4-2B0A5A564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ko-KR" altLang="en-US" dirty="0"/>
              <a:t>보드 모델 명 및 </a:t>
            </a:r>
            <a:r>
              <a:rPr lang="en-US" altLang="ko-KR" dirty="0"/>
              <a:t>CPU </a:t>
            </a:r>
            <a:r>
              <a:rPr lang="ko-KR" altLang="en-US" dirty="0"/>
              <a:t>정보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2400549-D9A4-4593-8E83-533B760AF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97" y="1325563"/>
            <a:ext cx="6296904" cy="39820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0A7F16-48F4-42DA-88D8-910BAE58C9F9}"/>
              </a:ext>
            </a:extLst>
          </p:cNvPr>
          <p:cNvSpPr txBox="1"/>
          <p:nvPr/>
        </p:nvSpPr>
        <p:spPr>
          <a:xfrm>
            <a:off x="6652715" y="546001"/>
            <a:ext cx="57423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[</a:t>
            </a:r>
            <a:r>
              <a:rPr lang="ko-KR" altLang="en-US" b="1" dirty="0"/>
              <a:t>보드 모델 명</a:t>
            </a:r>
            <a:r>
              <a:rPr lang="en-US" altLang="ko-KR" b="1" dirty="0"/>
              <a:t>]</a:t>
            </a:r>
          </a:p>
          <a:p>
            <a:r>
              <a:rPr lang="en-US" altLang="ko-KR" dirty="0"/>
              <a:t>cat /proc/device-tree/mode; echo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34C36E-56EF-42E7-BA1F-4DC087334DA4}"/>
              </a:ext>
            </a:extLst>
          </p:cNvPr>
          <p:cNvSpPr txBox="1"/>
          <p:nvPr/>
        </p:nvSpPr>
        <p:spPr>
          <a:xfrm>
            <a:off x="6589775" y="3076020"/>
            <a:ext cx="51448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[CPU</a:t>
            </a:r>
            <a:r>
              <a:rPr lang="ko-KR" altLang="en-US" b="1" dirty="0"/>
              <a:t> 정보</a:t>
            </a:r>
            <a:r>
              <a:rPr lang="en-US" altLang="ko-KR" b="1" dirty="0"/>
              <a:t>]</a:t>
            </a:r>
          </a:p>
          <a:p>
            <a:r>
              <a:rPr lang="en-US" altLang="ko-KR" dirty="0" err="1"/>
              <a:t>lscpu</a:t>
            </a:r>
            <a:endParaRPr lang="ko-KR" altLang="en-US" dirty="0"/>
          </a:p>
        </p:txBody>
      </p:sp>
      <p:graphicFrame>
        <p:nvGraphicFramePr>
          <p:cNvPr id="13" name="표 13">
            <a:extLst>
              <a:ext uri="{FF2B5EF4-FFF2-40B4-BE49-F238E27FC236}">
                <a16:creationId xmlns:a16="http://schemas.microsoft.com/office/drawing/2014/main" id="{3901CD6F-EC1D-412A-BE1A-ED2FA3AA0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098280"/>
              </p:ext>
            </p:extLst>
          </p:nvPr>
        </p:nvGraphicFramePr>
        <p:xfrm>
          <a:off x="6652715" y="1156911"/>
          <a:ext cx="538668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3344">
                  <a:extLst>
                    <a:ext uri="{9D8B030D-6E8A-4147-A177-3AD203B41FA5}">
                      <a16:colId xmlns:a16="http://schemas.microsoft.com/office/drawing/2014/main" val="3947005930"/>
                    </a:ext>
                  </a:extLst>
                </a:gridCol>
                <a:gridCol w="2693344">
                  <a:extLst>
                    <a:ext uri="{9D8B030D-6E8A-4147-A177-3AD203B41FA5}">
                      <a16:colId xmlns:a16="http://schemas.microsoft.com/office/drawing/2014/main" val="2507809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값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561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보드 모델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Varisicite</a:t>
                      </a:r>
                      <a:r>
                        <a:rPr lang="en-US" altLang="ko-KR" dirty="0"/>
                        <a:t> DART-6UL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324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SoC(</a:t>
                      </a:r>
                      <a:r>
                        <a:rPr lang="ko-KR" altLang="en-US" dirty="0"/>
                        <a:t>칩셋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NXP i.MX6ULL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50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eMMC &amp; </a:t>
                      </a:r>
                      <a:r>
                        <a:rPr lang="en-US" altLang="ko-KR" dirty="0" err="1"/>
                        <a:t>WiFi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내장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2095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베이스 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VAR-6ULCustomBoard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0980860"/>
                  </a:ext>
                </a:extLst>
              </a:tr>
            </a:tbl>
          </a:graphicData>
        </a:graphic>
      </p:graphicFrame>
      <p:graphicFrame>
        <p:nvGraphicFramePr>
          <p:cNvPr id="14" name="표 14">
            <a:extLst>
              <a:ext uri="{FF2B5EF4-FFF2-40B4-BE49-F238E27FC236}">
                <a16:creationId xmlns:a16="http://schemas.microsoft.com/office/drawing/2014/main" id="{A43135D7-36C9-4478-A0AF-35EF4D525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557772"/>
              </p:ext>
            </p:extLst>
          </p:nvPr>
        </p:nvGraphicFramePr>
        <p:xfrm>
          <a:off x="6602097" y="3722351"/>
          <a:ext cx="5386689" cy="2850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5563">
                  <a:extLst>
                    <a:ext uri="{9D8B030D-6E8A-4147-A177-3AD203B41FA5}">
                      <a16:colId xmlns:a16="http://schemas.microsoft.com/office/drawing/2014/main" val="2930674939"/>
                    </a:ext>
                  </a:extLst>
                </a:gridCol>
                <a:gridCol w="1795563">
                  <a:extLst>
                    <a:ext uri="{9D8B030D-6E8A-4147-A177-3AD203B41FA5}">
                      <a16:colId xmlns:a16="http://schemas.microsoft.com/office/drawing/2014/main" val="4111638268"/>
                    </a:ext>
                  </a:extLst>
                </a:gridCol>
                <a:gridCol w="1795563">
                  <a:extLst>
                    <a:ext uri="{9D8B030D-6E8A-4147-A177-3AD203B41FA5}">
                      <a16:colId xmlns:a16="http://schemas.microsoft.com/office/drawing/2014/main" val="4182654046"/>
                    </a:ext>
                  </a:extLst>
                </a:gridCol>
              </a:tblGrid>
              <a:tr h="32404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180771"/>
                  </a:ext>
                </a:extLst>
              </a:tr>
              <a:tr h="32404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/>
                        <a:t>아키텍쳐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 armv7l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32</a:t>
                      </a:r>
                      <a:r>
                        <a:rPr lang="ko-KR" altLang="en-US" sz="1400" dirty="0"/>
                        <a:t>비트 </a:t>
                      </a:r>
                      <a:r>
                        <a:rPr lang="en-US" altLang="ko-KR" sz="1400" dirty="0"/>
                        <a:t>ARM Little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Endian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244749"/>
                  </a:ext>
                </a:extLst>
              </a:tr>
              <a:tr h="32404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코어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 (</a:t>
                      </a:r>
                      <a:r>
                        <a:rPr lang="ko-KR" altLang="en-US" sz="1400" dirty="0" err="1"/>
                        <a:t>싱글코어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Core(s) per </a:t>
                      </a:r>
                      <a:r>
                        <a:rPr lang="en-US" altLang="ko-KR" sz="1400" dirty="0" err="1"/>
                        <a:t>soket</a:t>
                      </a:r>
                      <a:r>
                        <a:rPr lang="en-US" altLang="ko-KR" sz="1400" dirty="0"/>
                        <a:t>: 1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6631206"/>
                  </a:ext>
                </a:extLst>
              </a:tr>
              <a:tr h="3240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CPU </a:t>
                      </a:r>
                      <a:r>
                        <a:rPr lang="ko-KR" altLang="en-US" sz="1400" dirty="0"/>
                        <a:t>모델명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Cortex-A7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저전력 </a:t>
                      </a:r>
                      <a:r>
                        <a:rPr lang="en-US" altLang="ko-KR" sz="1400" dirty="0"/>
                        <a:t>ARM </a:t>
                      </a:r>
                      <a:r>
                        <a:rPr lang="ko-KR" altLang="en-US" sz="1400" dirty="0"/>
                        <a:t>프로세서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031940"/>
                  </a:ext>
                </a:extLst>
              </a:tr>
              <a:tr h="3240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Stepping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R0p5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칩셋 </a:t>
                      </a:r>
                      <a:r>
                        <a:rPr lang="ko-KR" altLang="en-US" sz="1400" dirty="0" err="1"/>
                        <a:t>리비전</a:t>
                      </a:r>
                      <a:r>
                        <a:rPr lang="ko-KR" altLang="en-US" sz="1400" dirty="0"/>
                        <a:t> 정보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0821336"/>
                  </a:ext>
                </a:extLst>
              </a:tr>
              <a:tr h="32404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최대 클럭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792 MHz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CPU</a:t>
                      </a:r>
                      <a:r>
                        <a:rPr lang="ko-KR" altLang="en-US" sz="1400" dirty="0"/>
                        <a:t>가 낼 수 있는 최대 속도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6166739"/>
                  </a:ext>
                </a:extLst>
              </a:tr>
              <a:tr h="32404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최소 클럭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198 MHz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동작가능 최소 클럭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404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6675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E4E479-343E-4A7C-90A7-78D9674D8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b="1" dirty="0"/>
              <a:t>[CPU </a:t>
            </a:r>
            <a:r>
              <a:rPr lang="ko-KR" altLang="en-US" sz="2800" b="1" dirty="0"/>
              <a:t>사용률</a:t>
            </a:r>
            <a:r>
              <a:rPr lang="en-US" altLang="ko-KR" sz="2800" b="1" dirty="0"/>
              <a:t>]</a:t>
            </a:r>
            <a:br>
              <a:rPr lang="en-US" altLang="ko-KR" sz="2800" b="1" dirty="0"/>
            </a:br>
            <a:r>
              <a:rPr lang="en-US" altLang="ko-KR" sz="2800" dirty="0"/>
              <a:t>top</a:t>
            </a:r>
            <a:endParaRPr lang="ko-KR" altLang="en-US" sz="28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AEA3D4E-4A84-402D-B34F-1C0A5CD8F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1690688"/>
            <a:ext cx="6296904" cy="3982006"/>
          </a:xfrm>
          <a:prstGeom prst="rect">
            <a:avLst/>
          </a:prstGeom>
        </p:spPr>
      </p:pic>
      <p:graphicFrame>
        <p:nvGraphicFramePr>
          <p:cNvPr id="10" name="표 10">
            <a:extLst>
              <a:ext uri="{FF2B5EF4-FFF2-40B4-BE49-F238E27FC236}">
                <a16:creationId xmlns:a16="http://schemas.microsoft.com/office/drawing/2014/main" id="{68CF22AD-94C9-4A4B-A341-18A4B459FB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1009411"/>
              </p:ext>
            </p:extLst>
          </p:nvPr>
        </p:nvGraphicFramePr>
        <p:xfrm>
          <a:off x="6409812" y="-46513"/>
          <a:ext cx="5782188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7396">
                  <a:extLst>
                    <a:ext uri="{9D8B030D-6E8A-4147-A177-3AD203B41FA5}">
                      <a16:colId xmlns:a16="http://schemas.microsoft.com/office/drawing/2014/main" val="965952284"/>
                    </a:ext>
                  </a:extLst>
                </a:gridCol>
                <a:gridCol w="1927396">
                  <a:extLst>
                    <a:ext uri="{9D8B030D-6E8A-4147-A177-3AD203B41FA5}">
                      <a16:colId xmlns:a16="http://schemas.microsoft.com/office/drawing/2014/main" val="2991612710"/>
                    </a:ext>
                  </a:extLst>
                </a:gridCol>
                <a:gridCol w="1927396">
                  <a:extLst>
                    <a:ext uri="{9D8B030D-6E8A-4147-A177-3AD203B41FA5}">
                      <a16:colId xmlns:a16="http://schemas.microsoft.com/office/drawing/2014/main" val="8289479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의미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비율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466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 us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사용자 영역에서 사용된 </a:t>
                      </a:r>
                      <a:r>
                        <a:rPr lang="en-US" altLang="ko-KR" sz="1400" dirty="0"/>
                        <a:t>CPU </a:t>
                      </a:r>
                      <a:r>
                        <a:rPr lang="ko-KR" altLang="en-US" sz="1400" dirty="0"/>
                        <a:t>비율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19.6%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401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sy</a:t>
                      </a:r>
                      <a:r>
                        <a:rPr lang="en-US" altLang="ko-KR" sz="1400" dirty="0"/>
                        <a:t> 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시스템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커널</a:t>
                      </a:r>
                      <a:r>
                        <a:rPr lang="en-US" altLang="ko-KR" sz="1400" dirty="0"/>
                        <a:t>) </a:t>
                      </a:r>
                      <a:r>
                        <a:rPr lang="ko-KR" altLang="en-US" sz="1400" dirty="0"/>
                        <a:t>영역에서 사용된 비율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71.7%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7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 id 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Idle (</a:t>
                      </a:r>
                      <a:r>
                        <a:rPr lang="ko-KR" altLang="en-US" sz="1400" dirty="0"/>
                        <a:t>쉬는 시간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8.7%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4409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wa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I/O </a:t>
                      </a:r>
                      <a:r>
                        <a:rPr lang="ko-KR" altLang="en-US" sz="1400" dirty="0"/>
                        <a:t>대기 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71361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70C0C2A-F19F-438D-9D9D-0F83DB9C023E}"/>
              </a:ext>
            </a:extLst>
          </p:cNvPr>
          <p:cNvSpPr txBox="1"/>
          <p:nvPr/>
        </p:nvSpPr>
        <p:spPr>
          <a:xfrm>
            <a:off x="6511412" y="2102326"/>
            <a:ext cx="5680588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00" dirty="0"/>
              <a:t>CPU </a:t>
            </a:r>
            <a:r>
              <a:rPr lang="ko-KR" altLang="en-US" sz="1700" dirty="0"/>
              <a:t>성능 </a:t>
            </a:r>
            <a:r>
              <a:rPr lang="en-US" altLang="ko-KR" sz="1700" dirty="0"/>
              <a:t>= 100% </a:t>
            </a:r>
            <a:r>
              <a:rPr lang="ko-KR" altLang="en-US" sz="1700" dirty="0"/>
              <a:t>기준</a:t>
            </a:r>
            <a:endParaRPr lang="en-US" altLang="ko-KR" sz="1700" dirty="0"/>
          </a:p>
          <a:p>
            <a:endParaRPr lang="en-US" altLang="ko-KR" sz="1700" dirty="0"/>
          </a:p>
          <a:p>
            <a:r>
              <a:rPr lang="ko-KR" altLang="en-US" sz="1700" dirty="0"/>
              <a:t>리눅스 </a:t>
            </a:r>
            <a:r>
              <a:rPr lang="en-US" altLang="ko-KR" sz="1700" dirty="0"/>
              <a:t>top</a:t>
            </a:r>
            <a:r>
              <a:rPr lang="ko-KR" altLang="en-US" sz="1700" dirty="0"/>
              <a:t>에서 </a:t>
            </a:r>
            <a:r>
              <a:rPr lang="en-US" altLang="ko-KR" sz="1700" dirty="0"/>
              <a:t>CPU </a:t>
            </a:r>
            <a:r>
              <a:rPr lang="ko-KR" altLang="en-US" sz="1700" dirty="0"/>
              <a:t>사용률은 항상 전체 </a:t>
            </a:r>
            <a:r>
              <a:rPr lang="en-US" altLang="ko-KR" sz="1700" dirty="0"/>
              <a:t>CPU </a:t>
            </a:r>
            <a:r>
              <a:rPr lang="ko-KR" altLang="en-US" sz="1700" dirty="0"/>
              <a:t>성능을 </a:t>
            </a:r>
            <a:r>
              <a:rPr lang="en-US" altLang="ko-KR" sz="1700" dirty="0"/>
              <a:t>100%</a:t>
            </a:r>
            <a:r>
              <a:rPr lang="ko-KR" altLang="en-US" sz="1700" dirty="0"/>
              <a:t>로 보고</a:t>
            </a:r>
            <a:endParaRPr lang="en-US" altLang="ko-KR" sz="1700" dirty="0"/>
          </a:p>
          <a:p>
            <a:r>
              <a:rPr lang="ko-KR" altLang="en-US" sz="1700" dirty="0"/>
              <a:t>그 중 사용자</a:t>
            </a:r>
            <a:r>
              <a:rPr lang="en-US" altLang="ko-KR" sz="1700" dirty="0"/>
              <a:t>(us), </a:t>
            </a:r>
            <a:r>
              <a:rPr lang="ko-KR" altLang="en-US" sz="1700" dirty="0"/>
              <a:t>시스템</a:t>
            </a:r>
            <a:r>
              <a:rPr lang="en-US" altLang="ko-KR" sz="1700" dirty="0"/>
              <a:t>(</a:t>
            </a:r>
            <a:r>
              <a:rPr lang="en-US" altLang="ko-KR" sz="1700" dirty="0" err="1"/>
              <a:t>sy</a:t>
            </a:r>
            <a:r>
              <a:rPr lang="en-US" altLang="ko-KR" sz="1700" dirty="0"/>
              <a:t>), </a:t>
            </a:r>
            <a:r>
              <a:rPr lang="ko-KR" altLang="en-US" sz="1700" dirty="0"/>
              <a:t>대기</a:t>
            </a:r>
            <a:r>
              <a:rPr lang="en-US" altLang="ko-KR" sz="1700" dirty="0"/>
              <a:t>(id) </a:t>
            </a:r>
            <a:r>
              <a:rPr lang="ko-KR" altLang="en-US" sz="1700" dirty="0"/>
              <a:t>등 각 항목이 </a:t>
            </a:r>
            <a:r>
              <a:rPr lang="ko-KR" altLang="en-US" sz="1700" dirty="0" err="1"/>
              <a:t>몇퍼센트</a:t>
            </a:r>
            <a:r>
              <a:rPr lang="ko-KR" altLang="en-US" sz="1700" dirty="0"/>
              <a:t> 사용했는지 보여주는 방식</a:t>
            </a:r>
            <a:endParaRPr lang="en-US" altLang="ko-KR" sz="1700" dirty="0"/>
          </a:p>
          <a:p>
            <a:endParaRPr lang="en-US" altLang="ko-KR" sz="1700" dirty="0"/>
          </a:p>
          <a:p>
            <a:r>
              <a:rPr lang="en-US" altLang="ko-KR" sz="1700" dirty="0" err="1"/>
              <a:t>us+sy</a:t>
            </a:r>
            <a:r>
              <a:rPr lang="ko-KR" altLang="en-US" sz="1700" dirty="0"/>
              <a:t> </a:t>
            </a:r>
            <a:r>
              <a:rPr lang="en-US" altLang="ko-KR" sz="1700" dirty="0"/>
              <a:t>=</a:t>
            </a:r>
            <a:r>
              <a:rPr lang="ko-KR" altLang="en-US" sz="1700" dirty="0"/>
              <a:t> </a:t>
            </a:r>
            <a:r>
              <a:rPr lang="en-US" altLang="ko-KR" sz="1700" dirty="0"/>
              <a:t>19.6% + 71.7%</a:t>
            </a:r>
          </a:p>
          <a:p>
            <a:r>
              <a:rPr lang="en-US" altLang="ko-KR" sz="1700" dirty="0"/>
              <a:t>id = 8.7%</a:t>
            </a:r>
          </a:p>
          <a:p>
            <a:endParaRPr lang="en-US" altLang="ko-KR" sz="1700" dirty="0"/>
          </a:p>
          <a:p>
            <a:r>
              <a:rPr lang="en-US" altLang="ko-KR" sz="1700" dirty="0"/>
              <a:t>CPU </a:t>
            </a:r>
            <a:r>
              <a:rPr lang="ko-KR" altLang="en-US" sz="1700" dirty="0"/>
              <a:t>사용량</a:t>
            </a:r>
            <a:r>
              <a:rPr lang="en-US" altLang="ko-KR" sz="1700" dirty="0"/>
              <a:t>:</a:t>
            </a:r>
            <a:r>
              <a:rPr lang="ko-KR" altLang="en-US" sz="1700" dirty="0"/>
              <a:t> </a:t>
            </a:r>
            <a:r>
              <a:rPr lang="en-US" altLang="ko-KR" sz="1700" dirty="0"/>
              <a:t>91.3%</a:t>
            </a:r>
            <a:br>
              <a:rPr lang="en-US" altLang="ko-KR" sz="1700" dirty="0"/>
            </a:br>
            <a:r>
              <a:rPr lang="ko-KR" altLang="en-US" sz="1700" dirty="0"/>
              <a:t>여유</a:t>
            </a:r>
            <a:r>
              <a:rPr lang="en-US" altLang="ko-KR" sz="1700" dirty="0"/>
              <a:t>:</a:t>
            </a:r>
            <a:r>
              <a:rPr lang="ko-KR" altLang="en-US" sz="1700" dirty="0"/>
              <a:t> </a:t>
            </a:r>
            <a:r>
              <a:rPr lang="en-US" altLang="ko-KR" sz="1700" dirty="0"/>
              <a:t>8.7%</a:t>
            </a:r>
          </a:p>
          <a:p>
            <a:endParaRPr lang="en-US" altLang="ko-KR" sz="1700" dirty="0"/>
          </a:p>
          <a:p>
            <a:r>
              <a:rPr lang="ko-KR" altLang="en-US" sz="1700" dirty="0"/>
              <a:t>만약 </a:t>
            </a:r>
            <a:r>
              <a:rPr lang="en-US" altLang="ko-KR" sz="1700" dirty="0"/>
              <a:t>CPU</a:t>
            </a:r>
            <a:r>
              <a:rPr lang="ko-KR" altLang="en-US" sz="1700" dirty="0"/>
              <a:t>가 </a:t>
            </a:r>
            <a:r>
              <a:rPr lang="en-US" altLang="ko-KR" sz="1700" dirty="0"/>
              <a:t>100% </a:t>
            </a:r>
            <a:r>
              <a:rPr lang="ko-KR" altLang="en-US" sz="1700" dirty="0"/>
              <a:t>풀로 돌아간다는 것은</a:t>
            </a:r>
            <a:endParaRPr lang="en-US" altLang="ko-KR" sz="1700" dirty="0"/>
          </a:p>
          <a:p>
            <a:r>
              <a:rPr lang="en-US" altLang="ko-KR" sz="1700" dirty="0"/>
              <a:t>id</a:t>
            </a:r>
            <a:r>
              <a:rPr lang="ko-KR" altLang="en-US" sz="1700" dirty="0"/>
              <a:t>가 </a:t>
            </a:r>
            <a:r>
              <a:rPr lang="en-US" altLang="ko-KR" sz="1700" dirty="0"/>
              <a:t>0%</a:t>
            </a:r>
            <a:r>
              <a:rPr lang="ko-KR" altLang="en-US" sz="1700" dirty="0"/>
              <a:t>가 나오게 됨 </a:t>
            </a:r>
            <a:r>
              <a:rPr lang="en-US" altLang="ko-KR" sz="1700" dirty="0"/>
              <a:t>&lt;- 100% </a:t>
            </a:r>
            <a:r>
              <a:rPr lang="ko-KR" altLang="en-US" sz="1700" dirty="0"/>
              <a:t>부하 상태</a:t>
            </a:r>
            <a:r>
              <a:rPr lang="en-US" altLang="ko-KR" sz="1700" dirty="0"/>
              <a:t>(</a:t>
            </a:r>
            <a:r>
              <a:rPr lang="ko-KR" altLang="en-US" sz="1700" dirty="0"/>
              <a:t>모든 </a:t>
            </a:r>
            <a:r>
              <a:rPr lang="en-US" altLang="ko-KR" sz="1700" dirty="0"/>
              <a:t>CPU </a:t>
            </a:r>
            <a:r>
              <a:rPr lang="ko-KR" altLang="en-US" sz="1700" dirty="0"/>
              <a:t>사용</a:t>
            </a:r>
            <a:r>
              <a:rPr lang="en-US" altLang="ko-KR" sz="17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07890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C49A56-75BB-4423-AF9E-28B0A6DBA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코어 수 및 하드웨어가 허용하는 클럭 속도</a:t>
            </a:r>
            <a:r>
              <a:rPr lang="en-US" altLang="ko-KR" dirty="0"/>
              <a:t>, governor</a:t>
            </a:r>
            <a:r>
              <a:rPr lang="ko-KR" altLang="en-US" dirty="0"/>
              <a:t>가 설정한 클럭 속도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AAAE7F3-D4F3-40DA-B01A-9AB7F9101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11" y="1771050"/>
            <a:ext cx="6296904" cy="39820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FC8861-BD26-4193-B7E8-DCA18BDFBEAE}"/>
              </a:ext>
            </a:extLst>
          </p:cNvPr>
          <p:cNvSpPr txBox="1"/>
          <p:nvPr/>
        </p:nvSpPr>
        <p:spPr>
          <a:xfrm>
            <a:off x="7096875" y="1771050"/>
            <a:ext cx="460841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[</a:t>
            </a:r>
            <a:r>
              <a:rPr lang="ko-KR" altLang="en-US" sz="1200" b="1" dirty="0"/>
              <a:t>하드웨어 </a:t>
            </a:r>
            <a:r>
              <a:rPr lang="ko-KR" altLang="en-US" sz="1200" b="1" dirty="0" err="1"/>
              <a:t>코어수</a:t>
            </a:r>
            <a:r>
              <a:rPr lang="en-US" altLang="ko-KR" sz="1200" b="1" dirty="0"/>
              <a:t>]</a:t>
            </a:r>
          </a:p>
          <a:p>
            <a:r>
              <a:rPr lang="en-US" altLang="ko-KR" sz="1200" dirty="0" err="1"/>
              <a:t>nproc</a:t>
            </a:r>
            <a:endParaRPr lang="en-US" altLang="ko-KR" sz="1200" dirty="0"/>
          </a:p>
          <a:p>
            <a:endParaRPr lang="en-US" altLang="ko-KR" sz="1200" b="1" dirty="0"/>
          </a:p>
          <a:p>
            <a:r>
              <a:rPr lang="en-US" altLang="ko-KR" sz="1200" b="1" dirty="0"/>
              <a:t>[</a:t>
            </a:r>
            <a:r>
              <a:rPr lang="en-US" altLang="ko-KR" sz="1200" b="1" dirty="0" err="1"/>
              <a:t>cpu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관련 경로 이동</a:t>
            </a:r>
            <a:r>
              <a:rPr lang="en-US" altLang="ko-KR" sz="1200" b="1" dirty="0"/>
              <a:t>]</a:t>
            </a:r>
          </a:p>
          <a:p>
            <a:r>
              <a:rPr lang="en-US" altLang="ko-KR" sz="1200" dirty="0"/>
              <a:t>cd</a:t>
            </a:r>
            <a:r>
              <a:rPr lang="ko-KR" altLang="en-US" sz="1200" dirty="0"/>
              <a:t> </a:t>
            </a:r>
            <a:r>
              <a:rPr lang="en-US" altLang="ko-KR" sz="1200" dirty="0"/>
              <a:t>/sys/devices/system/</a:t>
            </a:r>
            <a:r>
              <a:rPr lang="en-US" altLang="ko-KR" sz="1200" dirty="0" err="1"/>
              <a:t>cpu</a:t>
            </a:r>
            <a:r>
              <a:rPr lang="en-US" altLang="ko-KR" sz="1200" dirty="0"/>
              <a:t>/</a:t>
            </a:r>
            <a:r>
              <a:rPr lang="en-US" altLang="ko-KR" sz="1200" dirty="0" err="1"/>
              <a:t>cpu</a:t>
            </a:r>
            <a:r>
              <a:rPr lang="en-US" altLang="ko-KR" sz="1200" dirty="0"/>
              <a:t>*/</a:t>
            </a:r>
            <a:r>
              <a:rPr lang="en-US" altLang="ko-KR" sz="1200" dirty="0" err="1"/>
              <a:t>cpufreq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b="1" dirty="0"/>
              <a:t>[</a:t>
            </a:r>
            <a:r>
              <a:rPr lang="ko-KR" altLang="en-US" sz="1200" b="1" dirty="0"/>
              <a:t>현재 </a:t>
            </a:r>
            <a:r>
              <a:rPr lang="en-US" altLang="ko-KR" sz="1200" b="1" dirty="0"/>
              <a:t>CPU </a:t>
            </a:r>
            <a:r>
              <a:rPr lang="ko-KR" altLang="en-US" sz="1200" b="1" dirty="0"/>
              <a:t>클럭 주파수</a:t>
            </a:r>
            <a:r>
              <a:rPr lang="en-US" altLang="ko-KR" sz="1200" b="1" dirty="0"/>
              <a:t>]</a:t>
            </a:r>
          </a:p>
          <a:p>
            <a:r>
              <a:rPr lang="en-US" altLang="ko-KR" sz="1200" dirty="0"/>
              <a:t>cat</a:t>
            </a:r>
            <a:r>
              <a:rPr lang="ko-KR" altLang="en-US" sz="1200" dirty="0"/>
              <a:t> </a:t>
            </a:r>
            <a:r>
              <a:rPr lang="en-US" altLang="ko-KR" sz="1200" dirty="0" err="1"/>
              <a:t>cpuinfo_cur_freq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b="1" dirty="0"/>
              <a:t>[</a:t>
            </a:r>
            <a:r>
              <a:rPr lang="ko-KR" altLang="en-US" sz="1200" b="1" dirty="0"/>
              <a:t>하드웨어가 허용하는 최소 클럭</a:t>
            </a:r>
            <a:r>
              <a:rPr lang="en-US" altLang="ko-KR" sz="1200" b="1" dirty="0"/>
              <a:t>]</a:t>
            </a:r>
          </a:p>
          <a:p>
            <a:r>
              <a:rPr lang="en-US" altLang="ko-KR" sz="1200" dirty="0"/>
              <a:t>cat </a:t>
            </a:r>
            <a:r>
              <a:rPr lang="en-US" altLang="ko-KR" sz="1200" dirty="0" err="1"/>
              <a:t>cpuinfo_min_freq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b="1" dirty="0"/>
              <a:t>[</a:t>
            </a:r>
            <a:r>
              <a:rPr lang="ko-KR" altLang="en-US" sz="1200" b="1" dirty="0"/>
              <a:t>하드웨어가 허용하는 최대 클럭</a:t>
            </a:r>
            <a:r>
              <a:rPr lang="en-US" altLang="ko-KR" sz="1200" b="1" dirty="0"/>
              <a:t>]</a:t>
            </a:r>
          </a:p>
          <a:p>
            <a:r>
              <a:rPr lang="en-US" altLang="ko-KR" sz="1200" dirty="0"/>
              <a:t>cat </a:t>
            </a:r>
            <a:r>
              <a:rPr lang="en-US" altLang="ko-KR" sz="1200" dirty="0" err="1"/>
              <a:t>cpuinfo_max_freq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b="1" dirty="0"/>
              <a:t>[governor</a:t>
            </a:r>
            <a:r>
              <a:rPr lang="ko-KR" altLang="en-US" sz="1200" b="1" dirty="0"/>
              <a:t>가 사용 중인 </a:t>
            </a:r>
            <a:r>
              <a:rPr lang="en-US" altLang="ko-KR" sz="1200" b="1" dirty="0"/>
              <a:t>CPU </a:t>
            </a:r>
            <a:r>
              <a:rPr lang="ko-KR" altLang="en-US" sz="1200" b="1" dirty="0"/>
              <a:t>정책</a:t>
            </a:r>
            <a:r>
              <a:rPr lang="en-US" altLang="ko-KR" sz="1200" b="1" dirty="0"/>
              <a:t>]</a:t>
            </a:r>
          </a:p>
          <a:p>
            <a:r>
              <a:rPr lang="en-US" altLang="ko-KR" sz="1200" dirty="0"/>
              <a:t>cat</a:t>
            </a:r>
            <a:r>
              <a:rPr lang="ko-KR" altLang="en-US" sz="1200" dirty="0"/>
              <a:t> </a:t>
            </a:r>
            <a:r>
              <a:rPr lang="en-US" altLang="ko-KR" sz="1200" dirty="0" err="1"/>
              <a:t>scaling_governor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b="1" dirty="0"/>
              <a:t>[governor</a:t>
            </a:r>
            <a:r>
              <a:rPr lang="ko-KR" altLang="en-US" sz="1200" b="1" dirty="0"/>
              <a:t>가 설정한 현재 속도</a:t>
            </a:r>
            <a:r>
              <a:rPr lang="en-US" altLang="ko-KR" sz="1200" b="1" dirty="0"/>
              <a:t>]</a:t>
            </a:r>
          </a:p>
          <a:p>
            <a:r>
              <a:rPr lang="en-US" altLang="ko-KR" sz="1200" dirty="0"/>
              <a:t>cat</a:t>
            </a:r>
            <a:r>
              <a:rPr lang="ko-KR" altLang="en-US" sz="1200" dirty="0"/>
              <a:t> </a:t>
            </a:r>
            <a:r>
              <a:rPr lang="en-US" altLang="ko-KR" sz="1200" dirty="0" err="1"/>
              <a:t>scaling_cur_freq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b="1" dirty="0"/>
              <a:t>[governor</a:t>
            </a:r>
            <a:r>
              <a:rPr lang="ko-KR" altLang="en-US" sz="1200" b="1" dirty="0"/>
              <a:t>가 설정한 최소 속도</a:t>
            </a:r>
            <a:r>
              <a:rPr lang="en-US" altLang="ko-KR" sz="1200" b="1" dirty="0"/>
              <a:t>]</a:t>
            </a:r>
          </a:p>
          <a:p>
            <a:r>
              <a:rPr lang="en-US" altLang="ko-KR" sz="1200" dirty="0"/>
              <a:t>cat</a:t>
            </a:r>
            <a:r>
              <a:rPr lang="ko-KR" altLang="en-US" sz="1200" dirty="0"/>
              <a:t> </a:t>
            </a:r>
            <a:r>
              <a:rPr lang="en-US" altLang="ko-KR" sz="1200" dirty="0" err="1"/>
              <a:t>scaling_min_freq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b="1" dirty="0"/>
              <a:t>[governor</a:t>
            </a:r>
            <a:r>
              <a:rPr lang="ko-KR" altLang="en-US" sz="1200" b="1" dirty="0"/>
              <a:t>가 설정한 최대 속도</a:t>
            </a:r>
            <a:r>
              <a:rPr lang="en-US" altLang="ko-KR" sz="1200" b="1" dirty="0"/>
              <a:t>]</a:t>
            </a:r>
          </a:p>
          <a:p>
            <a:r>
              <a:rPr lang="en-US" altLang="ko-KR" sz="1200" dirty="0"/>
              <a:t>cat</a:t>
            </a:r>
            <a:r>
              <a:rPr lang="ko-KR" altLang="en-US" sz="1200" dirty="0"/>
              <a:t> </a:t>
            </a:r>
            <a:r>
              <a:rPr lang="en-US" altLang="ko-KR" sz="1200" dirty="0" err="1"/>
              <a:t>scaling_max_freq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2754789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8F93FE-0EA3-4044-8F4B-9964E4C75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" y="742248"/>
            <a:ext cx="4833938" cy="820738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1. CPU </a:t>
            </a:r>
            <a:r>
              <a:rPr lang="ko-KR" altLang="en-US" dirty="0"/>
              <a:t>주파수 정보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6340D0DC-F012-42C3-BC8A-585C6B9D81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6594963"/>
              </p:ext>
            </p:extLst>
          </p:nvPr>
        </p:nvGraphicFramePr>
        <p:xfrm>
          <a:off x="209550" y="1562986"/>
          <a:ext cx="11772900" cy="4820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3225">
                  <a:extLst>
                    <a:ext uri="{9D8B030D-6E8A-4147-A177-3AD203B41FA5}">
                      <a16:colId xmlns:a16="http://schemas.microsoft.com/office/drawing/2014/main" val="1978855403"/>
                    </a:ext>
                  </a:extLst>
                </a:gridCol>
                <a:gridCol w="1909586">
                  <a:extLst>
                    <a:ext uri="{9D8B030D-6E8A-4147-A177-3AD203B41FA5}">
                      <a16:colId xmlns:a16="http://schemas.microsoft.com/office/drawing/2014/main" val="614180948"/>
                    </a:ext>
                  </a:extLst>
                </a:gridCol>
                <a:gridCol w="2788356">
                  <a:extLst>
                    <a:ext uri="{9D8B030D-6E8A-4147-A177-3AD203B41FA5}">
                      <a16:colId xmlns:a16="http://schemas.microsoft.com/office/drawing/2014/main" val="2510163672"/>
                    </a:ext>
                  </a:extLst>
                </a:gridCol>
                <a:gridCol w="4131733">
                  <a:extLst>
                    <a:ext uri="{9D8B030D-6E8A-4147-A177-3AD203B41FA5}">
                      <a16:colId xmlns:a16="http://schemas.microsoft.com/office/drawing/2014/main" val="249895311"/>
                    </a:ext>
                  </a:extLst>
                </a:gridCol>
              </a:tblGrid>
              <a:tr h="4244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항목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값</a:t>
                      </a:r>
                      <a:r>
                        <a:rPr lang="en-US" altLang="ko-KR" dirty="0"/>
                        <a:t>(kHz)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MHz </a:t>
                      </a:r>
                      <a:r>
                        <a:rPr lang="ko-KR" altLang="en-US"/>
                        <a:t>환산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설명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39071"/>
                  </a:ext>
                </a:extLst>
              </a:tr>
              <a:tr h="73264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현재 주파 수</a:t>
                      </a:r>
                      <a:r>
                        <a:rPr lang="en-US" altLang="ko-KR"/>
                        <a:t>(cpuinfo_cur_freq)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792000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792 MHz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현재 동작 중인 실제 클럭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125073"/>
                  </a:ext>
                </a:extLst>
              </a:tr>
              <a:tr h="73264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최소 주파수</a:t>
                      </a:r>
                      <a:r>
                        <a:rPr lang="en-US" altLang="ko-KR"/>
                        <a:t>(cpuinfo_min_freq)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198000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198 MHz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하드웨어적으로 가능한 최저 클럭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6390366"/>
                  </a:ext>
                </a:extLst>
              </a:tr>
              <a:tr h="73264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최대 주파수</a:t>
                      </a:r>
                      <a:r>
                        <a:rPr lang="en-US" altLang="ko-KR"/>
                        <a:t>(cpuinfo_max_freq)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792000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792 MHz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하드웨어적으로 가능한 최고 클럭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735071"/>
                  </a:ext>
                </a:extLst>
              </a:tr>
              <a:tr h="73264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현재 주파수</a:t>
                      </a:r>
                      <a:r>
                        <a:rPr lang="en-US" altLang="ko-KR"/>
                        <a:t>(scaling_cur_freq)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792000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792 MHz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커널이 관리하는 현재 주파수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189660"/>
                  </a:ext>
                </a:extLst>
              </a:tr>
              <a:tr h="73264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스케일링 최소 주파수</a:t>
                      </a:r>
                      <a:r>
                        <a:rPr lang="en-US" altLang="ko-KR"/>
                        <a:t>(scaling_min_freq)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198000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198 MHz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커널 정책상 허용된 최소 주파수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680727"/>
                  </a:ext>
                </a:extLst>
              </a:tr>
              <a:tr h="73264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스케일링</a:t>
                      </a:r>
                      <a:r>
                        <a:rPr lang="en-US" altLang="ko-KR"/>
                        <a:t> </a:t>
                      </a:r>
                      <a:r>
                        <a:rPr lang="ko-KR" altLang="en-US"/>
                        <a:t>최대 주파수</a:t>
                      </a:r>
                      <a:r>
                        <a:rPr lang="en-US" altLang="ko-KR"/>
                        <a:t>(scaling_max_freq)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792000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792 MHz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커널 정책상 허용된 최대 주파수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7169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4283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660A8A9-977D-4F67-92B3-30812AD49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17" y="1834519"/>
            <a:ext cx="6296904" cy="39820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AACECB-622F-4F04-9943-C7D23494802C}"/>
              </a:ext>
            </a:extLst>
          </p:cNvPr>
          <p:cNvSpPr txBox="1"/>
          <p:nvPr/>
        </p:nvSpPr>
        <p:spPr>
          <a:xfrm>
            <a:off x="7108164" y="2025019"/>
            <a:ext cx="46084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[</a:t>
            </a:r>
            <a:r>
              <a:rPr lang="ko-KR" altLang="en-US" sz="1200" b="1" dirty="0"/>
              <a:t>사용 가능한 </a:t>
            </a:r>
            <a:r>
              <a:rPr lang="en-US" altLang="ko-KR" sz="1200" b="1" dirty="0"/>
              <a:t>governor </a:t>
            </a:r>
            <a:r>
              <a:rPr lang="ko-KR" altLang="en-US" sz="1200" b="1" dirty="0"/>
              <a:t>목록</a:t>
            </a:r>
            <a:r>
              <a:rPr lang="en-US" altLang="ko-KR" sz="1200" b="1" dirty="0"/>
              <a:t>]</a:t>
            </a:r>
          </a:p>
          <a:p>
            <a:r>
              <a:rPr lang="en-US" altLang="ko-KR" sz="1200" dirty="0"/>
              <a:t>cat </a:t>
            </a:r>
            <a:r>
              <a:rPr lang="en-US" altLang="ko-KR" sz="1200" dirty="0" err="1"/>
              <a:t>scaling_available_governors</a:t>
            </a:r>
            <a:endParaRPr lang="en-US" altLang="ko-KR" sz="1200" dirty="0"/>
          </a:p>
          <a:p>
            <a:endParaRPr lang="en-US" altLang="ko-KR" sz="1200" b="1" dirty="0"/>
          </a:p>
          <a:p>
            <a:r>
              <a:rPr lang="en-US" altLang="ko-KR" sz="1200" b="1" dirty="0"/>
              <a:t>[CPU</a:t>
            </a:r>
            <a:r>
              <a:rPr lang="ko-KR" altLang="en-US" sz="1200" b="1" dirty="0"/>
              <a:t>가 사용할 수 있는 클럭 주파수 리스트</a:t>
            </a:r>
            <a:r>
              <a:rPr lang="en-US" altLang="ko-KR" sz="1200" b="1" dirty="0"/>
              <a:t>]</a:t>
            </a:r>
          </a:p>
          <a:p>
            <a:r>
              <a:rPr lang="en-US" altLang="ko-KR" sz="1200" dirty="0"/>
              <a:t>cat </a:t>
            </a:r>
            <a:r>
              <a:rPr lang="en-US" altLang="ko-KR" sz="1200" dirty="0" err="1"/>
              <a:t>scaling_available_frequencies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b="1" dirty="0"/>
              <a:t>[</a:t>
            </a:r>
            <a:r>
              <a:rPr lang="ko-KR" altLang="en-US" sz="1200" b="1" dirty="0"/>
              <a:t>현재 사용 중인 </a:t>
            </a:r>
            <a:r>
              <a:rPr lang="en-US" altLang="ko-KR" sz="1200" b="1" dirty="0" err="1"/>
              <a:t>cpufreq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드라이버 이름</a:t>
            </a:r>
            <a:r>
              <a:rPr lang="en-US" altLang="ko-KR" sz="1200" b="1" dirty="0"/>
              <a:t>]</a:t>
            </a:r>
          </a:p>
          <a:p>
            <a:r>
              <a:rPr lang="en-US" altLang="ko-KR" sz="1200" dirty="0"/>
              <a:t>cat</a:t>
            </a:r>
            <a:r>
              <a:rPr lang="ko-KR" altLang="en-US" sz="1200" dirty="0"/>
              <a:t> </a:t>
            </a:r>
            <a:r>
              <a:rPr lang="en-US" altLang="ko-KR" sz="1200" dirty="0" err="1"/>
              <a:t>scaling_driver</a:t>
            </a:r>
            <a:endParaRPr lang="en-US" altLang="ko-KR" sz="1200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816B6988-AF31-41B5-85BB-A5CE5419B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1234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C87042-F966-40AE-87E3-429AF1E92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3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600"/>
              <a:t>2. </a:t>
            </a:r>
            <a:r>
              <a:rPr lang="ko-KR" altLang="en-US" sz="3600"/>
              <a:t>정책</a:t>
            </a:r>
            <a:r>
              <a:rPr lang="en-US" altLang="ko-KR" sz="3600" dirty="0"/>
              <a:t>(Governor) </a:t>
            </a:r>
            <a:r>
              <a:rPr lang="ko-KR" altLang="en-US" sz="3600" dirty="0"/>
              <a:t>설정 정보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3830CEE0-7F5B-4F76-8382-84362F6F4A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1704067"/>
              </p:ext>
            </p:extLst>
          </p:nvPr>
        </p:nvGraphicFramePr>
        <p:xfrm>
          <a:off x="109538" y="1154113"/>
          <a:ext cx="11658600" cy="3629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2710133423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1889342014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819243960"/>
                    </a:ext>
                  </a:extLst>
                </a:gridCol>
              </a:tblGrid>
              <a:tr h="58740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2637838"/>
                  </a:ext>
                </a:extLst>
              </a:tr>
              <a:tr h="101387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현재 설정된 </a:t>
                      </a:r>
                      <a:r>
                        <a:rPr lang="en-US" altLang="ko-KR" dirty="0"/>
                        <a:t>Governor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ondemand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부하에 따라 클럭 자동 증가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감소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816271"/>
                  </a:ext>
                </a:extLst>
              </a:tr>
              <a:tr h="101387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 가능한 </a:t>
                      </a:r>
                      <a:r>
                        <a:rPr lang="en-US" altLang="ko-KR" dirty="0"/>
                        <a:t>Governor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Conservative, </a:t>
                      </a:r>
                      <a:r>
                        <a:rPr lang="en-US" altLang="ko-KR" dirty="0" err="1"/>
                        <a:t>powersave</a:t>
                      </a:r>
                      <a:r>
                        <a:rPr lang="en-US" altLang="ko-KR" dirty="0"/>
                        <a:t>, </a:t>
                      </a:r>
                      <a:r>
                        <a:rPr lang="en-US" altLang="ko-KR" dirty="0" err="1"/>
                        <a:t>ondemand</a:t>
                      </a:r>
                      <a:r>
                        <a:rPr lang="en-US" altLang="ko-KR" dirty="0"/>
                        <a:t>, performance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동적 전력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성능 정책 선택지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9364074"/>
                  </a:ext>
                </a:extLst>
              </a:tr>
              <a:tr h="10138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Governor </a:t>
                      </a:r>
                      <a:r>
                        <a:rPr lang="ko-KR" altLang="en-US" dirty="0"/>
                        <a:t>드라이버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imx6q-cpufreq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i.MX6ULL </a:t>
                      </a:r>
                      <a:r>
                        <a:rPr lang="ko-KR" altLang="en-US" dirty="0"/>
                        <a:t>전용 </a:t>
                      </a:r>
                      <a:r>
                        <a:rPr lang="en-US" altLang="ko-KR" dirty="0" err="1"/>
                        <a:t>CPUfreq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드라이버 사용 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021178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FF4BD53E-2E5E-4A9F-BE21-128A83690F3F}"/>
              </a:ext>
            </a:extLst>
          </p:cNvPr>
          <p:cNvSpPr txBox="1">
            <a:spLocks/>
          </p:cNvSpPr>
          <p:nvPr/>
        </p:nvSpPr>
        <p:spPr>
          <a:xfrm>
            <a:off x="0" y="461168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/>
              <a:t>3. </a:t>
            </a:r>
            <a:r>
              <a:rPr lang="ko-KR" altLang="en-US" sz="3600" dirty="0"/>
              <a:t>사용 가능한 클럭 주파수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B57C2C-957A-404B-8A98-94C61F9C208A}"/>
              </a:ext>
            </a:extLst>
          </p:cNvPr>
          <p:cNvSpPr txBox="1"/>
          <p:nvPr/>
        </p:nvSpPr>
        <p:spPr>
          <a:xfrm>
            <a:off x="0" y="5752586"/>
            <a:ext cx="5172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198000 / 396000 / 528000 / 792000 (</a:t>
            </a:r>
            <a:r>
              <a:rPr lang="ko-KR" altLang="en-US" dirty="0"/>
              <a:t>단위</a:t>
            </a:r>
            <a:r>
              <a:rPr lang="en-US" altLang="ko-KR" dirty="0"/>
              <a:t>: kHz)</a:t>
            </a:r>
            <a:endParaRPr lang="ko-KR" altLang="en-US" dirty="0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7A25526F-47F1-4402-81A4-D2272A7EB1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174708"/>
              </p:ext>
            </p:extLst>
          </p:nvPr>
        </p:nvGraphicFramePr>
        <p:xfrm>
          <a:off x="5741988" y="4927600"/>
          <a:ext cx="631666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8331">
                  <a:extLst>
                    <a:ext uri="{9D8B030D-6E8A-4147-A177-3AD203B41FA5}">
                      <a16:colId xmlns:a16="http://schemas.microsoft.com/office/drawing/2014/main" val="3019857824"/>
                    </a:ext>
                  </a:extLst>
                </a:gridCol>
                <a:gridCol w="3158331">
                  <a:extLst>
                    <a:ext uri="{9D8B030D-6E8A-4147-A177-3AD203B41FA5}">
                      <a16:colId xmlns:a16="http://schemas.microsoft.com/office/drawing/2014/main" val="35498412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주파수 단계 </a:t>
                      </a:r>
                      <a:r>
                        <a:rPr lang="en-US" altLang="ko-KR" dirty="0"/>
                        <a:t>(kHz)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MHz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248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198000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198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7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396000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396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924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528000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528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9519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792000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792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1432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1550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BA242F-C3E0-480C-A218-595F9284E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208844"/>
            <a:ext cx="10515600" cy="1325563"/>
          </a:xfrm>
        </p:spPr>
        <p:txBody>
          <a:bodyPr/>
          <a:lstStyle/>
          <a:p>
            <a:r>
              <a:rPr lang="en-US" altLang="ko-KR" dirty="0"/>
              <a:t>RAM vs ROM </a:t>
            </a:r>
            <a:r>
              <a:rPr lang="ko-KR" altLang="en-US" dirty="0"/>
              <a:t>차이점</a:t>
            </a:r>
          </a:p>
        </p:txBody>
      </p:sp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3625BF85-A538-4D16-B826-2B0530359F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3810973"/>
              </p:ext>
            </p:extLst>
          </p:nvPr>
        </p:nvGraphicFramePr>
        <p:xfrm>
          <a:off x="838197" y="1407935"/>
          <a:ext cx="10515597" cy="4823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63560995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02651811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906843567"/>
                    </a:ext>
                  </a:extLst>
                </a:gridCol>
              </a:tblGrid>
              <a:tr h="80392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RAM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ROM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303740"/>
                  </a:ext>
                </a:extLst>
              </a:tr>
              <a:tr h="80392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Random Access Memory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Read-Only Memory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9460745"/>
                  </a:ext>
                </a:extLst>
              </a:tr>
              <a:tr h="80392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실행 중인 프로그램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데이터 저장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휘발성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OS, </a:t>
                      </a:r>
                      <a:r>
                        <a:rPr lang="ko-KR" altLang="en-US" dirty="0" err="1"/>
                        <a:t>부트로더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고정된 펌웨어 저장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비휘발성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0611257"/>
                  </a:ext>
                </a:extLst>
              </a:tr>
              <a:tr h="80392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속성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전원 끄면 내용 사라짐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전원 꺼도 유지됨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4829661"/>
                  </a:ext>
                </a:extLst>
              </a:tr>
              <a:tr h="80392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위치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Linux </a:t>
                      </a:r>
                      <a:r>
                        <a:rPr lang="ko-KR" altLang="en-US" dirty="0"/>
                        <a:t>커널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사용자 앱 실행 시 여기에 올라감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부트로더</a:t>
                      </a:r>
                      <a:r>
                        <a:rPr lang="en-US" altLang="ko-KR" dirty="0"/>
                        <a:t>(U-Boot), </a:t>
                      </a:r>
                      <a:r>
                        <a:rPr lang="ko-KR" altLang="en-US" dirty="0"/>
                        <a:t>커널 이미지 저장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15728"/>
                  </a:ext>
                </a:extLst>
              </a:tr>
              <a:tr h="80392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예시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512MB DDR3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4GB eMMC, 16MB SPI NOR Flash </a:t>
                      </a:r>
                      <a:r>
                        <a:rPr lang="ko-KR" altLang="en-US" dirty="0"/>
                        <a:t>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014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417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4D9F5C-1460-440F-9616-4E902800B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06804"/>
            <a:ext cx="10515600" cy="1325563"/>
          </a:xfrm>
        </p:spPr>
        <p:txBody>
          <a:bodyPr/>
          <a:lstStyle/>
          <a:p>
            <a:r>
              <a:rPr lang="ko-KR" altLang="en-US" dirty="0"/>
              <a:t>보드에서 </a:t>
            </a:r>
            <a:r>
              <a:rPr lang="en-US" altLang="ko-KR" dirty="0"/>
              <a:t>RAM </a:t>
            </a:r>
            <a:r>
              <a:rPr lang="ko-KR" altLang="en-US" dirty="0"/>
              <a:t>크기 확인하는 방법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04B8211-DED8-4178-83B9-9F64FB802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6343"/>
            <a:ext cx="6296904" cy="3982006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C29202A-554A-4913-AC1B-09D72C08C1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8221215"/>
              </p:ext>
            </p:extLst>
          </p:nvPr>
        </p:nvGraphicFramePr>
        <p:xfrm>
          <a:off x="6296904" y="978117"/>
          <a:ext cx="5792349" cy="3891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0783">
                  <a:extLst>
                    <a:ext uri="{9D8B030D-6E8A-4147-A177-3AD203B41FA5}">
                      <a16:colId xmlns:a16="http://schemas.microsoft.com/office/drawing/2014/main" val="137759344"/>
                    </a:ext>
                  </a:extLst>
                </a:gridCol>
                <a:gridCol w="1930783">
                  <a:extLst>
                    <a:ext uri="{9D8B030D-6E8A-4147-A177-3AD203B41FA5}">
                      <a16:colId xmlns:a16="http://schemas.microsoft.com/office/drawing/2014/main" val="2098611851"/>
                    </a:ext>
                  </a:extLst>
                </a:gridCol>
                <a:gridCol w="1930783">
                  <a:extLst>
                    <a:ext uri="{9D8B030D-6E8A-4147-A177-3AD203B41FA5}">
                      <a16:colId xmlns:a16="http://schemas.microsoft.com/office/drawing/2014/main" val="1559321675"/>
                    </a:ext>
                  </a:extLst>
                </a:gridCol>
              </a:tblGrid>
              <a:tr h="5559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3090254"/>
                  </a:ext>
                </a:extLst>
              </a:tr>
              <a:tr h="5559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총 </a:t>
                      </a:r>
                      <a:r>
                        <a:rPr lang="en-US" altLang="ko-KR" sz="1200" dirty="0"/>
                        <a:t>RAM(</a:t>
                      </a:r>
                      <a:r>
                        <a:rPr lang="en-US" altLang="ko-KR" sz="1200" dirty="0" err="1"/>
                        <a:t>MemTotal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~490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MiB(502,412 kB)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전체 메모리 크기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0667131"/>
                  </a:ext>
                </a:extLst>
              </a:tr>
              <a:tr h="5559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사용 중</a:t>
                      </a:r>
                      <a:r>
                        <a:rPr lang="en-US" altLang="ko-KR" sz="1200" dirty="0"/>
                        <a:t>(used)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28MiB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현재 사용된 메모리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853815"/>
                  </a:ext>
                </a:extLst>
              </a:tr>
              <a:tr h="5559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남은 메모리 </a:t>
                      </a:r>
                      <a:r>
                        <a:rPr lang="en-US" altLang="ko-KR" sz="1200" dirty="0"/>
                        <a:t>(free)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409 MiB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아무도 안 쓰는 여유 메모리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807516"/>
                  </a:ext>
                </a:extLst>
              </a:tr>
              <a:tr h="5559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버퍼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캐시 </a:t>
                      </a:r>
                      <a:r>
                        <a:rPr lang="en-US" altLang="ko-KR" sz="1200" dirty="0"/>
                        <a:t>(buff/cache)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52 MiB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파일시스템 캐시 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534448"/>
                  </a:ext>
                </a:extLst>
              </a:tr>
              <a:tr h="5559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사용 가능 </a:t>
                      </a:r>
                      <a:r>
                        <a:rPr lang="en-US" altLang="ko-KR" sz="1200" dirty="0"/>
                        <a:t>(available)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392 MiB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실제로 사용할 수 있는 메모리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330766"/>
                  </a:ext>
                </a:extLst>
              </a:tr>
              <a:tr h="5559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/>
                        <a:t>스왑</a:t>
                      </a:r>
                      <a:r>
                        <a:rPr lang="en-US" altLang="ko-KR" sz="1200" dirty="0"/>
                        <a:t>(Swap)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없음</a:t>
                      </a:r>
                      <a:r>
                        <a:rPr lang="en-US" altLang="ko-KR" sz="1200" dirty="0"/>
                        <a:t>(0.0)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/>
                        <a:t>스왑</a:t>
                      </a:r>
                      <a:r>
                        <a:rPr lang="ko-KR" altLang="en-US" sz="1200" dirty="0"/>
                        <a:t> 공간이 설정되어 있지 않음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180486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47DBE3F-81D9-4DCA-AF1E-A98FDE594C47}"/>
              </a:ext>
            </a:extLst>
          </p:cNvPr>
          <p:cNvSpPr txBox="1"/>
          <p:nvPr/>
        </p:nvSpPr>
        <p:spPr>
          <a:xfrm>
            <a:off x="317500" y="4981527"/>
            <a:ext cx="713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[</a:t>
            </a:r>
            <a:r>
              <a:rPr lang="ko-KR" altLang="en-US" b="1" dirty="0"/>
              <a:t>보드에서 </a:t>
            </a:r>
            <a:r>
              <a:rPr lang="en-US" altLang="ko-KR" b="1" dirty="0"/>
              <a:t>RAM </a:t>
            </a:r>
            <a:r>
              <a:rPr lang="ko-KR" altLang="en-US" b="1" dirty="0"/>
              <a:t>크기 확인하는 방법</a:t>
            </a:r>
            <a:r>
              <a:rPr lang="en-US" altLang="ko-KR" b="1" dirty="0"/>
              <a:t>]</a:t>
            </a:r>
          </a:p>
          <a:p>
            <a:r>
              <a:rPr lang="ko-KR" altLang="en-US" b="1" dirty="0"/>
              <a:t>방법 </a:t>
            </a:r>
            <a:r>
              <a:rPr lang="en-US" altLang="ko-KR" b="1" dirty="0"/>
              <a:t>A</a:t>
            </a:r>
            <a:r>
              <a:rPr lang="en-US" altLang="ko-KR" dirty="0"/>
              <a:t>: free –h</a:t>
            </a:r>
          </a:p>
          <a:p>
            <a:r>
              <a:rPr lang="ko-KR" altLang="en-US" b="1" dirty="0"/>
              <a:t>방법 </a:t>
            </a:r>
            <a:r>
              <a:rPr lang="en-US" altLang="ko-KR" b="1" dirty="0"/>
              <a:t>B</a:t>
            </a:r>
            <a:r>
              <a:rPr lang="en-US" altLang="ko-KR" dirty="0"/>
              <a:t>: cat /proc/</a:t>
            </a:r>
            <a:r>
              <a:rPr lang="en-US" altLang="ko-KR" dirty="0" err="1"/>
              <a:t>meminfo</a:t>
            </a:r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3DD4C03-2DBB-44C6-BAD7-8E8ACDB3D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749834"/>
              </p:ext>
            </p:extLst>
          </p:nvPr>
        </p:nvGraphicFramePr>
        <p:xfrm>
          <a:off x="5548179" y="5186510"/>
          <a:ext cx="6413499" cy="1493520"/>
        </p:xfrm>
        <a:graphic>
          <a:graphicData uri="http://schemas.openxmlformats.org/drawingml/2006/table">
            <a:tbl>
              <a:tblPr/>
              <a:tblGrid>
                <a:gridCol w="2137833">
                  <a:extLst>
                    <a:ext uri="{9D8B030D-6E8A-4147-A177-3AD203B41FA5}">
                      <a16:colId xmlns:a16="http://schemas.microsoft.com/office/drawing/2014/main" val="4157680997"/>
                    </a:ext>
                  </a:extLst>
                </a:gridCol>
                <a:gridCol w="2137833">
                  <a:extLst>
                    <a:ext uri="{9D8B030D-6E8A-4147-A177-3AD203B41FA5}">
                      <a16:colId xmlns:a16="http://schemas.microsoft.com/office/drawing/2014/main" val="1247623993"/>
                    </a:ext>
                  </a:extLst>
                </a:gridCol>
                <a:gridCol w="2137833">
                  <a:extLst>
                    <a:ext uri="{9D8B030D-6E8A-4147-A177-3AD203B41FA5}">
                      <a16:colId xmlns:a16="http://schemas.microsoft.com/office/drawing/2014/main" val="7761042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600"/>
                        <a:t>단위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/>
                        <a:t>의미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/>
                        <a:t>바이트 기준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6290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/>
                        <a:t>MiB</a:t>
                      </a:r>
                      <a:endParaRPr lang="en-U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Mebibyte</a:t>
                      </a:r>
                      <a:endParaRPr lang="en-U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sv-SE" sz="1600"/>
                        <a:t>1 MiB = 1,048,576 bytes = 1024 × 1024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2399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/>
                        <a:t>MB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Megabyte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 MB = 1,000,000 bytes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2758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4603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6C35BE-0C78-4A0B-BB33-E775FF970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98" y="1588"/>
            <a:ext cx="10515600" cy="1325563"/>
          </a:xfrm>
        </p:spPr>
        <p:txBody>
          <a:bodyPr/>
          <a:lstStyle/>
          <a:p>
            <a:r>
              <a:rPr lang="en-US" altLang="ko-KR" dirty="0"/>
              <a:t>ROM (eMMC </a:t>
            </a:r>
            <a:r>
              <a:rPr lang="ko-KR" altLang="en-US" dirty="0"/>
              <a:t>저장장치 용량 확인 방법</a:t>
            </a:r>
            <a:r>
              <a:rPr lang="en-US" altLang="ko-KR" dirty="0"/>
              <a:t>) 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B528B48-EABC-402F-BA21-031B01202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8" y="1134685"/>
            <a:ext cx="6296904" cy="39820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BB1A42-9919-4670-A93D-F30A0C40AA0A}"/>
              </a:ext>
            </a:extLst>
          </p:cNvPr>
          <p:cNvSpPr txBox="1"/>
          <p:nvPr/>
        </p:nvSpPr>
        <p:spPr>
          <a:xfrm>
            <a:off x="408602" y="5379084"/>
            <a:ext cx="53213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[ROM (eMMC </a:t>
            </a:r>
            <a:r>
              <a:rPr lang="ko-KR" altLang="en-US" b="1" dirty="0"/>
              <a:t>저장장치 용량 확인 방법</a:t>
            </a:r>
            <a:r>
              <a:rPr lang="en-US" altLang="ko-KR" b="1" dirty="0"/>
              <a:t>)]</a:t>
            </a:r>
          </a:p>
          <a:p>
            <a:r>
              <a:rPr lang="ko-KR" altLang="en-US" b="1" dirty="0"/>
              <a:t>방법 </a:t>
            </a:r>
            <a:r>
              <a:rPr lang="en-US" altLang="ko-KR" b="1" dirty="0"/>
              <a:t>A</a:t>
            </a:r>
            <a:r>
              <a:rPr lang="en-US" altLang="ko-KR" dirty="0"/>
              <a:t>: df—h</a:t>
            </a:r>
          </a:p>
          <a:p>
            <a:r>
              <a:rPr lang="ko-KR" altLang="en-US" b="1" dirty="0"/>
              <a:t>방법 </a:t>
            </a:r>
            <a:r>
              <a:rPr lang="en-US" altLang="ko-KR" b="1" dirty="0"/>
              <a:t>B</a:t>
            </a:r>
            <a:r>
              <a:rPr lang="en-US" altLang="ko-KR" dirty="0"/>
              <a:t>: </a:t>
            </a:r>
            <a:r>
              <a:rPr lang="en-US" altLang="ko-KR" dirty="0" err="1"/>
              <a:t>lsblk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AD19107B-2EAD-4744-B73A-2D3A5AC235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076877"/>
              </p:ext>
            </p:extLst>
          </p:nvPr>
        </p:nvGraphicFramePr>
        <p:xfrm>
          <a:off x="6399827" y="1212355"/>
          <a:ext cx="5792349" cy="3891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7373">
                  <a:extLst>
                    <a:ext uri="{9D8B030D-6E8A-4147-A177-3AD203B41FA5}">
                      <a16:colId xmlns:a16="http://schemas.microsoft.com/office/drawing/2014/main" val="137759344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98611851"/>
                    </a:ext>
                  </a:extLst>
                </a:gridCol>
                <a:gridCol w="2997376">
                  <a:extLst>
                    <a:ext uri="{9D8B030D-6E8A-4147-A177-3AD203B41FA5}">
                      <a16:colId xmlns:a16="http://schemas.microsoft.com/office/drawing/2014/main" val="1559321675"/>
                    </a:ext>
                  </a:extLst>
                </a:gridCol>
              </a:tblGrid>
              <a:tr h="5559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3090254"/>
                  </a:ext>
                </a:extLst>
              </a:tr>
              <a:tr h="5559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총 저장 용량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7.3 GB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전체 용량 </a:t>
                      </a:r>
                      <a:r>
                        <a:rPr lang="en-US" altLang="ko-KR" sz="1200" dirty="0"/>
                        <a:t>(/dev/mmcblk1)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0667131"/>
                  </a:ext>
                </a:extLst>
              </a:tr>
              <a:tr h="5559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사용 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718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MB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루트 파일 시스템 기준 실제 사용된 공간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853815"/>
                  </a:ext>
                </a:extLst>
              </a:tr>
              <a:tr h="5559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남은 용량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6.1 GB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사용 가능한 저장 공간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807516"/>
                  </a:ext>
                </a:extLst>
              </a:tr>
              <a:tr h="5559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부트 파티션 </a:t>
                      </a:r>
                      <a:r>
                        <a:rPr lang="en-US" altLang="ko-KR" sz="1200" dirty="0"/>
                        <a:t>(p1)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16MB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커널 이미지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dtb</a:t>
                      </a:r>
                      <a:r>
                        <a:rPr lang="en-US" altLang="ko-KR" sz="1200" dirty="0"/>
                        <a:t>, U-Boot </a:t>
                      </a:r>
                      <a:r>
                        <a:rPr lang="ko-KR" altLang="en-US" sz="1200" dirty="0"/>
                        <a:t>등이 저장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534448"/>
                  </a:ext>
                </a:extLst>
              </a:tr>
              <a:tr h="5559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루트 파일시스템 </a:t>
                      </a:r>
                      <a:r>
                        <a:rPr lang="en-US" altLang="ko-KR" sz="1200" dirty="0"/>
                        <a:t>(p2)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7.3 GB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/ </a:t>
                      </a:r>
                      <a:r>
                        <a:rPr lang="ko-KR" altLang="en-US" sz="1200" dirty="0"/>
                        <a:t>로 </a:t>
                      </a:r>
                      <a:r>
                        <a:rPr lang="ko-KR" altLang="en-US" sz="1200" dirty="0" err="1"/>
                        <a:t>마운트된</a:t>
                      </a:r>
                      <a:r>
                        <a:rPr lang="ko-KR" altLang="en-US" sz="1200" dirty="0"/>
                        <a:t> 메인 파일시스템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330766"/>
                  </a:ext>
                </a:extLst>
              </a:tr>
              <a:tr h="5559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부트 </a:t>
                      </a:r>
                      <a:r>
                        <a:rPr lang="en-US" altLang="ko-KR" sz="1200" dirty="0"/>
                        <a:t>ROM </a:t>
                      </a:r>
                      <a:r>
                        <a:rPr lang="ko-KR" altLang="en-US" sz="1200" dirty="0"/>
                        <a:t>영역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각 </a:t>
                      </a:r>
                      <a:r>
                        <a:rPr lang="en-US" altLang="ko-KR" sz="1200" dirty="0"/>
                        <a:t>4 MB x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Mmcbl1boot0, mmcblk1boot1 </a:t>
                      </a:r>
                      <a:r>
                        <a:rPr lang="en-US" altLang="ko-KR" sz="120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200" dirty="0">
                          <a:sym typeface="Wingdings" panose="05000000000000000000" pitchFamily="2" charset="2"/>
                        </a:rPr>
                        <a:t>읽기 전용 부트용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1804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1566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F62A47-05F1-4DB9-84D9-062E47965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996" y="179943"/>
            <a:ext cx="66103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b="1" dirty="0"/>
              <a:t>[</a:t>
            </a:r>
            <a:r>
              <a:rPr lang="ko-KR" altLang="en-US" sz="2000" b="1" dirty="0" err="1"/>
              <a:t>배포판</a:t>
            </a:r>
            <a:r>
              <a:rPr lang="ko-KR" altLang="en-US" sz="2000" b="1" dirty="0"/>
              <a:t> 이름 및 릴리스 확인</a:t>
            </a:r>
            <a:r>
              <a:rPr lang="en-US" altLang="ko-KR" sz="2000" b="1" dirty="0"/>
              <a:t>]</a:t>
            </a:r>
          </a:p>
          <a:p>
            <a:pPr marL="0" indent="0">
              <a:buNone/>
            </a:pPr>
            <a:r>
              <a:rPr lang="en-US" altLang="ko-KR" sz="2000" dirty="0"/>
              <a:t>cat /</a:t>
            </a:r>
            <a:r>
              <a:rPr lang="en-US" altLang="ko-KR" sz="2000" dirty="0" err="1"/>
              <a:t>etc</a:t>
            </a:r>
            <a:r>
              <a:rPr lang="en-US" altLang="ko-KR" sz="2000" dirty="0"/>
              <a:t>/issue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B6527FD-8F57-4A59-9863-DCD3B0078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8475"/>
            <a:ext cx="6296904" cy="3982006"/>
          </a:xfrm>
          <a:prstGeom prst="rect">
            <a:avLst/>
          </a:prstGeom>
        </p:spPr>
      </p:pic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60126A1A-8989-45FB-9174-9ED7EE7EA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0416"/>
              </p:ext>
            </p:extLst>
          </p:nvPr>
        </p:nvGraphicFramePr>
        <p:xfrm>
          <a:off x="6296904" y="2061845"/>
          <a:ext cx="5753100" cy="13671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7700">
                  <a:extLst>
                    <a:ext uri="{9D8B030D-6E8A-4147-A177-3AD203B41FA5}">
                      <a16:colId xmlns:a16="http://schemas.microsoft.com/office/drawing/2014/main" val="2896039247"/>
                    </a:ext>
                  </a:extLst>
                </a:gridCol>
                <a:gridCol w="1917700">
                  <a:extLst>
                    <a:ext uri="{9D8B030D-6E8A-4147-A177-3AD203B41FA5}">
                      <a16:colId xmlns:a16="http://schemas.microsoft.com/office/drawing/2014/main" val="2979760082"/>
                    </a:ext>
                  </a:extLst>
                </a:gridCol>
                <a:gridCol w="1917700">
                  <a:extLst>
                    <a:ext uri="{9D8B030D-6E8A-4147-A177-3AD203B41FA5}">
                      <a16:colId xmlns:a16="http://schemas.microsoft.com/office/drawing/2014/main" val="3700987863"/>
                    </a:ext>
                  </a:extLst>
                </a:gridCol>
              </a:tblGrid>
              <a:tr h="41719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예시 출력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의미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931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OS </a:t>
                      </a:r>
                      <a:r>
                        <a:rPr lang="ko-KR" altLang="en-US" sz="1600" dirty="0" err="1"/>
                        <a:t>배포판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NXP i.MX Release Distro 5.4-zeus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/>
                        <a:t>Yocto</a:t>
                      </a: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기반 리눅스</a:t>
                      </a:r>
                      <a:r>
                        <a:rPr lang="en-US" altLang="ko-KR" sz="1600" dirty="0"/>
                        <a:t>, Zeus </a:t>
                      </a:r>
                      <a:r>
                        <a:rPr lang="ko-KR" altLang="en-US" sz="1600" dirty="0"/>
                        <a:t>릴리스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9095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보드 제조사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Variscite, Ltd.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보드 제조사 이름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234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84975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6CBBC5-9ADB-4B50-9A95-44E06FD2A4C7}"/>
              </a:ext>
            </a:extLst>
          </p:cNvPr>
          <p:cNvSpPr txBox="1"/>
          <p:nvPr/>
        </p:nvSpPr>
        <p:spPr>
          <a:xfrm>
            <a:off x="100013" y="140215"/>
            <a:ext cx="65817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sz="1800" b="1" dirty="0"/>
              <a:t>[</a:t>
            </a:r>
            <a:r>
              <a:rPr lang="ko-KR" altLang="en-US" sz="1800" b="1" dirty="0" err="1"/>
              <a:t>커널버전</a:t>
            </a:r>
            <a:r>
              <a:rPr lang="ko-KR" altLang="en-US" sz="1800" b="1" dirty="0"/>
              <a:t> </a:t>
            </a:r>
            <a:r>
              <a:rPr lang="en-US" altLang="ko-KR" sz="1800" b="1" dirty="0"/>
              <a:t>+ </a:t>
            </a:r>
            <a:r>
              <a:rPr lang="ko-KR" altLang="en-US" sz="1800" b="1" dirty="0"/>
              <a:t>빌드 유저</a:t>
            </a:r>
            <a:r>
              <a:rPr lang="en-US" altLang="ko-KR" sz="1800" b="1" dirty="0"/>
              <a:t>/</a:t>
            </a:r>
            <a:r>
              <a:rPr lang="ko-KR" altLang="en-US" sz="1800" b="1" dirty="0"/>
              <a:t>컴파일러 확인</a:t>
            </a:r>
            <a:r>
              <a:rPr lang="en-US" altLang="ko-KR" sz="1800" b="1" dirty="0"/>
              <a:t>]</a:t>
            </a:r>
          </a:p>
          <a:p>
            <a:pPr marL="0" indent="0">
              <a:buNone/>
            </a:pPr>
            <a:r>
              <a:rPr lang="en-US" altLang="ko-KR" sz="1800" dirty="0"/>
              <a:t>cat /proc/version</a:t>
            </a:r>
          </a:p>
          <a:p>
            <a:pPr marL="0" indent="0">
              <a:buNone/>
            </a:pPr>
            <a:endParaRPr lang="en-US" altLang="ko-KR" sz="18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4BCAC99-54C0-4F7B-91D1-A40250F65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8860" y="1063545"/>
            <a:ext cx="6296904" cy="39820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3DA8BE-0269-4CC9-88B1-DF11E3409D01}"/>
              </a:ext>
            </a:extLst>
          </p:cNvPr>
          <p:cNvSpPr txBox="1"/>
          <p:nvPr/>
        </p:nvSpPr>
        <p:spPr>
          <a:xfrm>
            <a:off x="203199" y="3429000"/>
            <a:ext cx="65817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sz="1800" b="1" dirty="0"/>
              <a:t>[</a:t>
            </a:r>
            <a:r>
              <a:rPr lang="ko-KR" altLang="en-US" sz="1800" b="1" dirty="0"/>
              <a:t>전체 커널</a:t>
            </a:r>
            <a:r>
              <a:rPr lang="en-US" altLang="ko-KR" sz="1800" b="1" dirty="0"/>
              <a:t>/</a:t>
            </a:r>
            <a:r>
              <a:rPr lang="ko-KR" altLang="en-US" sz="1800" b="1" dirty="0"/>
              <a:t>아키텍처확인</a:t>
            </a:r>
            <a:r>
              <a:rPr lang="en-US" altLang="ko-KR" sz="1800" b="1" dirty="0"/>
              <a:t>]</a:t>
            </a:r>
          </a:p>
          <a:p>
            <a:pPr marL="0" indent="0">
              <a:buNone/>
            </a:pPr>
            <a:r>
              <a:rPr lang="en-US" altLang="ko-KR" sz="1800" dirty="0" err="1"/>
              <a:t>uname</a:t>
            </a:r>
            <a:r>
              <a:rPr lang="en-US" altLang="ko-KR" sz="1800" dirty="0"/>
              <a:t> -a</a:t>
            </a:r>
            <a:endParaRPr lang="ko-KR" altLang="en-US" sz="1800" dirty="0"/>
          </a:p>
        </p:txBody>
      </p:sp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1CCFE885-470C-4DE1-9352-BC11589486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499801"/>
              </p:ext>
            </p:extLst>
          </p:nvPr>
        </p:nvGraphicFramePr>
        <p:xfrm>
          <a:off x="203199" y="1048279"/>
          <a:ext cx="5540376" cy="221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0188">
                  <a:extLst>
                    <a:ext uri="{9D8B030D-6E8A-4147-A177-3AD203B41FA5}">
                      <a16:colId xmlns:a16="http://schemas.microsoft.com/office/drawing/2014/main" val="2613316698"/>
                    </a:ext>
                  </a:extLst>
                </a:gridCol>
                <a:gridCol w="2770188">
                  <a:extLst>
                    <a:ext uri="{9D8B030D-6E8A-4147-A177-3AD203B41FA5}">
                      <a16:colId xmlns:a16="http://schemas.microsoft.com/office/drawing/2014/main" val="19300545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의미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260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Linux version 5.4.3-…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/>
                        <a:t>커널버전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640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oe-user@oe-host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누가 </a:t>
                      </a:r>
                      <a:r>
                        <a:rPr lang="en-US" altLang="ko-KR" sz="1400" dirty="0" err="1"/>
                        <a:t>Yocto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빌드로 만든 커널인지 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보통 </a:t>
                      </a:r>
                      <a:r>
                        <a:rPr lang="en-US" altLang="ko-KR" sz="1400" dirty="0" err="1"/>
                        <a:t>oe</a:t>
                      </a:r>
                      <a:r>
                        <a:rPr lang="en-US" altLang="ko-KR" sz="1400" dirty="0"/>
                        <a:t>-user</a:t>
                      </a:r>
                      <a:r>
                        <a:rPr lang="ko-KR" altLang="en-US" sz="1400" dirty="0"/>
                        <a:t>는 </a:t>
                      </a:r>
                      <a:r>
                        <a:rPr lang="en-US" altLang="ko-KR" sz="1400" dirty="0" err="1"/>
                        <a:t>OpenEmbedded</a:t>
                      </a:r>
                      <a:r>
                        <a:rPr lang="ko-KR" altLang="en-US" sz="1400" dirty="0"/>
                        <a:t>의 빌드 계정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853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(</a:t>
                      </a:r>
                      <a:r>
                        <a:rPr lang="en-US" altLang="ko-KR" sz="1400" dirty="0" err="1"/>
                        <a:t>gcc</a:t>
                      </a:r>
                      <a:r>
                        <a:rPr lang="en-US" altLang="ko-KR" sz="1400" dirty="0"/>
                        <a:t> version …)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어떤 컴파일러로 빌드 됐는지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904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armv7l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아키텍처 </a:t>
                      </a:r>
                      <a:r>
                        <a:rPr lang="en-US" altLang="ko-KR" sz="1400" dirty="0"/>
                        <a:t>(ARM 32bit)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664182"/>
                  </a:ext>
                </a:extLst>
              </a:tr>
            </a:tbl>
          </a:graphicData>
        </a:graphic>
      </p:graphicFrame>
      <p:graphicFrame>
        <p:nvGraphicFramePr>
          <p:cNvPr id="10" name="표 8">
            <a:extLst>
              <a:ext uri="{FF2B5EF4-FFF2-40B4-BE49-F238E27FC236}">
                <a16:creationId xmlns:a16="http://schemas.microsoft.com/office/drawing/2014/main" id="{259F7393-1950-4A71-8844-C896F27464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572037"/>
              </p:ext>
            </p:extLst>
          </p:nvPr>
        </p:nvGraphicFramePr>
        <p:xfrm>
          <a:off x="200025" y="4171223"/>
          <a:ext cx="5540376" cy="1887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0188">
                  <a:extLst>
                    <a:ext uri="{9D8B030D-6E8A-4147-A177-3AD203B41FA5}">
                      <a16:colId xmlns:a16="http://schemas.microsoft.com/office/drawing/2014/main" val="2613316698"/>
                    </a:ext>
                  </a:extLst>
                </a:gridCol>
                <a:gridCol w="2770188">
                  <a:extLst>
                    <a:ext uri="{9D8B030D-6E8A-4147-A177-3AD203B41FA5}">
                      <a16:colId xmlns:a16="http://schemas.microsoft.com/office/drawing/2014/main" val="19300545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의미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260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Linux OSCT_102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커널 종류 </a:t>
                      </a:r>
                      <a:r>
                        <a:rPr lang="en-US" altLang="ko-KR" sz="1400" dirty="0"/>
                        <a:t>+ </a:t>
                      </a:r>
                      <a:r>
                        <a:rPr lang="ko-KR" altLang="en-US" sz="1400" dirty="0"/>
                        <a:t>호스트 이름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640027"/>
                  </a:ext>
                </a:extLst>
              </a:tr>
              <a:tr h="46999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5.4.3-…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/>
                        <a:t>커널버전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853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Armv7l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아키텍처 </a:t>
                      </a:r>
                      <a:r>
                        <a:rPr lang="en-US" altLang="ko-KR" sz="1400" dirty="0"/>
                        <a:t>(ARM 32bit)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904261"/>
                  </a:ext>
                </a:extLst>
              </a:tr>
              <a:tr h="199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기타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커널 작성 시간</a:t>
                      </a:r>
                      <a:r>
                        <a:rPr lang="en-US" altLang="ko-KR" sz="1400" dirty="0"/>
                        <a:t>, SMP </a:t>
                      </a:r>
                      <a:r>
                        <a:rPr lang="ko-KR" altLang="en-US" sz="1400" dirty="0"/>
                        <a:t>여부 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664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67596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B370CD-C594-4BFC-A4A4-D29734A24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709BFD-129A-4DF9-B891-65C9F54CF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4295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8AE4F5-1BBA-4ADF-A5C3-265A4F2C3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213" y="75260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rgbClr val="FF0000"/>
                </a:solidFill>
              </a:rPr>
              <a:t>[</a:t>
            </a:r>
            <a:r>
              <a:rPr lang="ko-KR" altLang="en-US" dirty="0">
                <a:solidFill>
                  <a:srgbClr val="FF0000"/>
                </a:solidFill>
              </a:rPr>
              <a:t>별도</a:t>
            </a:r>
            <a:r>
              <a:rPr lang="en-US" altLang="ko-KR" dirty="0">
                <a:solidFill>
                  <a:srgbClr val="FF0000"/>
                </a:solidFill>
              </a:rPr>
              <a:t>]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 err="1">
                <a:solidFill>
                  <a:srgbClr val="FF0000"/>
                </a:solidFill>
              </a:rPr>
              <a:t>넘파이</a:t>
            </a:r>
            <a:r>
              <a:rPr lang="ko-KR" altLang="en-US" dirty="0">
                <a:solidFill>
                  <a:srgbClr val="FF0000"/>
                </a:solidFill>
              </a:rPr>
              <a:t> 설치 시간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A0A268-01B1-4A80-BBF9-9C056F4C4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8494" y="738041"/>
            <a:ext cx="814863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800" dirty="0"/>
              <a:t>도중에 중단을 했는데 </a:t>
            </a:r>
            <a:r>
              <a:rPr lang="en-US" altLang="ko-KR" sz="1800" dirty="0"/>
              <a:t>real</a:t>
            </a:r>
            <a:r>
              <a:rPr lang="ko-KR" altLang="en-US" sz="1800" dirty="0"/>
              <a:t>이 </a:t>
            </a:r>
            <a:r>
              <a:rPr lang="en-US" altLang="ko-KR" sz="1800" dirty="0"/>
              <a:t>54</a:t>
            </a:r>
            <a:r>
              <a:rPr lang="ko-KR" altLang="en-US" sz="1800" dirty="0"/>
              <a:t>분이 넘었음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E58EBC7-1E47-4FF7-A79A-F71B88DB0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163" y="1158405"/>
            <a:ext cx="8629650" cy="5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217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3BB7A694-AD79-4E1B-ABBA-67C4FCBBE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53033" cy="450552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8E2C9B5-0441-42A6-8B3C-CAA035489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-32520"/>
            <a:ext cx="5195199" cy="341106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15D7004-74AD-46CF-8228-80B876A37B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0177" y="3429000"/>
            <a:ext cx="5886844" cy="320671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62558E3-0187-442B-B461-1A2893520E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76013"/>
            <a:ext cx="5910540" cy="171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4790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D968D92-59BC-4EC9-988B-0D3C4AE40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54026" cy="420933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75E8268-7C96-4F5C-B594-08C69F863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5733" y="0"/>
            <a:ext cx="5506831" cy="287411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882D9E4-2628-4820-BC57-39061AADA4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7666" y="2889201"/>
            <a:ext cx="5604898" cy="2640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531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F7DEB0-BDAC-43C3-A44F-87D95BBB4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09F889-F9A7-4715-9BED-5BFCF14E6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4635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1050</Words>
  <Application>Microsoft Office PowerPoint</Application>
  <PresentationFormat>와이드스크린</PresentationFormat>
  <Paragraphs>272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맑은 고딕</vt:lpstr>
      <vt:lpstr>Arial</vt:lpstr>
      <vt:lpstr>Wingdings</vt:lpstr>
      <vt:lpstr>Office 테마</vt:lpstr>
      <vt:lpstr>Variscite 보드 시스템 사양 및 운영환경 정리</vt:lpstr>
      <vt:lpstr>PowerPoint 프레젠테이션</vt:lpstr>
      <vt:lpstr>PowerPoint 프레젠테이션</vt:lpstr>
      <vt:lpstr>PowerPoint 프레젠테이션</vt:lpstr>
      <vt:lpstr>보드 모델 명 및 CPU 정보 </vt:lpstr>
      <vt:lpstr>[CPU 사용률] top</vt:lpstr>
      <vt:lpstr>코어 수 및 하드웨어가 허용하는 클럭 속도, governor가 설정한 클럭 속도</vt:lpstr>
      <vt:lpstr>1. CPU 주파수 정보</vt:lpstr>
      <vt:lpstr>PowerPoint 프레젠테이션</vt:lpstr>
      <vt:lpstr>2. 정책(Governor) 설정 정보</vt:lpstr>
      <vt:lpstr>RAM vs ROM 차이점</vt:lpstr>
      <vt:lpstr>보드에서 RAM 크기 확인하는 방법</vt:lpstr>
      <vt:lpstr>ROM (eMMC 저장장치 용량 확인 방법) </vt:lpstr>
      <vt:lpstr>PowerPoint 프레젠테이션</vt:lpstr>
      <vt:lpstr>PowerPoint 프레젠테이션</vt:lpstr>
      <vt:lpstr>PowerPoint 프레젠테이션</vt:lpstr>
      <vt:lpstr>[별도] 넘파이 설치 시간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정환 이</dc:creator>
  <cp:lastModifiedBy>정환 이</cp:lastModifiedBy>
  <cp:revision>46</cp:revision>
  <dcterms:created xsi:type="dcterms:W3CDTF">2025-04-18T02:18:58Z</dcterms:created>
  <dcterms:modified xsi:type="dcterms:W3CDTF">2025-04-18T09:07:16Z</dcterms:modified>
</cp:coreProperties>
</file>