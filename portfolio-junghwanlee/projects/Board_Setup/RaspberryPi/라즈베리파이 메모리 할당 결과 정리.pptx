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4" r:id="rId4"/>
    <p:sldId id="265" r:id="rId5"/>
    <p:sldId id="266" r:id="rId6"/>
    <p:sldId id="267" r:id="rId7"/>
    <p:sldId id="270" r:id="rId8"/>
    <p:sldId id="276" r:id="rId9"/>
    <p:sldId id="273" r:id="rId10"/>
    <p:sldId id="275" r:id="rId11"/>
    <p:sldId id="271" r:id="rId12"/>
    <p:sldId id="272" r:id="rId13"/>
    <p:sldId id="268" r:id="rId14"/>
    <p:sldId id="264" r:id="rId15"/>
    <p:sldId id="279" r:id="rId16"/>
    <p:sldId id="278" r:id="rId17"/>
    <p:sldId id="27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3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030A00-4F8B-492B-A5D9-9C87C0A89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40702F-CE23-467B-800D-D1EF5D58C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48E31E-56DF-4D1B-896A-D4D620309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F90F9A-CDF3-4576-B181-D9D709A3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31C260-437E-4063-B0C1-80F96A32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70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02763-B319-4231-AA8A-01B859F4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5BFFDD-3CF7-4AC4-A51F-4AC208C82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748E7-7986-4979-97EC-93486506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A452A-09F7-4AAE-B553-097FB89D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254A73-8D94-49D4-A8AD-743BAF94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93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CF449-C3F6-4ED6-9939-14F24CC9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1FF9F1-7FD3-41A8-9322-799BD89B2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BA98B-BC69-4B71-AAC3-4ACB37D5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250F97-7D27-4AC4-A25E-27E2FEE5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2CE36D-9C35-4ED0-A605-79746C79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04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1DD35-1932-4D21-A2C6-1B6D7162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D08200-7B4A-4830-86FE-A07697667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DBF9BB-2389-41AC-84AB-43825FB38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CE94BF-8E84-4834-A87D-F2541F72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7630C6-2ACE-4BEB-97F0-ECC25B89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403173-59FA-4BDE-9C40-0A84B2A0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56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A4CD9-345A-4F8E-9A17-59AB64C5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997629-8FE1-4E14-AF06-775F049BA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2E6A32-A603-4A86-8335-EFEC87E18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308B8E-7DAE-4944-B66B-EBE3A924B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505376-459C-4E0B-90BF-A37D8FA40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AF9395-4069-434B-800B-88093965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252F18-A799-48E1-AD9E-CC0DFA79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57449F-89B4-4708-A6B7-09D778B9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21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52E63-1E99-452B-B6F8-07F24554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A6EB4F-150D-41C4-80AF-8C5479CD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83BC26-891E-4E41-8851-B28423B6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F34258-911E-4006-A111-E993F69E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62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F08950-FE0A-4D1F-9DF1-57DADA7E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29054D-2043-48F0-95CC-497252F1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48AEB-4CB1-443B-98ED-9BA0FDB0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37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B21A7-4708-4E07-A1E5-801937EB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161A62-BB0A-4D3A-9A4E-0E6A39A9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6917EC-E63B-4CC0-BA37-6EB0C02E0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9F14EB-3EEC-4F91-81BB-927D2300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8FA2CD-0466-4FD7-ABC7-CDD1C715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7DDBED-1987-4940-8619-9140CAEE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74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98234-2F88-4B70-8D8F-454E6540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762CE5-980F-4CFC-AAB9-C670B2D57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4E7E3-146D-4381-AB3B-762EE9165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54EFE3-FDF0-4465-8797-D8BD7735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DED5C8-0F8D-4A9E-97B0-98F0FD1D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094AA9-AF46-45FA-8E7A-4295E784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14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DCEBF-F6D8-43CF-AFAF-47E38428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85A002-9D38-42DF-AD91-983075A78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A1BA0F-2199-4BEB-833A-D7BE050A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2C936-A035-4034-882A-9C0C77A4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F5233A-1F53-412B-9035-0C38709C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541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43C40B-BF31-401A-9014-26A6E7974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679720-551E-496F-A2A1-C6B8DF00B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3E7BD-FED5-4C98-ACCC-80E52555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76A6FA-3D6C-427F-8BE8-192F784D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9EE86-BDCE-4BF5-A1EC-59B85A9A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5231CD-5F9B-4DA8-AF6D-EC562A2C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D589E-1562-4600-90C6-42DFD55FE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01F075-8A76-46E8-A437-71A07D31E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5B2A9-CF64-490A-84A1-B3E874A2C6B6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50BD6-84B2-414F-B0B3-B879022D6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86A53B-4282-4F57-8CDD-65772820D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3930F-5E19-4679-BF35-3C38A39602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72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routines.ctypeslib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B2301-7BC6-462C-AC46-A12EE14A8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i="0" dirty="0" err="1">
                <a:solidFill>
                  <a:srgbClr val="222222"/>
                </a:solidFill>
                <a:effectLst/>
                <a:latin typeface="system-ui"/>
              </a:rPr>
              <a:t>라즈베리파이</a:t>
            </a:r>
            <a:r>
              <a:rPr lang="ko-KR" altLang="en-US" sz="4800" b="1" i="0" dirty="0">
                <a:solidFill>
                  <a:srgbClr val="222222"/>
                </a:solidFill>
                <a:effectLst/>
                <a:latin typeface="system-ui"/>
              </a:rPr>
              <a:t> 메모리 할당 </a:t>
            </a:r>
            <a:br>
              <a:rPr lang="en-US" altLang="ko-KR" sz="4800" b="1" i="0">
                <a:solidFill>
                  <a:srgbClr val="222222"/>
                </a:solidFill>
                <a:effectLst/>
                <a:latin typeface="system-ui"/>
              </a:rPr>
            </a:br>
            <a:r>
              <a:rPr lang="ko-KR" altLang="en-US" sz="4800" b="1" i="0">
                <a:solidFill>
                  <a:srgbClr val="222222"/>
                </a:solidFill>
                <a:effectLst/>
                <a:latin typeface="system-ui"/>
              </a:rPr>
              <a:t>결과 정리 </a:t>
            </a:r>
            <a:endParaRPr lang="ko-KR" altLang="en-US" sz="48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F294C4-AE72-4A51-AE16-53BC4BE12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999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B87F2-9ACC-46C3-9A46-C8B750A7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b="1" dirty="0"/>
              <a:t>데이터 메모리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04F10-F507-472D-86B4-C4883CB6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1325563"/>
            <a:ext cx="11899392" cy="4883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	</a:t>
            </a:r>
          </a:p>
          <a:p>
            <a:r>
              <a:rPr lang="ko-KR" altLang="en-US" sz="1800" dirty="0"/>
              <a:t>실험 </a:t>
            </a:r>
            <a:r>
              <a:rPr lang="en-US" altLang="ko-KR" sz="1800" dirty="0"/>
              <a:t>1: </a:t>
            </a:r>
            <a:r>
              <a:rPr lang="ko-KR" altLang="en-US" sz="1800" dirty="0"/>
              <a:t>데이터 타입 최적화 </a:t>
            </a:r>
            <a:r>
              <a:rPr lang="en-US" altLang="ko-KR" sz="1800" dirty="0"/>
              <a:t>+ </a:t>
            </a:r>
            <a:r>
              <a:rPr lang="ko-KR" altLang="en-US" sz="1800" dirty="0"/>
              <a:t>희소 행렬 변환 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600" dirty="0"/>
              <a:t>1) Float 64 -&gt; float 32 </a:t>
            </a:r>
            <a:r>
              <a:rPr lang="ko-KR" altLang="en-US" sz="1600" dirty="0"/>
              <a:t>메모리 절약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2) </a:t>
            </a:r>
            <a:r>
              <a:rPr lang="ko-KR" altLang="en-US" sz="1600" dirty="0"/>
              <a:t>희소행렬 변환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3) </a:t>
            </a:r>
            <a:r>
              <a:rPr lang="ko-KR" altLang="en-US" sz="1600" dirty="0"/>
              <a:t>메모리 블록 단위</a:t>
            </a:r>
            <a:r>
              <a:rPr lang="en-US" altLang="ko-KR" sz="1600" dirty="0"/>
              <a:t>? </a:t>
            </a:r>
            <a:r>
              <a:rPr lang="ko-KR" altLang="en-US" sz="1600" dirty="0"/>
              <a:t>전체 로드</a:t>
            </a:r>
            <a:endParaRPr lang="en-US" altLang="ko-KR" sz="1600" dirty="0"/>
          </a:p>
          <a:p>
            <a:pPr marL="457200" lvl="1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실험 </a:t>
            </a:r>
            <a:r>
              <a:rPr lang="en-US" altLang="ko-KR" sz="1800" dirty="0"/>
              <a:t>2: Raspberry Pi</a:t>
            </a:r>
            <a:r>
              <a:rPr lang="ko-KR" altLang="en-US" sz="1800" dirty="0"/>
              <a:t>에서 </a:t>
            </a:r>
            <a:r>
              <a:rPr lang="en-US" altLang="ko-KR" sz="1800" dirty="0"/>
              <a:t>3D </a:t>
            </a:r>
            <a:r>
              <a:rPr lang="ko-KR" altLang="en-US" sz="1800" dirty="0"/>
              <a:t>배열 메모리 할당 및 주소 접근 테스트</a:t>
            </a:r>
            <a:r>
              <a:rPr lang="en-US" altLang="ko-KR" sz="1800" dirty="0"/>
              <a:t>(</a:t>
            </a:r>
            <a:r>
              <a:rPr lang="ko-KR" altLang="en-US" sz="1800" dirty="0"/>
              <a:t>동적 할당</a:t>
            </a:r>
            <a:r>
              <a:rPr lang="en-US" altLang="ko-KR" sz="1800" dirty="0"/>
              <a:t>)</a:t>
            </a:r>
          </a:p>
          <a:p>
            <a:pPr marL="457200" lvl="1" indent="0">
              <a:buNone/>
            </a:pPr>
            <a:r>
              <a:rPr lang="en-US" altLang="ko-KR" sz="1600" dirty="0"/>
              <a:t>1) </a:t>
            </a:r>
            <a:r>
              <a:rPr lang="en-US" altLang="ko-KR" sz="1600" dirty="0" err="1"/>
              <a:t>numpy</a:t>
            </a:r>
            <a:r>
              <a:rPr lang="ko-KR" altLang="en-US" sz="1600" dirty="0"/>
              <a:t>로 </a:t>
            </a:r>
            <a:r>
              <a:rPr lang="en-US" altLang="ko-KR" sz="1600" dirty="0"/>
              <a:t>float32 </a:t>
            </a:r>
            <a:r>
              <a:rPr lang="ko-KR" altLang="en-US" sz="1600" dirty="0"/>
              <a:t>랜덤 배열 생성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2) </a:t>
            </a:r>
            <a:r>
              <a:rPr lang="en-US" altLang="ko-KR" sz="1600" dirty="0" err="1"/>
              <a:t>ctypes</a:t>
            </a:r>
            <a:r>
              <a:rPr lang="ko-KR" altLang="en-US" sz="1600" dirty="0"/>
              <a:t>를 이용하여 메모리 할당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ctypes.Array</a:t>
            </a:r>
            <a:r>
              <a:rPr lang="en-US" altLang="ko-KR" sz="1600" dirty="0"/>
              <a:t>)</a:t>
            </a:r>
          </a:p>
          <a:p>
            <a:pPr marL="457200" lvl="1" indent="0">
              <a:buNone/>
            </a:pPr>
            <a:r>
              <a:rPr lang="en-US" altLang="ko-KR" sz="1600" dirty="0"/>
              <a:t>3) </a:t>
            </a:r>
            <a:r>
              <a:rPr lang="en-US" altLang="ko-KR" sz="1600" dirty="0" err="1"/>
              <a:t>ctypes</a:t>
            </a:r>
            <a:r>
              <a:rPr lang="en-US" altLang="ko-KR" sz="1600" dirty="0"/>
              <a:t> </a:t>
            </a:r>
            <a:r>
              <a:rPr lang="ko-KR" altLang="en-US" sz="1600" dirty="0"/>
              <a:t>포인터를 사용하여 특정 값을 가져오기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25542-9993-4EFF-B5D5-B339556A5EBC}"/>
              </a:ext>
            </a:extLst>
          </p:cNvPr>
          <p:cNvSpPr txBox="1"/>
          <p:nvPr/>
        </p:nvSpPr>
        <p:spPr>
          <a:xfrm>
            <a:off x="6463501" y="1666241"/>
            <a:ext cx="572849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실험</a:t>
            </a:r>
            <a:r>
              <a:rPr lang="en-US" altLang="ko-KR" sz="1600" dirty="0"/>
              <a:t>1</a:t>
            </a:r>
            <a:r>
              <a:rPr lang="ko-KR" altLang="en-US" sz="1600" dirty="0"/>
              <a:t>에서 사용된 데이터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400" dirty="0"/>
              <a:t>1) </a:t>
            </a:r>
            <a:r>
              <a:rPr lang="ko-KR" altLang="en-US" sz="1400" dirty="0" err="1"/>
              <a:t>광소자</a:t>
            </a:r>
            <a:r>
              <a:rPr lang="ko-KR" altLang="en-US" sz="1400" dirty="0"/>
              <a:t> </a:t>
            </a:r>
            <a:r>
              <a:rPr lang="en-US" altLang="ko-KR" sz="1400" dirty="0" err="1"/>
              <a:t>Korea_Photo_tech</a:t>
            </a:r>
            <a:r>
              <a:rPr lang="en-US" altLang="ko-KR" sz="1400" dirty="0"/>
              <a:t> data-upto_1017 </a:t>
            </a:r>
          </a:p>
          <a:p>
            <a:pPr marL="457200" lvl="1" indent="0">
              <a:buNone/>
            </a:pPr>
            <a:r>
              <a:rPr lang="en-US" altLang="ko-KR" sz="1400" dirty="0"/>
              <a:t>    8/30</a:t>
            </a:r>
            <a:r>
              <a:rPr lang="ko-KR" altLang="en-US" sz="1400" dirty="0"/>
              <a:t> </a:t>
            </a:r>
            <a:r>
              <a:rPr lang="en-US" altLang="ko-KR" sz="1400" dirty="0"/>
              <a:t>~ 10/17</a:t>
            </a:r>
            <a:r>
              <a:rPr lang="ko-KR" altLang="en-US" sz="1400" dirty="0"/>
              <a:t> 전체 데이터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222222"/>
                </a:solidFill>
                <a:latin typeface="system-ui"/>
              </a:rPr>
              <a:t>5622,513,10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sz="1400" dirty="0"/>
              <a:t>2) </a:t>
            </a:r>
            <a:r>
              <a:rPr lang="ko-KR" altLang="en-US" sz="1400" dirty="0" err="1"/>
              <a:t>코에버</a:t>
            </a:r>
            <a:r>
              <a:rPr lang="ko-KR" altLang="en-US" sz="1400" dirty="0"/>
              <a:t> 데이터</a:t>
            </a:r>
            <a:r>
              <a:rPr lang="en-US" altLang="ko-KR" sz="1400" dirty="0">
                <a:solidFill>
                  <a:srgbClr val="000000"/>
                </a:solidFill>
                <a:latin typeface="system-ui"/>
              </a:rPr>
              <a:t>(1374534, 114)</a:t>
            </a:r>
            <a:endParaRPr lang="en-US" altLang="ko-KR" sz="1400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27AE629-E2FA-4A4C-B579-FF34B8DC09CD}"/>
              </a:ext>
            </a:extLst>
          </p:cNvPr>
          <p:cNvSpPr/>
          <p:nvPr/>
        </p:nvSpPr>
        <p:spPr>
          <a:xfrm>
            <a:off x="5477690" y="2109422"/>
            <a:ext cx="618310" cy="2911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82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ABC26-8139-42D5-9B0C-0BEF3520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326834"/>
            <a:ext cx="3758184" cy="315912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실험</a:t>
            </a:r>
            <a:r>
              <a:rPr lang="en-US" altLang="ko-KR" b="1" dirty="0"/>
              <a:t>1. </a:t>
            </a:r>
            <a:r>
              <a:rPr lang="ko-KR" altLang="en-US" b="1" dirty="0"/>
              <a:t>코드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BCD8F1-4482-4CC1-8CFE-EB014E93C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47591"/>
            <a:ext cx="6950747" cy="2068674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225229-9A2D-4779-88B0-1FD88166B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6265"/>
            <a:ext cx="6553561" cy="19445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35C81D-548A-4D8C-AE2B-18B3FE059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5058488"/>
            <a:ext cx="8670595" cy="1472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F91ECE-3E57-4769-8A31-0E323CFE7C29}"/>
              </a:ext>
            </a:extLst>
          </p:cNvPr>
          <p:cNvSpPr txBox="1"/>
          <p:nvPr/>
        </p:nvSpPr>
        <p:spPr>
          <a:xfrm>
            <a:off x="6432150" y="2328165"/>
            <a:ext cx="5681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코드는 </a:t>
            </a:r>
            <a:endParaRPr lang="en-US" altLang="ko-KR" dirty="0"/>
          </a:p>
          <a:p>
            <a:r>
              <a:rPr lang="ko-KR" altLang="en-US" dirty="0"/>
              <a:t>희소 행렬을 사용하여 </a:t>
            </a:r>
            <a:r>
              <a:rPr lang="ko-KR" altLang="en-US" b="1" dirty="0"/>
              <a:t>메모리가 압축 여부를 확인</a:t>
            </a:r>
            <a:r>
              <a:rPr lang="ko-KR" altLang="en-US" dirty="0"/>
              <a:t>하기 위함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2D array(</a:t>
            </a:r>
            <a:r>
              <a:rPr lang="ko-KR" altLang="en-US" dirty="0" err="1"/>
              <a:t>한난</a:t>
            </a:r>
            <a:r>
              <a:rPr lang="en-US" altLang="ko-KR" dirty="0"/>
              <a:t>-</a:t>
            </a:r>
            <a:r>
              <a:rPr lang="en-US" altLang="ko-KR" dirty="0" err="1"/>
              <a:t>coever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3D array(</a:t>
            </a:r>
            <a:r>
              <a:rPr lang="ko-KR" altLang="en-US" dirty="0"/>
              <a:t>광기술원</a:t>
            </a:r>
            <a:r>
              <a:rPr lang="en-US" altLang="ko-KR" dirty="0"/>
              <a:t>-photo)</a:t>
            </a:r>
            <a:r>
              <a:rPr lang="ko-KR" altLang="en-US" dirty="0"/>
              <a:t>를 따로 분리하여 코드 작성함</a:t>
            </a:r>
          </a:p>
        </p:txBody>
      </p:sp>
    </p:spTree>
    <p:extLst>
      <p:ext uri="{BB962C8B-B14F-4D97-AF65-F5344CB8AC3E}">
        <p14:creationId xmlns:p14="http://schemas.microsoft.com/office/powerpoint/2010/main" val="365086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A1587-6469-4C40-9424-259E3D09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ko-KR" altLang="en-US" sz="3200" b="1" i="0" dirty="0">
                <a:solidFill>
                  <a:srgbClr val="222222"/>
                </a:solidFill>
                <a:effectLst/>
                <a:latin typeface="system-ui"/>
              </a:rPr>
              <a:t>실험 </a:t>
            </a:r>
            <a:r>
              <a:rPr lang="en-US" altLang="ko-KR" sz="3200" b="1" i="0" dirty="0">
                <a:solidFill>
                  <a:srgbClr val="222222"/>
                </a:solidFill>
                <a:effectLst/>
                <a:latin typeface="system-ui"/>
              </a:rPr>
              <a:t>1. </a:t>
            </a:r>
            <a:r>
              <a:rPr lang="ko-KR" altLang="en-US" sz="3200" b="1" i="0" dirty="0">
                <a:solidFill>
                  <a:srgbClr val="222222"/>
                </a:solidFill>
                <a:effectLst/>
                <a:latin typeface="system-ui"/>
              </a:rPr>
              <a:t>데이터 메모리 압축 실험 중 희소 행렬 적용에 관한 실험</a:t>
            </a:r>
            <a:endParaRPr lang="ko-KR" altLang="en-US" sz="32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14F9967-0D66-4CC8-AB0A-001A22BFBA2D}"/>
              </a:ext>
            </a:extLst>
          </p:cNvPr>
          <p:cNvSpPr txBox="1">
            <a:spLocks/>
          </p:cNvSpPr>
          <p:nvPr/>
        </p:nvSpPr>
        <p:spPr>
          <a:xfrm>
            <a:off x="127277" y="1325563"/>
            <a:ext cx="10169435" cy="5145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b="1" dirty="0">
                <a:solidFill>
                  <a:srgbClr val="222222"/>
                </a:solidFill>
                <a:latin typeface="system-ui"/>
              </a:rPr>
              <a:t>실험 데이터</a:t>
            </a:r>
            <a:endParaRPr lang="en-US" altLang="ko-KR" sz="2000" b="1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    1) </a:t>
            </a:r>
            <a:r>
              <a:rPr lang="ko-KR" altLang="en-US" sz="2000" dirty="0">
                <a:solidFill>
                  <a:srgbClr val="222222"/>
                </a:solidFill>
                <a:latin typeface="system-ui"/>
              </a:rPr>
              <a:t>광소자데이터</a:t>
            </a: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(0830~1017) </a:t>
            </a:r>
            <a:r>
              <a:rPr lang="ko-KR" altLang="en-US" sz="2000" dirty="0">
                <a:solidFill>
                  <a:srgbClr val="222222"/>
                </a:solidFill>
                <a:latin typeface="system-ui"/>
              </a:rPr>
              <a:t>사용 </a:t>
            </a: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shape(5622,513,10)</a:t>
            </a:r>
          </a:p>
          <a:p>
            <a:pPr marL="0" indent="0" fontAlgn="base">
              <a:buNone/>
            </a:pP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    2) </a:t>
            </a:r>
            <a:r>
              <a:rPr lang="ko-KR" altLang="en-US" sz="2000" dirty="0" err="1">
                <a:solidFill>
                  <a:srgbClr val="222222"/>
                </a:solidFill>
                <a:latin typeface="system-ui"/>
              </a:rPr>
              <a:t>코에버데이터</a:t>
            </a:r>
            <a:r>
              <a:rPr lang="ko-KR" altLang="en-US" sz="2000" dirty="0">
                <a:solidFill>
                  <a:srgbClr val="222222"/>
                </a:solidFill>
                <a:latin typeface="system-ui"/>
              </a:rPr>
              <a:t> </a:t>
            </a:r>
            <a:r>
              <a:rPr lang="en-US" altLang="ko-KR" sz="2000" dirty="0">
                <a:solidFill>
                  <a:srgbClr val="000000"/>
                </a:solidFill>
                <a:latin typeface="system-ui"/>
              </a:rPr>
              <a:t>(1374534, 114)</a:t>
            </a:r>
            <a:endParaRPr lang="ko-KR" altLang="en-US" sz="2000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br>
              <a:rPr lang="ko-KR" altLang="en-US" sz="2000" dirty="0">
                <a:solidFill>
                  <a:srgbClr val="222222"/>
                </a:solidFill>
                <a:latin typeface="system-ui"/>
              </a:rPr>
            </a:br>
            <a:endParaRPr lang="ko-KR" altLang="en-US" sz="2000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	float 32(</a:t>
            </a:r>
            <a:r>
              <a:rPr lang="ko-KR" altLang="en-US" sz="2000" dirty="0" err="1">
                <a:solidFill>
                  <a:srgbClr val="222222"/>
                </a:solidFill>
                <a:latin typeface="system-ui"/>
              </a:rPr>
              <a:t>광소자</a:t>
            </a:r>
            <a:r>
              <a:rPr lang="ko-KR" altLang="en-US" sz="2000" dirty="0">
                <a:solidFill>
                  <a:srgbClr val="222222"/>
                </a:solidFill>
                <a:latin typeface="system-ui"/>
              </a:rPr>
              <a:t> 데이터 </a:t>
            </a: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shape): 110.59MB</a:t>
            </a:r>
          </a:p>
          <a:p>
            <a:pPr marL="0" indent="0" fontAlgn="base">
              <a:buNone/>
            </a:pP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	float 32(</a:t>
            </a:r>
            <a:r>
              <a:rPr lang="ko-KR" altLang="en-US" sz="2000" dirty="0" err="1">
                <a:solidFill>
                  <a:srgbClr val="222222"/>
                </a:solidFill>
                <a:latin typeface="system-ui"/>
              </a:rPr>
              <a:t>코에버</a:t>
            </a:r>
            <a:r>
              <a:rPr lang="ko-KR" altLang="en-US" sz="2000" dirty="0">
                <a:solidFill>
                  <a:srgbClr val="222222"/>
                </a:solidFill>
                <a:latin typeface="system-ui"/>
              </a:rPr>
              <a:t> 데이터 </a:t>
            </a: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shape): 597.75MB</a:t>
            </a:r>
          </a:p>
          <a:p>
            <a:pPr marL="0" indent="0" fontAlgn="base">
              <a:buNone/>
            </a:pPr>
            <a:br>
              <a:rPr lang="en-US" altLang="ko-KR" sz="2000" dirty="0">
                <a:solidFill>
                  <a:srgbClr val="222222"/>
                </a:solidFill>
                <a:latin typeface="system-ui"/>
              </a:rPr>
            </a:br>
            <a:endParaRPr lang="en-US" altLang="ko-KR" sz="2000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r>
              <a:rPr lang="ko-KR" altLang="en-US" sz="2000" b="1" dirty="0">
                <a:solidFill>
                  <a:srgbClr val="222222"/>
                </a:solidFill>
                <a:latin typeface="system-ui"/>
              </a:rPr>
              <a:t>각 원본 데이터의 메모리 사이즈와 희소 행렬 변환 후 메모리 사이즈</a:t>
            </a:r>
            <a:endParaRPr lang="ko-KR" altLang="en-US" sz="2000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    </a:t>
            </a:r>
            <a:r>
              <a:rPr lang="ko-KR" altLang="en-US" sz="2000" dirty="0" err="1">
                <a:solidFill>
                  <a:srgbClr val="222222"/>
                </a:solidFill>
                <a:latin typeface="system-ui"/>
              </a:rPr>
              <a:t>광소자</a:t>
            </a: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: 110.59MB -&gt;</a:t>
            </a:r>
            <a:r>
              <a:rPr lang="ko-KR" altLang="en-US" sz="2000" b="1" dirty="0">
                <a:solidFill>
                  <a:srgbClr val="222222"/>
                </a:solidFill>
                <a:latin typeface="system-ui"/>
              </a:rPr>
              <a:t> </a:t>
            </a:r>
            <a:r>
              <a:rPr lang="en-US" altLang="ko-KR" sz="2000" b="1" dirty="0">
                <a:solidFill>
                  <a:srgbClr val="222222"/>
                </a:solidFill>
                <a:latin typeface="system-ui"/>
              </a:rPr>
              <a:t>232.25MB</a:t>
            </a:r>
            <a:endParaRPr lang="ko-KR" altLang="en-US" sz="2000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    </a:t>
            </a:r>
            <a:r>
              <a:rPr lang="ko-KR" altLang="en-US" sz="2000" dirty="0" err="1">
                <a:solidFill>
                  <a:srgbClr val="222222"/>
                </a:solidFill>
                <a:latin typeface="system-ui"/>
              </a:rPr>
              <a:t>코에버</a:t>
            </a:r>
            <a:r>
              <a:rPr lang="en-US" altLang="ko-KR" sz="2000" dirty="0">
                <a:solidFill>
                  <a:srgbClr val="222222"/>
                </a:solidFill>
                <a:latin typeface="system-ui"/>
              </a:rPr>
              <a:t>: 597.75MB -&gt;</a:t>
            </a:r>
            <a:r>
              <a:rPr lang="ko-KR" altLang="en-US" sz="2000" b="1" dirty="0">
                <a:solidFill>
                  <a:srgbClr val="222222"/>
                </a:solidFill>
                <a:latin typeface="system-ui"/>
              </a:rPr>
              <a:t> </a:t>
            </a:r>
            <a:r>
              <a:rPr lang="en-US" altLang="ko-KR" sz="2000" b="1" dirty="0">
                <a:solidFill>
                  <a:srgbClr val="222222"/>
                </a:solidFill>
                <a:latin typeface="system-ui"/>
              </a:rPr>
              <a:t>402.51MB</a:t>
            </a:r>
            <a:endParaRPr lang="ko-KR" altLang="en-US" sz="2000" dirty="0">
              <a:solidFill>
                <a:srgbClr val="222222"/>
              </a:solidFill>
              <a:latin typeface="system-ui"/>
            </a:endParaRPr>
          </a:p>
          <a:p>
            <a:pPr marL="0" indent="0" fontAlgn="base">
              <a:buNone/>
            </a:pPr>
            <a:br>
              <a:rPr lang="ko-KR" altLang="en-US" sz="900" dirty="0">
                <a:solidFill>
                  <a:srgbClr val="222222"/>
                </a:solidFill>
                <a:latin typeface="system-ui"/>
              </a:rPr>
            </a:br>
            <a:endParaRPr lang="ko-KR" altLang="en-US" sz="900" dirty="0">
              <a:solidFill>
                <a:srgbClr val="222222"/>
              </a:solidFill>
              <a:latin typeface="system-u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240BE1-8EC7-42B0-B329-88BF5A0D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902" y="2893483"/>
            <a:ext cx="4761715" cy="119672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DBBE05E-40A3-4AE0-9572-9AFDD450A116}"/>
              </a:ext>
            </a:extLst>
          </p:cNvPr>
          <p:cNvSpPr/>
          <p:nvPr/>
        </p:nvSpPr>
        <p:spPr>
          <a:xfrm>
            <a:off x="6096000" y="3299969"/>
            <a:ext cx="670560" cy="383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97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311C2-348F-43D8-97D8-13805CE6E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850" y="396829"/>
            <a:ext cx="11040291" cy="6064341"/>
          </a:xfrm>
        </p:spPr>
        <p:txBody>
          <a:bodyPr>
            <a:normAutofit fontScale="70000" lnSpcReduction="20000"/>
          </a:bodyPr>
          <a:lstStyle/>
          <a:p>
            <a:pPr marL="0" indent="0" algn="l" fontAlgn="base">
              <a:buNone/>
            </a:pPr>
            <a:r>
              <a:rPr lang="ko-KR" altLang="en-US" sz="4600" b="1" i="0" dirty="0">
                <a:solidFill>
                  <a:srgbClr val="222222"/>
                </a:solidFill>
                <a:effectLst/>
                <a:latin typeface="system-ui"/>
              </a:rPr>
              <a:t>실험결과 </a:t>
            </a:r>
            <a:endParaRPr lang="ko-KR" altLang="en-US" sz="4600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b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</a:b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  <a:t>희소 행렬의 저장 방식</a:t>
            </a: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희소 행렬의 저장 방식은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 아닌 데이터와 각 데이터의 열 인덱스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,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행의 시작점이 추가로 저장됨</a:t>
            </a:r>
          </a:p>
          <a:p>
            <a:pPr marL="0" indent="0" algn="l" fontAlgn="base">
              <a:buNone/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이로 인하여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 많은 경우에만 메모리를 절약 할 수 있음을 알 수 있음</a:t>
            </a:r>
            <a:b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</a:b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  <a:t>실험 결과 분석</a:t>
            </a: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ko-KR" altLang="en-US" b="0" i="0" dirty="0" err="1">
                <a:solidFill>
                  <a:srgbClr val="222222"/>
                </a:solidFill>
                <a:effectLst/>
                <a:latin typeface="system-ui"/>
              </a:rPr>
              <a:t>광소자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 데이터 의 경우는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 적기 때문에 메모리가 오히려 늘어 났고</a:t>
            </a:r>
          </a:p>
          <a:p>
            <a:pPr marL="0" indent="0" algn="l" fontAlgn="base">
              <a:buNone/>
            </a:pPr>
            <a:r>
              <a:rPr lang="ko-KR" altLang="en-US" b="0" i="0" dirty="0" err="1">
                <a:solidFill>
                  <a:srgbClr val="222222"/>
                </a:solidFill>
                <a:effectLst/>
                <a:latin typeface="system-ui"/>
              </a:rPr>
              <a:t>코에버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 데이터는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 많기 때문에 메모리가 절약 됨을 확인 할 수 있었음</a:t>
            </a:r>
          </a:p>
          <a:p>
            <a:pPr marL="0" indent="0" algn="l" fontAlgn="base">
              <a:buNone/>
            </a:pPr>
            <a:b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</a:b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  <a:t>결론</a:t>
            </a: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희소 행렬은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 많은 데이터에서만 효과적</a:t>
            </a:r>
          </a:p>
          <a:p>
            <a:pPr marL="0" indent="0" algn="l" fontAlgn="base">
              <a:buNone/>
            </a:pP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이 적은 데이터에서는 오히려 메모리 사용량이 증가 할 수 있음</a:t>
            </a:r>
          </a:p>
          <a:p>
            <a:pPr marL="0" indent="0" algn="l" fontAlgn="base">
              <a:buNone/>
            </a:pPr>
            <a:b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</a:b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 algn="l" fontAlgn="base">
              <a:buNone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system-ui"/>
              </a:rPr>
              <a:t>---&gt; 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  <a:t>희소 행렬을 적용하기 전 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system-ui"/>
              </a:rPr>
              <a:t>0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system-ui"/>
              </a:rPr>
              <a:t>의 비율을 확인이 필요</a:t>
            </a:r>
            <a:endParaRPr lang="ko-KR" altLang="en-US" b="0" i="0" dirty="0">
              <a:solidFill>
                <a:srgbClr val="222222"/>
              </a:solidFill>
              <a:effectLst/>
              <a:latin typeface="system-ui"/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557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BB666-FA53-4D70-83FF-A5E643F1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54" y="155985"/>
            <a:ext cx="11207931" cy="1942010"/>
          </a:xfrm>
        </p:spPr>
        <p:txBody>
          <a:bodyPr>
            <a:noAutofit/>
          </a:bodyPr>
          <a:lstStyle/>
          <a:p>
            <a:r>
              <a:rPr lang="ko-KR" altLang="en-US" b="1" dirty="0"/>
              <a:t>실험 </a:t>
            </a:r>
            <a:r>
              <a:rPr lang="en-US" altLang="ko-KR" b="1" dirty="0"/>
              <a:t>2</a:t>
            </a:r>
            <a:br>
              <a:rPr lang="en-US" altLang="ko-KR" b="1" dirty="0"/>
            </a:br>
            <a:br>
              <a:rPr lang="en-US" altLang="ko-KR" sz="2400" dirty="0"/>
            </a:br>
            <a:r>
              <a:rPr lang="en-US" altLang="ko-KR" sz="2400" dirty="0"/>
              <a:t>	</a:t>
            </a:r>
            <a:r>
              <a:rPr lang="en-US" altLang="ko-KR" sz="2400" dirty="0" err="1"/>
              <a:t>ctypes</a:t>
            </a:r>
            <a:r>
              <a:rPr lang="ko-KR" altLang="en-US" sz="2400" dirty="0"/>
              <a:t>를 사용하여 </a:t>
            </a:r>
            <a:r>
              <a:rPr lang="en-US" altLang="ko-KR" sz="2400" dirty="0"/>
              <a:t>float32 </a:t>
            </a:r>
            <a:r>
              <a:rPr lang="ko-KR" altLang="en-US" sz="2400" dirty="0"/>
              <a:t>데이터를 저장할 메모리를 할당하고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en-US" altLang="ko-KR" sz="2400" dirty="0"/>
              <a:t>	</a:t>
            </a:r>
            <a:r>
              <a:rPr lang="ko-KR" altLang="en-US" sz="2400" dirty="0"/>
              <a:t>하나의 값을 가져오는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AE3F8-CAC5-40C8-9707-D2C7F1370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291" y="3165665"/>
            <a:ext cx="7696200" cy="2393887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순서</a:t>
            </a:r>
            <a:endParaRPr lang="en-US" altLang="ko-KR" b="1" dirty="0"/>
          </a:p>
          <a:p>
            <a:r>
              <a:rPr lang="en-US" altLang="ko-KR" sz="2000" dirty="0" err="1"/>
              <a:t>numpy</a:t>
            </a:r>
            <a:r>
              <a:rPr lang="ko-KR" altLang="en-US" sz="2000" dirty="0"/>
              <a:t>로 </a:t>
            </a:r>
            <a:r>
              <a:rPr lang="en-US" altLang="ko-KR" sz="2000" dirty="0"/>
              <a:t>float32 </a:t>
            </a:r>
            <a:r>
              <a:rPr lang="ko-KR" altLang="en-US" sz="2000" dirty="0"/>
              <a:t>랜덤 배열 생성</a:t>
            </a:r>
            <a:endParaRPr lang="en-US" altLang="ko-KR" sz="2000" dirty="0"/>
          </a:p>
          <a:p>
            <a:r>
              <a:rPr lang="en-US" altLang="ko-KR" sz="2000" dirty="0" err="1"/>
              <a:t>ctypes</a:t>
            </a:r>
            <a:r>
              <a:rPr lang="ko-KR" altLang="en-US" sz="2000" dirty="0"/>
              <a:t>를 이용하여 메모리 할당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ctypes.Array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 err="1"/>
              <a:t>ctypes</a:t>
            </a:r>
            <a:r>
              <a:rPr lang="en-US" altLang="ko-KR" sz="2000" dirty="0"/>
              <a:t> </a:t>
            </a:r>
            <a:r>
              <a:rPr lang="ko-KR" altLang="en-US" sz="2000" dirty="0"/>
              <a:t>포인터를 사용하여 특정 값을 가져오기</a:t>
            </a:r>
          </a:p>
        </p:txBody>
      </p:sp>
    </p:spTree>
    <p:extLst>
      <p:ext uri="{BB962C8B-B14F-4D97-AF65-F5344CB8AC3E}">
        <p14:creationId xmlns:p14="http://schemas.microsoft.com/office/powerpoint/2010/main" val="126515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9E040-9CD8-4AE9-8683-1B3887A3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-98171"/>
            <a:ext cx="11817096" cy="1325563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Raspberry Pi</a:t>
            </a:r>
            <a:r>
              <a:rPr lang="ko-KR" altLang="en-US" sz="2800" b="1" dirty="0"/>
              <a:t>에서 </a:t>
            </a:r>
            <a:r>
              <a:rPr lang="en-US" altLang="ko-KR" sz="2800" b="1" dirty="0"/>
              <a:t>3D </a:t>
            </a:r>
            <a:r>
              <a:rPr lang="ko-KR" altLang="en-US" sz="2800" b="1" dirty="0"/>
              <a:t>배열 메모리 할당 및 주소 접근 테스트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동적 할당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46EEE-19D4-4B01-9BEE-2D0A9000C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84" y="1118489"/>
            <a:ext cx="11817096" cy="5739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000" b="1" dirty="0"/>
              <a:t>목적</a:t>
            </a:r>
            <a:r>
              <a:rPr lang="en-US" altLang="ko-KR" sz="2000" dirty="0"/>
              <a:t>: </a:t>
            </a:r>
          </a:p>
          <a:p>
            <a:r>
              <a:rPr lang="en-US" altLang="ko-KR" sz="2000" dirty="0" err="1"/>
              <a:t>ctypes</a:t>
            </a:r>
            <a:r>
              <a:rPr lang="ko-KR" altLang="en-US" sz="2000" dirty="0"/>
              <a:t>를 사용하여 </a:t>
            </a:r>
            <a:r>
              <a:rPr lang="en-US" altLang="ko-KR" sz="2000" dirty="0"/>
              <a:t>3D </a:t>
            </a:r>
            <a:r>
              <a:rPr lang="en-US" altLang="ko-KR" sz="2000" dirty="0" err="1"/>
              <a:t>Numpy</a:t>
            </a:r>
            <a:r>
              <a:rPr lang="en-US" altLang="ko-KR" sz="2000" dirty="0"/>
              <a:t> </a:t>
            </a:r>
            <a:r>
              <a:rPr lang="ko-KR" altLang="en-US" sz="2000" dirty="0"/>
              <a:t>배열을 메모리에 직접 할당하고</a:t>
            </a:r>
            <a:r>
              <a:rPr lang="en-US" altLang="ko-KR" sz="2000" dirty="0"/>
              <a:t>, </a:t>
            </a:r>
            <a:r>
              <a:rPr lang="ko-KR" altLang="en-US" sz="2000" dirty="0"/>
              <a:t>개별 요소의 메모리 주소를 확인</a:t>
            </a:r>
            <a:endParaRPr lang="en-US" altLang="ko-KR" sz="2000" dirty="0"/>
          </a:p>
          <a:p>
            <a:r>
              <a:rPr lang="ko-KR" altLang="en-US" sz="2000" dirty="0"/>
              <a:t>메모리 할당 속도 및 데이터 접근 성능 측정</a:t>
            </a:r>
            <a:endParaRPr lang="en-US" altLang="ko-KR" sz="2000" dirty="0"/>
          </a:p>
          <a:p>
            <a:r>
              <a:rPr lang="en-US" altLang="ko-KR" sz="2000" dirty="0"/>
              <a:t>CPU </a:t>
            </a:r>
            <a:r>
              <a:rPr lang="ko-KR" altLang="en-US" sz="2000" dirty="0"/>
              <a:t>관리 정책</a:t>
            </a:r>
            <a:r>
              <a:rPr lang="en-US" altLang="ko-KR" sz="2000" dirty="0"/>
              <a:t>(Governor, </a:t>
            </a:r>
            <a:r>
              <a:rPr lang="en-US" altLang="ko-KR" sz="2000" dirty="0" err="1"/>
              <a:t>ondemand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powersave</a:t>
            </a:r>
            <a:r>
              <a:rPr lang="en-US" altLang="ko-KR" sz="2000" dirty="0"/>
              <a:t>)</a:t>
            </a:r>
            <a:r>
              <a:rPr lang="ko-KR" altLang="en-US" sz="2000" dirty="0"/>
              <a:t>에서의 실행시간 비교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1600" dirty="0"/>
              <a:t>* </a:t>
            </a:r>
            <a:r>
              <a:rPr lang="en-US" altLang="ko-KR" sz="1600" dirty="0" err="1"/>
              <a:t>ondemand</a:t>
            </a:r>
            <a:r>
              <a:rPr lang="en-US" altLang="ko-KR" sz="1600" dirty="0"/>
              <a:t> </a:t>
            </a:r>
            <a:r>
              <a:rPr lang="ko-KR" altLang="en-US" sz="1600" dirty="0"/>
              <a:t>사용량에 따라 </a:t>
            </a:r>
            <a:r>
              <a:rPr lang="ko-KR" altLang="en-US" sz="1600" dirty="0" err="1"/>
              <a:t>클럭속도</a:t>
            </a:r>
            <a:r>
              <a:rPr lang="ko-KR" altLang="en-US" sz="1600" dirty="0"/>
              <a:t> 조정</a:t>
            </a:r>
            <a:r>
              <a:rPr lang="en-US" altLang="ko-KR" sz="1600" dirty="0"/>
              <a:t>(</a:t>
            </a:r>
            <a:r>
              <a:rPr lang="ko-KR" altLang="en-US" sz="1600" dirty="0"/>
              <a:t>부하가 걸릴 때만 </a:t>
            </a:r>
            <a:r>
              <a:rPr lang="en-US" altLang="ko-KR" sz="1600" dirty="0"/>
              <a:t>CPU </a:t>
            </a:r>
            <a:r>
              <a:rPr lang="ko-KR" altLang="en-US" sz="1600" dirty="0"/>
              <a:t>속도를 올림</a:t>
            </a:r>
            <a:r>
              <a:rPr lang="en-US" altLang="ko-KR" sz="1600" dirty="0"/>
              <a:t>, </a:t>
            </a:r>
            <a:r>
              <a:rPr lang="ko-KR" altLang="en-US" sz="1600" dirty="0"/>
              <a:t>균형 잡힌 모드</a:t>
            </a:r>
            <a:r>
              <a:rPr lang="en-US" altLang="ko-KR" sz="1600" dirty="0"/>
              <a:t>)</a:t>
            </a:r>
          </a:p>
          <a:p>
            <a:pPr marL="457200" lvl="1" indent="0">
              <a:buNone/>
            </a:pPr>
            <a:r>
              <a:rPr lang="en-US" altLang="ko-KR" sz="1600" dirty="0"/>
              <a:t>* </a:t>
            </a:r>
            <a:r>
              <a:rPr lang="en-US" altLang="ko-KR" sz="1600" dirty="0" err="1"/>
              <a:t>powersave</a:t>
            </a:r>
            <a:r>
              <a:rPr lang="en-US" altLang="ko-KR" sz="1600" dirty="0"/>
              <a:t> 400MHz </a:t>
            </a:r>
            <a:r>
              <a:rPr lang="ko-KR" altLang="en-US" sz="1600" dirty="0"/>
              <a:t>고정</a:t>
            </a:r>
            <a:r>
              <a:rPr lang="en-US" altLang="ko-KR" sz="1600" dirty="0"/>
              <a:t>(CPU </a:t>
            </a:r>
            <a:r>
              <a:rPr lang="ko-KR" altLang="en-US" sz="1600" dirty="0"/>
              <a:t>속도를 </a:t>
            </a:r>
            <a:r>
              <a:rPr lang="ko-KR" altLang="en-US" sz="1600" b="1" dirty="0"/>
              <a:t>최소</a:t>
            </a:r>
            <a:r>
              <a:rPr lang="ko-KR" altLang="en-US" sz="1600" dirty="0"/>
              <a:t>로 고정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절약</a:t>
            </a:r>
            <a:r>
              <a:rPr lang="en-US" altLang="ko-KR" sz="1600" dirty="0"/>
              <a:t>, </a:t>
            </a:r>
            <a:r>
              <a:rPr lang="ko-KR" altLang="en-US" sz="1600" dirty="0"/>
              <a:t>성능 저하</a:t>
            </a:r>
            <a:r>
              <a:rPr lang="en-US" altLang="ko-KR" sz="16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b="1" dirty="0"/>
              <a:t>환경</a:t>
            </a:r>
            <a:r>
              <a:rPr lang="en-US" altLang="ko-KR" sz="2000" b="1" dirty="0"/>
              <a:t>: </a:t>
            </a:r>
            <a:r>
              <a:rPr lang="en-US" altLang="ko-KR" sz="2000" dirty="0"/>
              <a:t>Raspberry Pi 5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b="1" dirty="0"/>
              <a:t>메모리 크기</a:t>
            </a:r>
            <a:r>
              <a:rPr lang="en-US" altLang="ko-KR" sz="2000" b="1" dirty="0"/>
              <a:t>: 1000x1000x1000</a:t>
            </a:r>
            <a:r>
              <a:rPr lang="en-US" altLang="ko-KR" sz="2000" dirty="0"/>
              <a:t>(float32, </a:t>
            </a:r>
            <a:r>
              <a:rPr lang="ko-KR" altLang="en-US" sz="2000" dirty="0"/>
              <a:t>약</a:t>
            </a:r>
            <a:r>
              <a:rPr lang="en-US" altLang="ko-KR" sz="2000" dirty="0"/>
              <a:t> 3.81GB)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b="1" dirty="0"/>
              <a:t>테스트 방법</a:t>
            </a:r>
            <a:r>
              <a:rPr lang="en-US" altLang="ko-KR" sz="2000" b="1" dirty="0"/>
              <a:t>:</a:t>
            </a:r>
          </a:p>
          <a:p>
            <a:pPr marL="457200" indent="-457200">
              <a:buAutoNum type="arabicPeriod"/>
            </a:pPr>
            <a:r>
              <a:rPr lang="en-US" altLang="ko-KR" sz="2000" dirty="0"/>
              <a:t>3D </a:t>
            </a:r>
            <a:r>
              <a:rPr lang="ko-KR" altLang="en-US" sz="2000" dirty="0"/>
              <a:t>배열을 </a:t>
            </a:r>
            <a:r>
              <a:rPr lang="en-US" altLang="ko-KR" sz="2000" dirty="0" err="1"/>
              <a:t>ctypes</a:t>
            </a:r>
            <a:r>
              <a:rPr lang="ko-KR" altLang="en-US" sz="2000" dirty="0"/>
              <a:t>로 메모리에 할당</a:t>
            </a:r>
            <a:r>
              <a:rPr lang="en-US" altLang="ko-KR" sz="2000" dirty="0"/>
              <a:t>(</a:t>
            </a:r>
            <a:r>
              <a:rPr lang="ko-KR" altLang="en-US" sz="2000" dirty="0"/>
              <a:t>행 우선 접근법</a:t>
            </a:r>
            <a:r>
              <a:rPr lang="en-US" altLang="ko-KR" sz="2000" dirty="0"/>
              <a:t>-Row-Major Order).</a:t>
            </a:r>
          </a:p>
          <a:p>
            <a:pPr marL="457200" indent="-457200">
              <a:buAutoNum type="arabicPeriod"/>
            </a:pPr>
            <a:r>
              <a:rPr lang="ko-KR" altLang="en-US" sz="2000" dirty="0"/>
              <a:t>특정 좌표</a:t>
            </a:r>
            <a:r>
              <a:rPr lang="en-US" altLang="ko-KR" sz="2000" dirty="0"/>
              <a:t>(500,500,500), (500,500,501), (500,500,502)</a:t>
            </a:r>
            <a:r>
              <a:rPr lang="ko-KR" altLang="en-US" sz="2000" dirty="0"/>
              <a:t>에서 값 및 메모리 주소 확인</a:t>
            </a:r>
            <a:r>
              <a:rPr lang="en-US" altLang="ko-KR" sz="2000" dirty="0"/>
              <a:t>.</a:t>
            </a:r>
          </a:p>
          <a:p>
            <a:pPr marL="457200" indent="-457200">
              <a:buAutoNum type="arabicPeriod"/>
            </a:pPr>
            <a:r>
              <a:rPr lang="ko-KR" altLang="en-US" sz="2000" dirty="0"/>
              <a:t>실행 시간을 측정하여 </a:t>
            </a:r>
            <a:r>
              <a:rPr lang="en-US" altLang="ko-KR" sz="2000" dirty="0"/>
              <a:t>CPU </a:t>
            </a:r>
            <a:r>
              <a:rPr lang="ko-KR" altLang="en-US" sz="2000" dirty="0"/>
              <a:t>상태 변화에 따른 성능 비교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7292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CBA5C-AB94-4316-94E3-ADF9B531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172" y="646202"/>
            <a:ext cx="6042828" cy="3943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data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=</a:t>
            </a:r>
            <a:r>
              <a:rPr lang="ko-KR" altLang="en-US" sz="1400" b="1" dirty="0"/>
              <a:t> </a:t>
            </a:r>
            <a:r>
              <a:rPr lang="en-US" altLang="ko-KR" sz="1400" b="1" dirty="0" err="1"/>
              <a:t>np.empty</a:t>
            </a:r>
            <a:r>
              <a:rPr lang="en-US" altLang="ko-KR" sz="1400" b="1" dirty="0"/>
              <a:t>((rows, cols, depth), </a:t>
            </a:r>
            <a:r>
              <a:rPr lang="en-US" altLang="ko-KR" sz="1400" b="1" dirty="0" err="1"/>
              <a:t>dtype</a:t>
            </a:r>
            <a:r>
              <a:rPr lang="en-US" altLang="ko-KR" sz="1400" b="1" dirty="0"/>
              <a:t>=np.float32) -&gt; </a:t>
            </a:r>
            <a:r>
              <a:rPr lang="ko-KR" altLang="en-US" sz="1400" b="1" dirty="0" err="1"/>
              <a:t>빈공간</a:t>
            </a:r>
            <a:r>
              <a:rPr lang="ko-KR" altLang="en-US" sz="1400" b="1" dirty="0"/>
              <a:t> 확보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크기가 동일한 빈 </a:t>
            </a:r>
            <a:r>
              <a:rPr lang="en-US" altLang="ko-KR" sz="1400" dirty="0"/>
              <a:t>float32 </a:t>
            </a:r>
            <a:r>
              <a:rPr lang="ko-KR" altLang="en-US" sz="1400" dirty="0"/>
              <a:t>배열을 미리 생성하여 메모리 공간을 사전에 확보를 </a:t>
            </a:r>
            <a:r>
              <a:rPr lang="ko-KR" altLang="en-US" sz="1400" dirty="0" err="1"/>
              <a:t>해둠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for </a:t>
            </a:r>
            <a:r>
              <a:rPr lang="en-US" altLang="ko-KR" sz="1400" b="1" dirty="0" err="1"/>
              <a:t>i</a:t>
            </a:r>
            <a:r>
              <a:rPr lang="en-US" altLang="ko-KR" sz="1400" b="1" dirty="0"/>
              <a:t> in range(40) -&gt; 100MB </a:t>
            </a:r>
            <a:r>
              <a:rPr lang="ko-KR" altLang="en-US" sz="1400" b="1" dirty="0"/>
              <a:t>단위로 데이터 채우기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4GB </a:t>
            </a:r>
            <a:r>
              <a:rPr lang="ko-KR" altLang="en-US" sz="1400" dirty="0"/>
              <a:t>데이터를 한 번에 생성하지 않고</a:t>
            </a:r>
            <a:r>
              <a:rPr lang="en-US" altLang="ko-KR" sz="1400" dirty="0"/>
              <a:t>, 100MB</a:t>
            </a:r>
            <a:r>
              <a:rPr lang="ko-KR" altLang="en-US" sz="1400" dirty="0"/>
              <a:t>씩 </a:t>
            </a:r>
            <a:r>
              <a:rPr lang="en-US" altLang="ko-KR" sz="1400" dirty="0"/>
              <a:t>40</a:t>
            </a:r>
            <a:r>
              <a:rPr lang="ko-KR" altLang="en-US" sz="1400" dirty="0"/>
              <a:t>번에 나누어 채움</a:t>
            </a:r>
            <a:r>
              <a:rPr lang="en-US" altLang="ko-KR" sz="1400" dirty="0"/>
              <a:t>(</a:t>
            </a:r>
            <a:r>
              <a:rPr lang="ko-KR" altLang="en-US" sz="1400" dirty="0"/>
              <a:t>한 번에 </a:t>
            </a:r>
            <a:r>
              <a:rPr lang="en-US" altLang="ko-KR" sz="1400" dirty="0"/>
              <a:t>100MB</a:t>
            </a:r>
            <a:r>
              <a:rPr lang="ko-KR" altLang="en-US" sz="1400" dirty="0"/>
              <a:t>씩 처리하여 메모리 부족 </a:t>
            </a:r>
            <a:r>
              <a:rPr lang="en-US" altLang="ko-KR" sz="1400" dirty="0"/>
              <a:t>OOM killed </a:t>
            </a:r>
            <a:r>
              <a:rPr lang="ko-KR" altLang="en-US" sz="1400" dirty="0"/>
              <a:t>문제 방지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왜 </a:t>
            </a:r>
            <a:r>
              <a:rPr lang="en-US" altLang="ko-KR" sz="1400" b="1" dirty="0"/>
              <a:t>25</a:t>
            </a:r>
            <a:r>
              <a:rPr lang="ko-KR" altLang="en-US" sz="1400" b="1" dirty="0"/>
              <a:t>개씩 채우는가</a:t>
            </a:r>
            <a:r>
              <a:rPr lang="en-US" altLang="ko-KR" sz="1400" b="1" dirty="0"/>
              <a:t>?</a:t>
            </a:r>
          </a:p>
          <a:p>
            <a:pPr marL="457200" lvl="1" indent="0">
              <a:buNone/>
            </a:pPr>
            <a:r>
              <a:rPr lang="en-US" altLang="ko-KR" sz="1000" dirty="0"/>
              <a:t>25</a:t>
            </a:r>
            <a:r>
              <a:rPr lang="ko-KR" altLang="en-US" sz="1000" dirty="0"/>
              <a:t>개 행</a:t>
            </a:r>
            <a:r>
              <a:rPr lang="en-US" altLang="ko-KR" sz="1000" dirty="0"/>
              <a:t>(rows)</a:t>
            </a:r>
            <a:r>
              <a:rPr lang="ko-KR" altLang="en-US" sz="1000" dirty="0"/>
              <a:t>은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cols,depth</a:t>
            </a:r>
            <a:r>
              <a:rPr lang="ko-KR" altLang="en-US" sz="1000" dirty="0"/>
              <a:t>를 </a:t>
            </a:r>
            <a:r>
              <a:rPr lang="en-US" altLang="ko-KR" sz="1000" dirty="0"/>
              <a:t>1000,1000</a:t>
            </a:r>
            <a:r>
              <a:rPr lang="ko-KR" altLang="en-US" sz="1000" dirty="0"/>
              <a:t>을 포함하고 있음</a:t>
            </a:r>
            <a:r>
              <a:rPr lang="en-US" altLang="ko-KR" sz="1000" dirty="0"/>
              <a:t>)</a:t>
            </a:r>
          </a:p>
          <a:p>
            <a:pPr marL="457200" lvl="1" indent="0">
              <a:buNone/>
            </a:pPr>
            <a:r>
              <a:rPr lang="ko-KR" altLang="en-US" sz="1000" dirty="0"/>
              <a:t>그러므로 </a:t>
            </a:r>
            <a:r>
              <a:rPr lang="en-US" altLang="ko-KR" sz="1000" dirty="0"/>
              <a:t>25(</a:t>
            </a:r>
            <a:r>
              <a:rPr lang="ko-KR" altLang="en-US" sz="1000" dirty="0"/>
              <a:t>개</a:t>
            </a:r>
            <a:r>
              <a:rPr lang="en-US" altLang="ko-KR" sz="1000" dirty="0"/>
              <a:t>) * 4(byte) * 1000,1000(cols, depth) = 100,000,000(</a:t>
            </a:r>
            <a:r>
              <a:rPr lang="ko-KR" altLang="en-US" sz="1000" dirty="0"/>
              <a:t>약 </a:t>
            </a:r>
            <a:r>
              <a:rPr lang="en-US" altLang="ko-KR" sz="1000" dirty="0"/>
              <a:t>100MB -&gt; 95.367MB)</a:t>
            </a:r>
          </a:p>
          <a:p>
            <a:pPr marL="457200" lvl="1" indent="0">
              <a:buNone/>
            </a:pPr>
            <a:r>
              <a:rPr lang="en-US" altLang="ko-KR" sz="1000" dirty="0"/>
              <a:t>25</a:t>
            </a:r>
            <a:r>
              <a:rPr lang="ko-KR" altLang="en-US" sz="1000" dirty="0"/>
              <a:t>개씩 </a:t>
            </a:r>
            <a:r>
              <a:rPr lang="en-US" altLang="ko-KR" sz="1000" dirty="0"/>
              <a:t>40</a:t>
            </a:r>
            <a:r>
              <a:rPr lang="ko-KR" altLang="en-US" sz="1000" dirty="0"/>
              <a:t>번을 하면 약 </a:t>
            </a:r>
            <a:r>
              <a:rPr lang="en-US" altLang="ko-KR" sz="1000" dirty="0"/>
              <a:t>4GB</a:t>
            </a:r>
            <a:r>
              <a:rPr lang="ko-KR" altLang="en-US" sz="1000" dirty="0"/>
              <a:t>를 채울 수 있음</a:t>
            </a:r>
            <a:endParaRPr lang="en-US" altLang="ko-KR" sz="1000" dirty="0"/>
          </a:p>
          <a:p>
            <a:pPr marL="457200" lvl="1" indent="0">
              <a:buNone/>
            </a:pPr>
            <a:r>
              <a:rPr lang="en-US" altLang="ko-KR" sz="1000" dirty="0"/>
              <a:t>--</a:t>
            </a:r>
            <a:r>
              <a:rPr lang="en-US" altLang="ko-KR" sz="1000" dirty="0">
                <a:sym typeface="Wingdings" panose="05000000000000000000" pitchFamily="2" charset="2"/>
              </a:rPr>
              <a:t> </a:t>
            </a:r>
            <a:r>
              <a:rPr lang="ko-KR" altLang="en-US" sz="1000" dirty="0">
                <a:sym typeface="Wingdings" panose="05000000000000000000" pitchFamily="2" charset="2"/>
              </a:rPr>
              <a:t>현재 </a:t>
            </a:r>
            <a:r>
              <a:rPr lang="en-US" altLang="ko-KR" sz="1000" dirty="0">
                <a:sym typeface="Wingdings" panose="05000000000000000000" pitchFamily="2" charset="2"/>
              </a:rPr>
              <a:t>25</a:t>
            </a:r>
            <a:r>
              <a:rPr lang="ko-KR" altLang="en-US" sz="1000" dirty="0">
                <a:sym typeface="Wingdings" panose="05000000000000000000" pitchFamily="2" charset="2"/>
              </a:rPr>
              <a:t>와 </a:t>
            </a:r>
            <a:r>
              <a:rPr lang="en-US" altLang="ko-KR" sz="1000" dirty="0">
                <a:sym typeface="Wingdings" panose="05000000000000000000" pitchFamily="2" charset="2"/>
              </a:rPr>
              <a:t>40</a:t>
            </a:r>
            <a:r>
              <a:rPr lang="ko-KR" altLang="en-US" sz="1000" dirty="0">
                <a:sym typeface="Wingdings" panose="05000000000000000000" pitchFamily="2" charset="2"/>
              </a:rPr>
              <a:t>은 대략적인 계산을 하여 사용하였고 </a:t>
            </a:r>
            <a:r>
              <a:rPr lang="en-US" altLang="ko-KR" sz="1000" dirty="0">
                <a:sym typeface="Wingdings" panose="05000000000000000000" pitchFamily="2" charset="2"/>
              </a:rPr>
              <a:t>25</a:t>
            </a:r>
            <a:r>
              <a:rPr lang="ko-KR" altLang="en-US" sz="1000" dirty="0">
                <a:sym typeface="Wingdings" panose="05000000000000000000" pitchFamily="2" charset="2"/>
              </a:rPr>
              <a:t>와 </a:t>
            </a:r>
            <a:r>
              <a:rPr lang="en-US" altLang="ko-KR" sz="1000" dirty="0">
                <a:sym typeface="Wingdings" panose="05000000000000000000" pitchFamily="2" charset="2"/>
              </a:rPr>
              <a:t>40</a:t>
            </a:r>
            <a:r>
              <a:rPr lang="ko-KR" altLang="en-US" sz="1000" dirty="0">
                <a:sym typeface="Wingdings" panose="05000000000000000000" pitchFamily="2" charset="2"/>
              </a:rPr>
              <a:t>은 다르게 사용 가능함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F3E4F58-8EBB-46B0-9760-1EEC396B971E}"/>
              </a:ext>
            </a:extLst>
          </p:cNvPr>
          <p:cNvSpPr txBox="1">
            <a:spLocks/>
          </p:cNvSpPr>
          <p:nvPr/>
        </p:nvSpPr>
        <p:spPr>
          <a:xfrm>
            <a:off x="99953" y="-31004"/>
            <a:ext cx="3368040" cy="95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/>
              <a:t>실험 </a:t>
            </a:r>
            <a:r>
              <a:rPr lang="en-US" altLang="ko-KR" sz="3600" b="1"/>
              <a:t>2. </a:t>
            </a:r>
            <a:r>
              <a:rPr lang="ko-KR" altLang="en-US" sz="3600" b="1"/>
              <a:t>코드</a:t>
            </a:r>
            <a:endParaRPr lang="ko-KR" altLang="en-US" sz="36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7A9531-4569-44F0-8029-7A1CC8AD6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670564"/>
            <a:ext cx="6049219" cy="394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FF6E82-8027-4399-882B-CB7760A497E0}"/>
              </a:ext>
            </a:extLst>
          </p:cNvPr>
          <p:cNvSpPr txBox="1"/>
          <p:nvPr/>
        </p:nvSpPr>
        <p:spPr>
          <a:xfrm>
            <a:off x="46780" y="5036276"/>
            <a:ext cx="567798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기존 방식</a:t>
            </a:r>
            <a:endParaRPr lang="en-US" altLang="ko-KR" sz="1400" dirty="0"/>
          </a:p>
          <a:p>
            <a:r>
              <a:rPr lang="en-US" altLang="ko-KR" sz="1400" dirty="0" err="1"/>
              <a:t>ArrayType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ctypes.c_float</a:t>
            </a:r>
            <a:r>
              <a:rPr lang="en-US" altLang="ko-KR" sz="1400" dirty="0"/>
              <a:t> * (rows * cols * depth)</a:t>
            </a:r>
          </a:p>
          <a:p>
            <a:r>
              <a:rPr lang="en-US" altLang="ko-KR" sz="1400" dirty="0" err="1"/>
              <a:t>c_array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ArrayType</a:t>
            </a:r>
            <a:r>
              <a:rPr lang="en-US" altLang="ko-KR" sz="1400" dirty="0"/>
              <a:t>(*</a:t>
            </a:r>
            <a:r>
              <a:rPr lang="en-US" altLang="ko-KR" sz="1400" dirty="0" err="1"/>
              <a:t>data.ravel</a:t>
            </a:r>
            <a:r>
              <a:rPr lang="en-US" altLang="ko-KR" sz="1400" dirty="0"/>
              <a:t>())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-&gt; </a:t>
            </a:r>
            <a:r>
              <a:rPr lang="ko-KR" altLang="en-US" sz="1400" b="1" dirty="0"/>
              <a:t>개선된 방식 </a:t>
            </a:r>
            <a:r>
              <a:rPr lang="en-US" altLang="ko-KR" sz="1400" b="1" dirty="0" err="1"/>
              <a:t>c_array</a:t>
            </a:r>
            <a:r>
              <a:rPr lang="en-US" altLang="ko-KR" sz="1400" b="1" dirty="0"/>
              <a:t> = </a:t>
            </a:r>
            <a:r>
              <a:rPr lang="en-US" altLang="ko-KR" sz="1400" b="1" dirty="0" err="1"/>
              <a:t>np.ctypeslib.as_ctypes</a:t>
            </a:r>
            <a:r>
              <a:rPr lang="en-US" altLang="ko-KR" sz="1400" b="1" dirty="0"/>
              <a:t>(</a:t>
            </a:r>
            <a:r>
              <a:rPr lang="en-US" altLang="ko-KR" sz="1400" b="1" dirty="0" err="1"/>
              <a:t>data.ravel</a:t>
            </a:r>
            <a:r>
              <a:rPr lang="en-US" altLang="ko-KR" sz="1400" b="1" dirty="0"/>
              <a:t>())</a:t>
            </a:r>
          </a:p>
          <a:p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09FB8-CF50-4D36-989D-4C5CFB838EF5}"/>
              </a:ext>
            </a:extLst>
          </p:cNvPr>
          <p:cNvSpPr txBox="1"/>
          <p:nvPr/>
        </p:nvSpPr>
        <p:spPr>
          <a:xfrm>
            <a:off x="5569326" y="4504789"/>
            <a:ext cx="65227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기존 방식은 </a:t>
            </a:r>
            <a:r>
              <a:rPr lang="en-US" altLang="ko-KR" sz="1400"/>
              <a:t>Numpy </a:t>
            </a:r>
            <a:r>
              <a:rPr lang="ko-KR" altLang="en-US" sz="1400"/>
              <a:t>배열을 </a:t>
            </a:r>
            <a:r>
              <a:rPr lang="en-US" altLang="ko-KR" sz="1400"/>
              <a:t>Python Ctypes </a:t>
            </a:r>
            <a:r>
              <a:rPr lang="ko-KR" altLang="en-US" sz="1400"/>
              <a:t>변환하는 방식이었음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ArrayType(*data.ravel())</a:t>
            </a:r>
            <a:r>
              <a:rPr lang="ko-KR" altLang="en-US" sz="1400"/>
              <a:t>는 </a:t>
            </a:r>
            <a:r>
              <a:rPr lang="en-US" altLang="ko-KR" sz="1400"/>
              <a:t>NumPy </a:t>
            </a:r>
            <a:r>
              <a:rPr lang="ko-KR" altLang="en-US" sz="1400"/>
              <a:t>배열의 모든 요소를 하나씩 꺼내어 </a:t>
            </a:r>
            <a:r>
              <a:rPr lang="en-US" altLang="ko-KR" sz="1400"/>
              <a:t>ctypes </a:t>
            </a:r>
            <a:r>
              <a:rPr lang="ko-KR" altLang="en-US" sz="1400"/>
              <a:t>배열에 복사한 방법인데</a:t>
            </a:r>
            <a:br>
              <a:rPr lang="en-US" altLang="ko-KR" sz="1400"/>
            </a:br>
            <a:r>
              <a:rPr lang="ko-KR" altLang="en-US" sz="1400"/>
              <a:t>속도가 매우 느렸음</a:t>
            </a:r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개선된 방식은 </a:t>
            </a:r>
            <a:r>
              <a:rPr lang="en-US" altLang="ko-KR" sz="1400"/>
              <a:t>Numpy</a:t>
            </a:r>
            <a:r>
              <a:rPr lang="ko-KR" altLang="en-US" sz="1400"/>
              <a:t>에서 제공하는 </a:t>
            </a:r>
            <a:r>
              <a:rPr lang="en-US" altLang="ko-KR" sz="1400"/>
              <a:t>np.ctypeslib.as_ctypes()</a:t>
            </a:r>
            <a:r>
              <a:rPr lang="ko-KR" altLang="en-US" sz="1400"/>
              <a:t>를 사용하여 </a:t>
            </a:r>
            <a:r>
              <a:rPr lang="en-US" altLang="ko-KR" sz="1400"/>
              <a:t>ctypes </a:t>
            </a:r>
            <a:r>
              <a:rPr lang="ko-KR" altLang="en-US" sz="1400"/>
              <a:t>배열로 변환하여 사용함</a:t>
            </a:r>
            <a:endParaRPr lang="en-US" altLang="ko-KR" sz="1400"/>
          </a:p>
          <a:p>
            <a:r>
              <a:rPr lang="en-US" altLang="ko-KR" sz="1400"/>
              <a:t>Numpy </a:t>
            </a:r>
            <a:r>
              <a:rPr lang="ko-KR" altLang="en-US" sz="1400"/>
              <a:t>메모리를 그대로 </a:t>
            </a:r>
            <a:r>
              <a:rPr lang="en-US" altLang="ko-KR" sz="1400"/>
              <a:t>ctypes</a:t>
            </a:r>
            <a:r>
              <a:rPr lang="ko-KR" altLang="en-US" sz="1400"/>
              <a:t>로 사용 하여서 속도가 훨씬 빠르게 개선됨을 확인함</a:t>
            </a:r>
            <a:endParaRPr lang="ko-KR" altLang="en-US" sz="1400" dirty="0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780CD3C-D8DC-4372-8A48-75181924D09C}"/>
              </a:ext>
            </a:extLst>
          </p:cNvPr>
          <p:cNvSpPr/>
          <p:nvPr/>
        </p:nvSpPr>
        <p:spPr>
          <a:xfrm>
            <a:off x="2194560" y="5731397"/>
            <a:ext cx="383177" cy="2513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A4AB6-B0B3-4689-8ED9-DBE145418B86}"/>
              </a:ext>
            </a:extLst>
          </p:cNvPr>
          <p:cNvSpPr txBox="1"/>
          <p:nvPr/>
        </p:nvSpPr>
        <p:spPr>
          <a:xfrm>
            <a:off x="5512526" y="6488668"/>
            <a:ext cx="7067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https://numpy.org/doc/stable/reference/routines.ctypeslib.html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627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E6D4D-EDAF-4D07-B826-F75D4293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342" y="3474721"/>
            <a:ext cx="7661750" cy="2809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3D </a:t>
            </a:r>
            <a:r>
              <a:rPr lang="ko-KR" altLang="en-US" sz="2000" b="1" dirty="0"/>
              <a:t>배열 → </a:t>
            </a:r>
            <a:r>
              <a:rPr lang="en-US" altLang="ko-KR" sz="2000" b="1" dirty="0"/>
              <a:t>1D </a:t>
            </a:r>
            <a:r>
              <a:rPr lang="ko-KR" altLang="en-US" sz="2000" b="1" dirty="0"/>
              <a:t>배열 변환 공식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dirty="0"/>
              <a:t>index = (x * cols * depth) + (y* depth) + z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2D </a:t>
            </a:r>
            <a:r>
              <a:rPr lang="ko-KR" altLang="en-US" sz="2000" b="1" dirty="0"/>
              <a:t>배열 → </a:t>
            </a:r>
            <a:r>
              <a:rPr lang="en-US" altLang="ko-KR" sz="2000" b="1" dirty="0"/>
              <a:t>1D </a:t>
            </a:r>
            <a:r>
              <a:rPr lang="ko-KR" altLang="en-US" sz="2000" b="1" dirty="0"/>
              <a:t>배열 변환 공식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dirty="0"/>
              <a:t>index = (x * cols) + y</a:t>
            </a:r>
            <a:endParaRPr lang="ko-KR" altLang="en-US" sz="2000" dirty="0"/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21D165-CC2C-4D60-A979-B3648732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3" y="391886"/>
            <a:ext cx="8837407" cy="2903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DAC68E-F498-4014-BB8E-596997C3D338}"/>
              </a:ext>
            </a:extLst>
          </p:cNvPr>
          <p:cNvSpPr txBox="1"/>
          <p:nvPr/>
        </p:nvSpPr>
        <p:spPr>
          <a:xfrm>
            <a:off x="254342" y="6174377"/>
            <a:ext cx="10509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인덱스의 주소는 </a:t>
            </a:r>
            <a:r>
              <a:rPr lang="ko-KR" altLang="en-US" sz="2000" dirty="0"/>
              <a:t>기준 주소 </a:t>
            </a:r>
            <a:r>
              <a:rPr lang="en-US" altLang="ko-KR" sz="2000" dirty="0"/>
              <a:t>+ </a:t>
            </a:r>
            <a:r>
              <a:rPr lang="ko-KR" altLang="en-US" sz="2000" dirty="0"/>
              <a:t>인덱스</a:t>
            </a:r>
            <a:r>
              <a:rPr lang="en-US" altLang="ko-KR" sz="2000" dirty="0"/>
              <a:t>(1D</a:t>
            </a:r>
            <a:r>
              <a:rPr lang="ko-KR" altLang="en-US" sz="2000" dirty="0"/>
              <a:t>로 변환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* </a:t>
            </a:r>
            <a:r>
              <a:rPr lang="en-US" altLang="ko-KR" sz="2000" dirty="0" err="1"/>
              <a:t>c_float</a:t>
            </a:r>
            <a:r>
              <a:rPr lang="en-US" altLang="ko-KR" sz="2000" dirty="0"/>
              <a:t>(</a:t>
            </a:r>
            <a:r>
              <a:rPr lang="ko-KR" altLang="en-US" sz="2000" dirty="0"/>
              <a:t>크기 </a:t>
            </a:r>
            <a:r>
              <a:rPr lang="en-US" altLang="ko-KR" sz="2000" dirty="0"/>
              <a:t>4)</a:t>
            </a:r>
            <a:r>
              <a:rPr lang="ko-KR" altLang="en-US" sz="2000" dirty="0"/>
              <a:t> 를 곱하여 찾을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9999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2BA7122-BBE0-4C66-9C3D-AC3E54CE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7" y="320457"/>
            <a:ext cx="10098147" cy="2710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7C2C47-5F83-4351-8776-D4FDDFB0E0BE}"/>
              </a:ext>
            </a:extLst>
          </p:cNvPr>
          <p:cNvSpPr txBox="1"/>
          <p:nvPr/>
        </p:nvSpPr>
        <p:spPr>
          <a:xfrm>
            <a:off x="1322889" y="3749457"/>
            <a:ext cx="93355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Value at </a:t>
            </a:r>
            <a:r>
              <a:rPr lang="en-US" altLang="ko-KR" sz="1400" b="1" dirty="0"/>
              <a:t>(500, 500, 500)</a:t>
            </a:r>
            <a:r>
              <a:rPr lang="en-US" altLang="ko-KR" sz="1400" dirty="0"/>
              <a:t>: 0.9038246273994446</a:t>
            </a:r>
          </a:p>
          <a:p>
            <a:r>
              <a:rPr lang="en-US" altLang="ko-KR" sz="1400" b="1" dirty="0"/>
              <a:t>Memory Address of (500, 500, 500): 0x7ffed996e060</a:t>
            </a:r>
          </a:p>
          <a:p>
            <a:r>
              <a:rPr lang="en-US" altLang="ko-KR" sz="1400" dirty="0" err="1"/>
              <a:t>get_value_and_address</a:t>
            </a:r>
            <a:r>
              <a:rPr lang="en-US" altLang="ko-KR" sz="1400" dirty="0"/>
              <a:t>  Execution time in: 0.000379 seconds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Value at </a:t>
            </a:r>
            <a:r>
              <a:rPr lang="en-US" altLang="ko-KR" sz="1400" b="1" dirty="0"/>
              <a:t>(500, 500, 501)</a:t>
            </a:r>
            <a:r>
              <a:rPr lang="en-US" altLang="ko-KR" sz="1400" dirty="0"/>
              <a:t>: 0.38867589831352234</a:t>
            </a:r>
          </a:p>
          <a:p>
            <a:r>
              <a:rPr lang="en-US" altLang="ko-KR" sz="1400" b="1" dirty="0"/>
              <a:t>Memory Address of (500, 500, 501): 0x7ffed996e064</a:t>
            </a:r>
          </a:p>
          <a:p>
            <a:r>
              <a:rPr lang="en-US" altLang="ko-KR" sz="1400" dirty="0" err="1"/>
              <a:t>get_value_and_address</a:t>
            </a:r>
            <a:r>
              <a:rPr lang="en-US" altLang="ko-KR" sz="1400" dirty="0"/>
              <a:t>  Execution time in: 0.000341 seconds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Value at </a:t>
            </a:r>
            <a:r>
              <a:rPr lang="en-US" altLang="ko-KR" sz="1400" b="1" dirty="0"/>
              <a:t>(500, 500, 502)</a:t>
            </a:r>
            <a:r>
              <a:rPr lang="en-US" altLang="ko-KR" sz="1400" dirty="0"/>
              <a:t>: 0.2411377876996994</a:t>
            </a:r>
          </a:p>
          <a:p>
            <a:r>
              <a:rPr lang="en-US" altLang="ko-KR" sz="1400" b="1" dirty="0"/>
              <a:t>Memory Address of (500, 500, 502): 0x7ffed996e068</a:t>
            </a:r>
          </a:p>
          <a:p>
            <a:r>
              <a:rPr lang="en-US" altLang="ko-KR" sz="1400" dirty="0" err="1"/>
              <a:t>get_value_and_address</a:t>
            </a:r>
            <a:r>
              <a:rPr lang="en-US" altLang="ko-KR" sz="1400" dirty="0"/>
              <a:t>  Execution time in: 0.000345 seconds</a:t>
            </a:r>
          </a:p>
          <a:p>
            <a:endParaRPr lang="ko-KR" altLang="en-US" sz="1400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03C13E78-519B-4377-A8E5-09774702F3C1}"/>
              </a:ext>
            </a:extLst>
          </p:cNvPr>
          <p:cNvSpPr/>
          <p:nvPr/>
        </p:nvSpPr>
        <p:spPr>
          <a:xfrm>
            <a:off x="6509654" y="4193653"/>
            <a:ext cx="200297" cy="4376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8267CA77-4373-4500-90BA-A79D223BBED1}"/>
              </a:ext>
            </a:extLst>
          </p:cNvPr>
          <p:cNvSpPr/>
          <p:nvPr/>
        </p:nvSpPr>
        <p:spPr>
          <a:xfrm>
            <a:off x="6509655" y="5581214"/>
            <a:ext cx="200297" cy="4376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F84CA-40FC-4524-B332-D626802B9BCC}"/>
              </a:ext>
            </a:extLst>
          </p:cNvPr>
          <p:cNvSpPr txBox="1"/>
          <p:nvPr/>
        </p:nvSpPr>
        <p:spPr>
          <a:xfrm>
            <a:off x="6818811" y="4216144"/>
            <a:ext cx="236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4byte</a:t>
            </a:r>
            <a:r>
              <a:rPr lang="ko-KR" altLang="en-US" dirty="0"/>
              <a:t> 차이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1248A6-6E67-4B22-821E-C27A14559D62}"/>
              </a:ext>
            </a:extLst>
          </p:cNvPr>
          <p:cNvSpPr txBox="1"/>
          <p:nvPr/>
        </p:nvSpPr>
        <p:spPr>
          <a:xfrm>
            <a:off x="6818811" y="5581214"/>
            <a:ext cx="236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4byte</a:t>
            </a:r>
            <a:r>
              <a:rPr lang="ko-KR" altLang="en-US" dirty="0"/>
              <a:t> 차이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57045E-01E4-4456-B59E-5D000A04CE24}"/>
              </a:ext>
            </a:extLst>
          </p:cNvPr>
          <p:cNvSpPr txBox="1"/>
          <p:nvPr/>
        </p:nvSpPr>
        <p:spPr>
          <a:xfrm>
            <a:off x="1322889" y="32262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/>
              <a:t>base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address</a:t>
            </a:r>
            <a:r>
              <a:rPr lang="ko-KR" altLang="en-US" sz="1400" b="1" dirty="0"/>
              <a:t>: 0x7ffe6242c010</a:t>
            </a:r>
            <a:endParaRPr lang="en-US" altLang="ko-KR" sz="1400" b="1" dirty="0"/>
          </a:p>
          <a:p>
            <a:r>
              <a:rPr lang="ko-KR" altLang="en-US" sz="1400" b="1" dirty="0" err="1"/>
              <a:t>Last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Address</a:t>
            </a:r>
            <a:r>
              <a:rPr lang="ko-KR" altLang="en-US" sz="1400" b="1" dirty="0"/>
              <a:t>: 0x7fff50ade80f</a:t>
            </a:r>
          </a:p>
        </p:txBody>
      </p:sp>
    </p:spTree>
    <p:extLst>
      <p:ext uri="{BB962C8B-B14F-4D97-AF65-F5344CB8AC3E}">
        <p14:creationId xmlns:p14="http://schemas.microsoft.com/office/powerpoint/2010/main" val="366180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FAC1F1-4CD6-4415-A9C6-E859EBA9E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88036"/>
            <a:ext cx="10515600" cy="1743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600" b="1" dirty="0"/>
              <a:t>실험 결과 분석</a:t>
            </a:r>
            <a:endParaRPr lang="en-US" altLang="ko-KR" dirty="0"/>
          </a:p>
          <a:p>
            <a:pPr marL="514350" indent="-514350">
              <a:buAutoNum type="arabicParenBoth"/>
            </a:pPr>
            <a:r>
              <a:rPr lang="en-US" altLang="ko-KR" dirty="0"/>
              <a:t>CPU Governor -&gt; </a:t>
            </a:r>
            <a:r>
              <a:rPr lang="en-US" altLang="ko-KR" dirty="0" err="1"/>
              <a:t>ondemand</a:t>
            </a:r>
            <a:r>
              <a:rPr lang="en-US" altLang="ko-KR" dirty="0"/>
              <a:t>(</a:t>
            </a:r>
            <a:r>
              <a:rPr lang="en-US" altLang="ko-KR" b="1" dirty="0"/>
              <a:t>default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r>
              <a:rPr lang="ko-KR" altLang="en-US" dirty="0"/>
              <a:t>상태</a:t>
            </a:r>
            <a:endParaRPr lang="en-US" altLang="ko-KR" dirty="0"/>
          </a:p>
          <a:p>
            <a:pPr marL="514350" indent="-514350">
              <a:buAutoNum type="arabicParenBoth"/>
            </a:pPr>
            <a:endParaRPr lang="ko-KR" altLang="en-US" sz="3200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08A231-3222-45C9-AC92-B287F750C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24328"/>
              </p:ext>
            </p:extLst>
          </p:nvPr>
        </p:nvGraphicFramePr>
        <p:xfrm>
          <a:off x="1755648" y="1508760"/>
          <a:ext cx="8680704" cy="3555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68">
                  <a:extLst>
                    <a:ext uri="{9D8B030D-6E8A-4147-A177-3AD203B41FA5}">
                      <a16:colId xmlns:a16="http://schemas.microsoft.com/office/drawing/2014/main" val="3341303149"/>
                    </a:ext>
                  </a:extLst>
                </a:gridCol>
                <a:gridCol w="1591342">
                  <a:extLst>
                    <a:ext uri="{9D8B030D-6E8A-4147-A177-3AD203B41FA5}">
                      <a16:colId xmlns:a16="http://schemas.microsoft.com/office/drawing/2014/main" val="2915920461"/>
                    </a:ext>
                  </a:extLst>
                </a:gridCol>
                <a:gridCol w="1591342">
                  <a:extLst>
                    <a:ext uri="{9D8B030D-6E8A-4147-A177-3AD203B41FA5}">
                      <a16:colId xmlns:a16="http://schemas.microsoft.com/office/drawing/2014/main" val="1077492461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1694086551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440887368"/>
                    </a:ext>
                  </a:extLst>
                </a:gridCol>
              </a:tblGrid>
              <a:tr h="6102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실행 횟수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데이터 생성시간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초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데이터 메모리 할당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메모리 주소</a:t>
                      </a:r>
                      <a:r>
                        <a:rPr lang="en-US" altLang="ko-KR" sz="1600" dirty="0"/>
                        <a:t>(500,500,500)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개별 값 조회 시간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초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56276"/>
                  </a:ext>
                </a:extLst>
              </a:tr>
              <a:tr h="610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17.58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0.000341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0x7ffeedf76060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0.000022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65564"/>
                  </a:ext>
                </a:extLst>
              </a:tr>
              <a:tr h="610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17.79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0.000353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0x7ffe84576060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0.000023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830669"/>
                  </a:ext>
                </a:extLst>
              </a:tr>
              <a:tr h="610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17.62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0.000397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0x7fff0d4a6060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0.000040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580283"/>
                  </a:ext>
                </a:extLst>
              </a:tr>
              <a:tr h="610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17.56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0.000395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0x7ffe8bf66060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0.000038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71380"/>
                  </a:ext>
                </a:extLst>
              </a:tr>
              <a:tr h="5042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17.82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0.000387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0x7ffeaa706060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0.000040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881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F7DF99-BC9C-4939-AC02-72DFFCA772A0}"/>
              </a:ext>
            </a:extLst>
          </p:cNvPr>
          <p:cNvSpPr txBox="1"/>
          <p:nvPr/>
        </p:nvSpPr>
        <p:spPr>
          <a:xfrm>
            <a:off x="1076380" y="5227756"/>
            <a:ext cx="10875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분석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 생성 속도는 평균 </a:t>
            </a:r>
            <a:r>
              <a:rPr lang="en-US" altLang="ko-KR" dirty="0"/>
              <a:t>17.76</a:t>
            </a:r>
            <a:r>
              <a:rPr lang="ko-KR" altLang="en-US" dirty="0"/>
              <a:t>초로 빠름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메모리 주소는 실행마다 달라지지만 일정 패턴 유지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개별 값 접근 속도는 매우 빠름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9370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18F86-22A9-4F49-8D11-00A9A986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254667"/>
            <a:ext cx="12192000" cy="113217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(2) CPU Governor -&gt; </a:t>
            </a:r>
            <a:r>
              <a:rPr lang="en-US" altLang="ko-KR" sz="3200" dirty="0" err="1"/>
              <a:t>powersave</a:t>
            </a:r>
            <a:r>
              <a:rPr lang="en-US" altLang="ko-KR" sz="3200" dirty="0"/>
              <a:t> mode (Single Core, 400MHz)</a:t>
            </a:r>
            <a:endParaRPr lang="ko-KR" altLang="en-US" sz="32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1ECE1C-53AA-4235-B74E-BBAC5624E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73049"/>
              </p:ext>
            </p:extLst>
          </p:nvPr>
        </p:nvGraphicFramePr>
        <p:xfrm>
          <a:off x="1584960" y="1431036"/>
          <a:ext cx="8680703" cy="3361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67">
                  <a:extLst>
                    <a:ext uri="{9D8B030D-6E8A-4147-A177-3AD203B41FA5}">
                      <a16:colId xmlns:a16="http://schemas.microsoft.com/office/drawing/2014/main" val="3341303149"/>
                    </a:ext>
                  </a:extLst>
                </a:gridCol>
                <a:gridCol w="1591342">
                  <a:extLst>
                    <a:ext uri="{9D8B030D-6E8A-4147-A177-3AD203B41FA5}">
                      <a16:colId xmlns:a16="http://schemas.microsoft.com/office/drawing/2014/main" val="2915920461"/>
                    </a:ext>
                  </a:extLst>
                </a:gridCol>
                <a:gridCol w="1591342">
                  <a:extLst>
                    <a:ext uri="{9D8B030D-6E8A-4147-A177-3AD203B41FA5}">
                      <a16:colId xmlns:a16="http://schemas.microsoft.com/office/drawing/2014/main" val="1077492461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1694086551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440887368"/>
                    </a:ext>
                  </a:extLst>
                </a:gridCol>
              </a:tblGrid>
              <a:tr h="5318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실행 횟수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데이터 생성시간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초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데이터 메모리 할당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메모리 주소</a:t>
                      </a:r>
                      <a:r>
                        <a:rPr lang="en-US" altLang="ko-KR" sz="1600" dirty="0"/>
                        <a:t>(500,500,500)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개별 값 조회 시간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초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356276"/>
                  </a:ext>
                </a:extLst>
              </a:tr>
              <a:tr h="556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58.36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0.099854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0x7ffe78a0e060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0.000356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65564"/>
                  </a:ext>
                </a:extLst>
              </a:tr>
              <a:tr h="556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58.29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0.049679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0x7fff0764e060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0.000351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830669"/>
                  </a:ext>
                </a:extLst>
              </a:tr>
              <a:tr h="556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58.38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0.049822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0x7ffe743ae060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0.000371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580283"/>
                  </a:ext>
                </a:extLst>
              </a:tr>
              <a:tr h="556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59.56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0.049289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0x7fff1ad0e060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0.000266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71380"/>
                  </a:ext>
                </a:extLst>
              </a:tr>
              <a:tr h="556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58.93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0.049441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0x7ffea6f3e060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0.000390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88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BF3B80-13E4-4F3B-8BB4-0FB7B4557CEE}"/>
              </a:ext>
            </a:extLst>
          </p:cNvPr>
          <p:cNvSpPr txBox="1"/>
          <p:nvPr/>
        </p:nvSpPr>
        <p:spPr>
          <a:xfrm>
            <a:off x="1072896" y="5224431"/>
            <a:ext cx="8680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분석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CPU</a:t>
            </a:r>
            <a:r>
              <a:rPr lang="ko-KR" altLang="en-US" dirty="0"/>
              <a:t>가 저전력 모드일 때 데이터 생성 시간이 약 </a:t>
            </a:r>
            <a:r>
              <a:rPr lang="en-US" altLang="ko-KR" dirty="0"/>
              <a:t>3</a:t>
            </a:r>
            <a:r>
              <a:rPr lang="ko-KR" altLang="en-US" dirty="0"/>
              <a:t>배 이상 </a:t>
            </a:r>
            <a:r>
              <a:rPr lang="en-US" altLang="ko-KR" dirty="0"/>
              <a:t>(17-&gt;58)</a:t>
            </a:r>
            <a:r>
              <a:rPr lang="ko-KR" altLang="en-US" dirty="0"/>
              <a:t> 증가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개별 값 접근 속도도 </a:t>
            </a:r>
            <a:r>
              <a:rPr lang="en-US" altLang="ko-KR" dirty="0"/>
              <a:t>0.00035</a:t>
            </a:r>
            <a:r>
              <a:rPr lang="ko-KR" altLang="en-US" dirty="0"/>
              <a:t>초 이상으로 증가</a:t>
            </a:r>
            <a:r>
              <a:rPr lang="en-US" altLang="ko-KR" dirty="0"/>
              <a:t>(10</a:t>
            </a:r>
            <a:r>
              <a:rPr lang="ko-KR" altLang="en-US" dirty="0"/>
              <a:t>배 느려짐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메모리 주소 패턴은 일정하게 유지됨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124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9D009-74CD-40EA-9264-AE7FA8C8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174053"/>
            <a:ext cx="10515600" cy="1325563"/>
          </a:xfrm>
        </p:spPr>
        <p:txBody>
          <a:bodyPr/>
          <a:lstStyle/>
          <a:p>
            <a:r>
              <a:rPr lang="ko-KR" altLang="en-US" b="1" dirty="0"/>
              <a:t>결과요약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4FE4A94-6888-491E-9D21-F662DB00E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025846"/>
              </p:ext>
            </p:extLst>
          </p:nvPr>
        </p:nvGraphicFramePr>
        <p:xfrm>
          <a:off x="536448" y="1633609"/>
          <a:ext cx="11241020" cy="2080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8204">
                  <a:extLst>
                    <a:ext uri="{9D8B030D-6E8A-4147-A177-3AD203B41FA5}">
                      <a16:colId xmlns:a16="http://schemas.microsoft.com/office/drawing/2014/main" val="986933516"/>
                    </a:ext>
                  </a:extLst>
                </a:gridCol>
                <a:gridCol w="2248204">
                  <a:extLst>
                    <a:ext uri="{9D8B030D-6E8A-4147-A177-3AD203B41FA5}">
                      <a16:colId xmlns:a16="http://schemas.microsoft.com/office/drawing/2014/main" val="1572548363"/>
                    </a:ext>
                  </a:extLst>
                </a:gridCol>
                <a:gridCol w="2248204">
                  <a:extLst>
                    <a:ext uri="{9D8B030D-6E8A-4147-A177-3AD203B41FA5}">
                      <a16:colId xmlns:a16="http://schemas.microsoft.com/office/drawing/2014/main" val="2967955036"/>
                    </a:ext>
                  </a:extLst>
                </a:gridCol>
                <a:gridCol w="2248204">
                  <a:extLst>
                    <a:ext uri="{9D8B030D-6E8A-4147-A177-3AD203B41FA5}">
                      <a16:colId xmlns:a16="http://schemas.microsoft.com/office/drawing/2014/main" val="3444954624"/>
                    </a:ext>
                  </a:extLst>
                </a:gridCol>
                <a:gridCol w="2248204">
                  <a:extLst>
                    <a:ext uri="{9D8B030D-6E8A-4147-A177-3AD203B41FA5}">
                      <a16:colId xmlns:a16="http://schemas.microsoft.com/office/drawing/2014/main" val="4222661458"/>
                    </a:ext>
                  </a:extLst>
                </a:gridCol>
              </a:tblGrid>
              <a:tr h="6545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데이터 생성 시간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데이터 메모리 할당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값 조회 시간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메모리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966081"/>
                  </a:ext>
                </a:extLst>
              </a:tr>
              <a:tr h="7718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ondemand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17.67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0.0003746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0.0000326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일정한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918276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powersave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58.46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0.059617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0.0003468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일정한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4171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46A7CE-B2CA-4BCD-A6BC-6515B4DC5904}"/>
              </a:ext>
            </a:extLst>
          </p:cNvPr>
          <p:cNvSpPr txBox="1"/>
          <p:nvPr/>
        </p:nvSpPr>
        <p:spPr>
          <a:xfrm>
            <a:off x="1207008" y="4448338"/>
            <a:ext cx="977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생성 시간을 제외하면</a:t>
            </a:r>
            <a:endParaRPr lang="en-US" altLang="ko-KR" b="1" dirty="0"/>
          </a:p>
          <a:p>
            <a:r>
              <a:rPr lang="ko-KR" altLang="en-US" b="1" dirty="0"/>
              <a:t>데이터 메모리 할당 시간과 값을 조회하는 시간은 </a:t>
            </a:r>
            <a:r>
              <a:rPr lang="en-US" altLang="ko-KR" b="1" dirty="0"/>
              <a:t>1</a:t>
            </a:r>
            <a:r>
              <a:rPr lang="ko-KR" altLang="en-US" b="1" dirty="0"/>
              <a:t>초 이내에 완료될 가능성이 높음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5525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7AA58-C29A-49ED-AEF9-44723485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A5D46-D7AB-473D-B138-4E7E3275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864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252F9-C4E7-49D7-80C2-3E74AB4F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F6A6E9-33F3-47AF-90EC-EA2ADD51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79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D837E-EBA0-41D6-83DF-0C00520A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legacy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C69E4-5880-4B89-9F65-F9E81ECDB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033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B87F2-9ACC-46C3-9A46-C8B750A7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b="1" dirty="0"/>
              <a:t>데이터 메모리 압축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04F10-F507-472D-86B4-C4883CB6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1325562"/>
            <a:ext cx="11899392" cy="5623877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실험 데이터 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1) </a:t>
            </a:r>
            <a:r>
              <a:rPr lang="ko-KR" altLang="en-US" sz="1800" dirty="0"/>
              <a:t>랜덤 데이터</a:t>
            </a:r>
            <a:r>
              <a:rPr lang="en-US" altLang="ko-KR" sz="1800" dirty="0"/>
              <a:t>(</a:t>
            </a:r>
            <a:r>
              <a:rPr lang="en-US" altLang="ko-KR" sz="1800" dirty="0" err="1"/>
              <a:t>np.random.randn</a:t>
            </a:r>
            <a:r>
              <a:rPr lang="en-US" altLang="ko-KR" sz="1800" dirty="0"/>
              <a:t>) 1000,1000,1000</a:t>
            </a:r>
          </a:p>
          <a:p>
            <a:pPr marL="0" indent="0">
              <a:buNone/>
            </a:pPr>
            <a:r>
              <a:rPr lang="en-US" altLang="ko-KR" sz="1800" dirty="0"/>
              <a:t>	2) </a:t>
            </a:r>
            <a:r>
              <a:rPr lang="ko-KR" altLang="en-US" sz="1800" dirty="0" err="1"/>
              <a:t>광소자</a:t>
            </a:r>
            <a:r>
              <a:rPr lang="ko-KR" altLang="en-US" sz="1800" dirty="0"/>
              <a:t> </a:t>
            </a:r>
            <a:r>
              <a:rPr lang="en-US" altLang="ko-KR" sz="1800" dirty="0" err="1"/>
              <a:t>Korea_Photo_tech</a:t>
            </a:r>
            <a:r>
              <a:rPr lang="en-US" altLang="ko-KR" sz="1800" dirty="0"/>
              <a:t> data-upto_1017 </a:t>
            </a:r>
          </a:p>
          <a:p>
            <a:pPr marL="0" indent="0">
              <a:buNone/>
            </a:pPr>
            <a:r>
              <a:rPr lang="en-US" altLang="ko-KR" sz="1800" dirty="0"/>
              <a:t>	8</a:t>
            </a:r>
            <a:r>
              <a:rPr lang="ko-KR" altLang="en-US" sz="1800" dirty="0"/>
              <a:t>월 </a:t>
            </a:r>
            <a:r>
              <a:rPr lang="en-US" altLang="ko-KR" sz="1800" dirty="0"/>
              <a:t>30</a:t>
            </a:r>
            <a:r>
              <a:rPr lang="ko-KR" altLang="en-US" sz="1800" dirty="0"/>
              <a:t>일 </a:t>
            </a:r>
            <a:r>
              <a:rPr lang="en-US" altLang="ko-KR" sz="1800" dirty="0"/>
              <a:t>~ 10</a:t>
            </a:r>
            <a:r>
              <a:rPr lang="ko-KR" altLang="en-US" sz="1800" dirty="0"/>
              <a:t>월 </a:t>
            </a:r>
            <a:r>
              <a:rPr lang="en-US" altLang="ko-KR" sz="1800" dirty="0"/>
              <a:t>17</a:t>
            </a:r>
            <a:r>
              <a:rPr lang="ko-KR" altLang="en-US" sz="1800" dirty="0"/>
              <a:t>일 전체 데이터</a:t>
            </a:r>
            <a:r>
              <a:rPr lang="en-US" altLang="ko-KR" sz="1800" dirty="0"/>
              <a:t>(</a:t>
            </a:r>
            <a:r>
              <a:rPr lang="ko-KR" altLang="en-US" sz="1800" dirty="0"/>
              <a:t>만들 수 있으면 </a:t>
            </a:r>
            <a:r>
              <a:rPr lang="en-US" altLang="ko-KR" sz="1800" dirty="0"/>
              <a:t>1000,1000,1000)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</a:p>
          <a:p>
            <a:pPr marL="0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실험 </a:t>
            </a:r>
            <a:r>
              <a:rPr lang="en-US" altLang="ko-KR" sz="1800" dirty="0"/>
              <a:t>1: </a:t>
            </a:r>
            <a:r>
              <a:rPr lang="ko-KR" altLang="en-US" sz="1800" dirty="0"/>
              <a:t>데이터 타입 최적화 </a:t>
            </a:r>
            <a:r>
              <a:rPr lang="en-US" altLang="ko-KR" sz="1800" dirty="0"/>
              <a:t>+ </a:t>
            </a:r>
            <a:r>
              <a:rPr lang="ko-KR" altLang="en-US" sz="1800" dirty="0"/>
              <a:t>희소 행렬 변환</a:t>
            </a:r>
            <a:endParaRPr lang="en-US" altLang="ko-KR" sz="1800" dirty="0"/>
          </a:p>
          <a:p>
            <a:pPr marL="914400" lvl="1" indent="-457200">
              <a:buAutoNum type="arabicParenR"/>
            </a:pPr>
            <a:r>
              <a:rPr lang="en-US" altLang="ko-KR" sz="1600" dirty="0"/>
              <a:t>Float 64 -&gt; float 32 </a:t>
            </a:r>
            <a:r>
              <a:rPr lang="ko-KR" altLang="en-US" sz="1600" dirty="0"/>
              <a:t>메모리 절약</a:t>
            </a:r>
            <a:endParaRPr lang="en-US" altLang="ko-KR" sz="1600" dirty="0"/>
          </a:p>
          <a:p>
            <a:pPr marL="914400" lvl="1" indent="-457200">
              <a:buAutoNum type="arabicParenR"/>
            </a:pPr>
            <a:r>
              <a:rPr lang="ko-KR" altLang="en-US" sz="1600" dirty="0"/>
              <a:t>희소행렬 변환</a:t>
            </a:r>
            <a:endParaRPr lang="en-US" altLang="ko-KR" sz="1600" dirty="0"/>
          </a:p>
          <a:p>
            <a:pPr marL="914400" lvl="1" indent="-457200">
              <a:buAutoNum type="arabicParenR"/>
            </a:pPr>
            <a:r>
              <a:rPr lang="ko-KR" altLang="en-US" sz="1600" dirty="0"/>
              <a:t>메모리 블록 단위</a:t>
            </a:r>
            <a:r>
              <a:rPr lang="en-US" altLang="ko-KR" sz="1600" dirty="0"/>
              <a:t>? </a:t>
            </a:r>
            <a:r>
              <a:rPr lang="ko-KR" altLang="en-US" sz="1600" dirty="0"/>
              <a:t>전체 로드</a:t>
            </a:r>
            <a:endParaRPr lang="en-US" altLang="ko-KR" sz="1600" dirty="0"/>
          </a:p>
          <a:p>
            <a:endParaRPr lang="en-US" altLang="ko-KR" sz="1800" dirty="0"/>
          </a:p>
          <a:p>
            <a:r>
              <a:rPr lang="ko-KR" altLang="en-US" sz="1800" dirty="0">
                <a:solidFill>
                  <a:srgbClr val="FF0000"/>
                </a:solidFill>
              </a:rPr>
              <a:t>실험 </a:t>
            </a:r>
            <a:r>
              <a:rPr lang="en-US" altLang="ko-KR" sz="1800" dirty="0">
                <a:solidFill>
                  <a:srgbClr val="FF0000"/>
                </a:solidFill>
              </a:rPr>
              <a:t>2: </a:t>
            </a:r>
            <a:r>
              <a:rPr lang="ko-KR" altLang="en-US" sz="1800" dirty="0">
                <a:solidFill>
                  <a:srgbClr val="FF0000"/>
                </a:solidFill>
              </a:rPr>
              <a:t>데이터 반복 패턴이 있는 경우 </a:t>
            </a:r>
            <a:r>
              <a:rPr lang="en-US" altLang="ko-KR" sz="1800" dirty="0">
                <a:solidFill>
                  <a:srgbClr val="FF0000"/>
                </a:solidFill>
              </a:rPr>
              <a:t>RLE, Huffman Encoding </a:t>
            </a:r>
            <a:r>
              <a:rPr lang="ko-KR" altLang="en-US" sz="1800" dirty="0">
                <a:solidFill>
                  <a:srgbClr val="FF0000"/>
                </a:solidFill>
              </a:rPr>
              <a:t>적용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800100" lvl="1" indent="-342900">
              <a:buAutoNum type="arabicParenR"/>
            </a:pPr>
            <a:r>
              <a:rPr lang="ko-KR" altLang="en-US" sz="1400" dirty="0">
                <a:solidFill>
                  <a:srgbClr val="FF0000"/>
                </a:solidFill>
              </a:rPr>
              <a:t>데이터가 반복되는지 분석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값의 </a:t>
            </a:r>
            <a:r>
              <a:rPr lang="ko-KR" altLang="en-US" sz="1400" dirty="0" err="1">
                <a:solidFill>
                  <a:srgbClr val="FF0000"/>
                </a:solidFill>
              </a:rPr>
              <a:t>중복률</a:t>
            </a:r>
            <a:r>
              <a:rPr lang="ko-KR" altLang="en-US" sz="1400" dirty="0">
                <a:solidFill>
                  <a:srgbClr val="FF0000"/>
                </a:solidFill>
              </a:rPr>
              <a:t> 확인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pPr marL="800100" lvl="1" indent="-342900">
              <a:buAutoNum type="arabicParenR"/>
            </a:pPr>
            <a:r>
              <a:rPr lang="en-US" altLang="ko-KR" sz="1400" dirty="0">
                <a:solidFill>
                  <a:srgbClr val="FF0000"/>
                </a:solidFill>
              </a:rPr>
              <a:t>RLE </a:t>
            </a:r>
            <a:r>
              <a:rPr lang="ko-KR" altLang="en-US" sz="1400" dirty="0">
                <a:solidFill>
                  <a:srgbClr val="FF0000"/>
                </a:solidFill>
              </a:rPr>
              <a:t>적용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연속된 값이 많다면 </a:t>
            </a:r>
            <a:r>
              <a:rPr lang="en-US" altLang="ko-KR" sz="1400" dirty="0">
                <a:solidFill>
                  <a:srgbClr val="FF0000"/>
                </a:solidFill>
              </a:rPr>
              <a:t>RLE </a:t>
            </a:r>
            <a:r>
              <a:rPr lang="ko-KR" altLang="en-US" sz="1400" dirty="0">
                <a:solidFill>
                  <a:srgbClr val="FF0000"/>
                </a:solidFill>
              </a:rPr>
              <a:t>압축 시도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800100" lvl="1" indent="-342900">
              <a:buAutoNum type="arabicParenR"/>
            </a:pPr>
            <a:r>
              <a:rPr lang="en-US" altLang="ko-KR" sz="1400" dirty="0">
                <a:solidFill>
                  <a:srgbClr val="FF0000"/>
                </a:solidFill>
              </a:rPr>
              <a:t>Huffman Encoding </a:t>
            </a:r>
            <a:r>
              <a:rPr lang="ko-KR" altLang="en-US" sz="1400" dirty="0">
                <a:solidFill>
                  <a:srgbClr val="FF0000"/>
                </a:solidFill>
              </a:rPr>
              <a:t>적용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데이터 엔트로피 기반 압축을 수행하여 메모리 절약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8284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1326</Words>
  <Application>Microsoft Office PowerPoint</Application>
  <PresentationFormat>와이드스크린</PresentationFormat>
  <Paragraphs>229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system-ui</vt:lpstr>
      <vt:lpstr>맑은 고딕</vt:lpstr>
      <vt:lpstr>Arial</vt:lpstr>
      <vt:lpstr>Office 테마</vt:lpstr>
      <vt:lpstr>라즈베리파이 메모리 할당  결과 정리 </vt:lpstr>
      <vt:lpstr>데이터 메모리 실험</vt:lpstr>
      <vt:lpstr>실험1. 코드</vt:lpstr>
      <vt:lpstr>실험 1. 데이터 메모리 압축 실험 중 희소 행렬 적용에 관한 실험</vt:lpstr>
      <vt:lpstr>PowerPoint 프레젠테이션</vt:lpstr>
      <vt:lpstr>실험 2   ctypes를 사용하여 float32 데이터를 저장할 메모리를 할당하고,   하나의 값을 가져오는 예제</vt:lpstr>
      <vt:lpstr>Raspberry Pi에서 3D 배열 메모리 할당 및 주소 접근 테스트(동적 할당)</vt:lpstr>
      <vt:lpstr>PowerPoint 프레젠테이션</vt:lpstr>
      <vt:lpstr>PowerPoint 프레젠테이션</vt:lpstr>
      <vt:lpstr>PowerPoint 프레젠테이션</vt:lpstr>
      <vt:lpstr>PowerPoint 프레젠테이션</vt:lpstr>
      <vt:lpstr>(2) CPU Governor -&gt; powersave mode (Single Core, 400MHz)</vt:lpstr>
      <vt:lpstr>결과요약</vt:lpstr>
      <vt:lpstr>PowerPoint 프레젠테이션</vt:lpstr>
      <vt:lpstr>PowerPoint 프레젠테이션</vt:lpstr>
      <vt:lpstr>legacy</vt:lpstr>
      <vt:lpstr>데이터 메모리 압축 실험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보드(MCU)에 메모리 할당하는 방안 조사</dc:title>
  <dc:creator>정환 이</dc:creator>
  <cp:lastModifiedBy>정환 이</cp:lastModifiedBy>
  <cp:revision>98</cp:revision>
  <dcterms:created xsi:type="dcterms:W3CDTF">2025-03-07T00:20:09Z</dcterms:created>
  <dcterms:modified xsi:type="dcterms:W3CDTF">2025-03-12T07:10:27Z</dcterms:modified>
</cp:coreProperties>
</file>